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notesMaster" Target="notesMasters/notesMaster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sentence: we want to find bugs in new PostgreSQL code automatically, and measure whether an LLM-maintained grammar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Emphasise: new code = least tested = most bugs. Upstream acts fast on master regressions.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Arm 1 is the baseline, arm 2 is our typed grammar, arm 3 adds the LLM that edits the grammar and writes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arm is a plug-in Generator; everything else (executor, server, oracle, metrics) is shared, which makes the comparison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Assertions on: TRAP messages from the log. Internal errors XX000. Wrong results: 17 planner variants in savepoints, order-insensitive digests, float masking, determinism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Only measured numbers. 84 tests is the suite after the random baseline was added; 65 was the count before that. The next slide is the server, not another unit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bars left to right. Round 1 is 83.4 percent, round 2 is 83.1 percent, round 3 is 88.4 percent, round 4 is 100 percent: 966 of 966, 22.1 seconds, no errors. Say out loud that zero bug candidates is still the honest count. Accepted SQL is not a bug. The 4 hour runs are what can still find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Say the three names. Venu and Bhuvan read new PostgreSQL features and point the grammar at them. Bhuvan also shrinks any candidate a run prints. Gowtham keeps the experiment, the statistics, the LLM arm and the paper. Then hand on to expected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LLM-Guided Grammar-Aware Fuzzing of PostgreSQL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CS-5187 Term Project A3 – Meeting presentation</a:t>
            </a:r>
            <a:br/>
            <a:br/>
            <a:r>
              <a:rPr/>
              <a:t>Venu, Bhuvan, Gowtham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 October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PostgreSQL ships </a:t>
            </a:r>
            <a:r>
              <a:rPr b="1"/>
              <a:t>new optimiser and executor features every year</a:t>
            </a:r>
            <a:r>
              <a:rPr/>
              <a:t>; each one adds code paths that the regression suite covers only partially.</a:t>
            </a:r>
          </a:p>
          <a:p>
            <a:pPr lvl="0"/>
            <a:r>
              <a:rPr/>
              <a:t>The worst bugs are </a:t>
            </a:r>
            <a:r>
              <a:rPr b="1"/>
              <a:t>silent wrong results</a:t>
            </a:r>
            <a:r>
              <a:rPr/>
              <a:t>: no crash, no error, just wrong rows.</a:t>
            </a:r>
          </a:p>
          <a:p>
            <a:pPr lvl="0"/>
            <a:r>
              <a:rPr/>
              <a:t>Existing SQL fuzzers either produce mostly </a:t>
            </a:r>
            <a:r>
              <a:rPr b="1"/>
              <a:t>invalid SQL</a:t>
            </a:r>
            <a:r>
              <a:rPr/>
              <a:t> (grammar-only, type-blind) or use </a:t>
            </a:r>
            <a:r>
              <a:rPr b="1"/>
              <a:t>hand-written generators</a:t>
            </a:r>
            <a:r>
              <a:rPr/>
              <a:t> that lag behind new features.</a:t>
            </a:r>
          </a:p>
          <a:p>
            <a:pPr lvl="0" indent="0" marL="0">
              <a:buNone/>
            </a:pPr>
            <a:r>
              <a:rPr b="1"/>
              <a:t>Question:</a:t>
            </a:r>
            <a:r>
              <a:rPr/>
              <a:t> can a </a:t>
            </a:r>
            <a:r>
              <a:rPr i="1"/>
              <a:t>typed, editable grammar</a:t>
            </a:r>
            <a:r>
              <a:rPr/>
              <a:t>, extended by an </a:t>
            </a:r>
            <a:r>
              <a:rPr i="1"/>
              <a:t>LLM</a:t>
            </a:r>
            <a:r>
              <a:rPr/>
              <a:t> that reads PostgreSQL’s own commits, find more bugs than random mutation and a plain grammar, under the same budget?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Motivation: why PostgreSQL, 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Used everywhere; a wrong-result bug can corrupt business data silently.</a:t>
            </a:r>
          </a:p>
          <a:p>
            <a:pPr lvl="0"/>
            <a:r>
              <a:rPr/>
              <a:t>Recent releases changed the planner heavily (to verify per release notes): OR-to-ANY transformation, self-join elimination, B-tree skip scan, virtual generated columns, </a:t>
            </a:r>
            <a:r>
              <a:rPr>
                <a:latin typeface="Courier"/>
              </a:rPr>
              <a:t>RETURNING OLD/NEW</a:t>
            </a:r>
            <a:r>
              <a:rPr/>
              <a:t>, </a:t>
            </a:r>
            <a:r>
              <a:rPr>
                <a:latin typeface="Courier"/>
              </a:rPr>
              <a:t>MERGE</a:t>
            </a:r>
            <a:r>
              <a:rPr/>
              <a:t> extensions, </a:t>
            </a:r>
            <a:r>
              <a:rPr>
                <a:latin typeface="Courier"/>
              </a:rPr>
              <a:t>JSON_TABLE</a:t>
            </a:r>
            <a:r>
              <a:rPr/>
              <a:t>.</a:t>
            </a:r>
          </a:p>
          <a:p>
            <a:pPr lvl="0"/>
            <a:r>
              <a:rPr>
                <a:latin typeface="Courier"/>
              </a:rPr>
              <a:t>master</a:t>
            </a:r>
            <a:r>
              <a:rPr/>
              <a:t> (20devel) gets new commits daily; regressions found there are fixed quickly and credited (“Reported-by”).</a:t>
            </a:r>
          </a:p>
          <a:p>
            <a:pPr lvl="0"/>
            <a:r>
              <a:rPr/>
              <a:t>LLMs can read commit messages, docs and regression tests – exactly the knowledge a fuzzer lacks about brand-new features.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Limits of existing approaches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/ mutation (AFL-style)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cheap, fast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mostly syntax errors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SQLsmith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type-aware, finds crashes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wrong-result oracle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SQLancer (TLP, NoREC, PQS)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logic-bug oracles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hand-written generators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Squirrel, SQLRight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coverage-guided IR mutation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grammar, slow to add features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Fuzz4All (LLM)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adapts to new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 on the hot path: slow, costly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25800"/>
            <a:ext cx="8229600" cy="12319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gap: </a:t>
            </a:r>
            <a:r>
              <a:rPr b="1"/>
              <a:t>valid + replayable + extensible by an LLM, with the LLM off the hot path.</a:t>
            </a:r>
          </a:p>
          <a:p>
            <a:pPr lvl="0" indent="0" marL="0">
              <a:buNone/>
            </a:pPr>
            <a:r>
              <a:rPr/>
              <a:t>(Citations to verify before the paper.)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idea in one picture</a:t>
            </a:r>
          </a:p>
        </p:txBody>
      </p:sp>
      <p:pic>
        <p:nvPicPr>
          <p:cNvPr descr="../figs/three_arm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00" y="1193800"/>
            <a:ext cx="763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Three arms compared under the same budget, server, schema and oracle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One tree, four jobs.</a:t>
            </a:r>
            <a:r>
              <a:rPr/>
              <a:t> The derivation tree is how we generate, mutate, rewrite (metamorphic oracle) and reduce. SQL text is only the rendering, so a change cannot break types or scopes.</a:t>
            </a:r>
          </a:p>
          <a:p>
            <a:pPr lvl="0" indent="-342900" marL="342900">
              <a:buAutoNum type="arabicPeriod"/>
            </a:pPr>
            <a:r>
              <a:rPr b="1"/>
              <a:t>Soundness we measure.</a:t>
            </a:r>
            <a:r>
              <a:rPr/>
              <a:t> Generator: valid-statement rate. Oracle: a reported mismatch is a real disagreement; triage precision says how often.</a:t>
            </a:r>
          </a:p>
          <a:p>
            <a:pPr lvl="0" indent="-342900" marL="342900">
              <a:buAutoNum type="arabicPeriod"/>
            </a:pPr>
            <a:r>
              <a:rPr b="1"/>
              <a:t>The LLM proposes; the server decides.</a:t>
            </a:r>
            <a:r>
              <a:rPr/>
              <a:t> A proposal enters the fuzzer only if it runs and covers changed lines. That coverage is the proof it helped.</a:t>
            </a:r>
          </a:p>
          <a:p>
            <a:pPr lvl="0" indent="0" marL="0">
              <a:buNone/>
            </a:pPr>
            <a:r>
              <a:rPr/>
              <a:t>The three-arm comparison stays the experiment. These three claims are what is ours.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  <p:pic>
        <p:nvPicPr>
          <p:cNvPr descr="../figs/architectur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663700" y="1193800"/>
            <a:ext cx="581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Generator, executor, instrumented PostgreSQL, oracle, signatures, report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Typed grammar and replay mutation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/>
                <a:r>
                  <a:rPr/>
                  <a:t>Our own grammar language </a:t>
                </a:r>
                <a:r>
                  <a:rPr>
                    <a:latin typeface="Courier"/>
                  </a:rPr>
                  <a:t>.pgg</a:t>
                </a:r>
                <a:r>
                  <a:rPr/>
                  <a:t>: </a:t>
                </a:r>
                <a:r>
                  <a:rPr b="1"/>
                  <a:t>13 SQL types</a:t>
                </a:r>
                <a:r>
                  <a:rPr/>
                  <a:t>, type classes, </a:t>
                </a:r>
                <a:r>
                  <a:rPr b="1"/>
                  <a:t>scopes</a:t>
                </a:r>
                <a:r>
                  <a:rPr/>
                  <a:t>, SQL grouping rules as </a:t>
                </a:r>
                <a:r>
                  <a:rPr b="1"/>
                  <a:t>context flags</a:t>
                </a:r>
                <a:r>
                  <a:rPr/>
                  <a:t> (no aggregates in </a:t>
                </a:r>
                <a:r>
                  <a:rPr>
                    <a:latin typeface="Courier"/>
                  </a:rPr>
                  <a:t>WHERE</a:t>
                </a:r>
                <a:r>
                  <a:rPr/>
                  <a:t>, group keys only).</a:t>
                </a:r>
              </a:p>
              <a:p>
                <a:pPr lvl="0"/>
                <a:r>
                  <a:rPr/>
                  <a:t>Generation = constructing a typing derivation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Γ</m:t>
                    </m:r>
                    <m:r>
                      <m:rPr>
                        <m:sty m:val="p"/>
                      </m:rPr>
                      <m:t>⊢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t>T</m:t>
                    </m:r>
                  </m:oMath>
                </a14:m>
                <a:r>
                  <a:rPr/>
                  <a:t> with backtracking – most statements reach the planner.</a:t>
                </a:r>
              </a:p>
              <a:p>
                <a:pPr lvl="0"/>
                <a:r>
                  <a:rPr/>
                  <a:t>Each statement keeps its </a:t>
                </a:r>
                <a:r>
                  <a:rPr b="1"/>
                  <a:t>derivation tree</a:t>
                </a:r>
                <a:r>
                  <a:rPr/>
                  <a:t>; mutation regenerates or splices a subtree, then </a:t>
                </a:r>
                <a:r>
                  <a:rPr b="1"/>
                  <a:t>replay re-binds names and types</a:t>
                </a:r>
                <a:r>
                  <a:rPr/>
                  <a:t> so the result stays valid.</a:t>
                </a:r>
              </a:p>
            </p:txBody>
          </p:sp>
        </mc:Choice>
      </mc:AlternateContent>
      <p:pic>
        <p:nvPicPr>
          <p:cNvPr descr="../figs/grammar_repla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84300"/>
            <a:ext cx="51054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Oracle stack</a:t>
            </a:r>
          </a:p>
        </p:txBody>
      </p:sp>
      <p:pic>
        <p:nvPicPr>
          <p:cNvPr descr="../figs/oracle_stack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879600" y="1193800"/>
            <a:ext cx="5384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Crash / assertion, internal error, wrong result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LLM loop (Stage 3, planned)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Mine commits on </a:t>
            </a:r>
            <a:r>
              <a:rPr>
                <a:latin typeface="Courier"/>
              </a:rPr>
              <a:t>master</a:t>
            </a:r>
            <a:r>
              <a:rPr/>
              <a:t> since the last release branch (optimizer, executor, parser).</a:t>
            </a:r>
          </a:p>
          <a:p>
            <a:pPr lvl="0" indent="-342900" marL="342900">
              <a:buAutoNum type="arabicPeriod"/>
            </a:pPr>
            <a:r>
              <a:rPr/>
              <a:t>LLM reads message, diff summary, added regression tests and docs.</a:t>
            </a:r>
          </a:p>
          <a:p>
            <a:pPr lvl="0" indent="-342900" marL="342900">
              <a:buAutoNum type="arabicPeriod"/>
            </a:pPr>
            <a:r>
              <a:rPr/>
              <a:t>Proposes </a:t>
            </a:r>
            <a:r>
              <a:rPr b="1"/>
              <a:t>grammar edits</a:t>
            </a:r>
            <a:r>
              <a:rPr/>
              <a:t> and </a:t>
            </a:r>
            <a:r>
              <a:rPr b="1"/>
              <a:t>seed test cases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Validation gate:</a:t>
            </a:r>
            <a:r>
              <a:rPr/>
              <a:t> parses, 200 samples, server validity &gt;= 80 %, new coverage of the </a:t>
            </a:r>
            <a:r>
              <a:rPr b="1"/>
              <a:t>changed lines</a:t>
            </a:r>
            <a:r>
              <a:rPr/>
              <a:t> – else rejected with feedback.</a:t>
            </a:r>
          </a:p>
          <a:p>
            <a:pPr lvl="0" indent="-342900" marL="342900">
              <a:buAutoNum type="arabicPeriod"/>
            </a:pPr>
            <a:r>
              <a:rPr/>
              <a:t>Accepted edits enter the Grammar+LLM arm.</a:t>
            </a:r>
          </a:p>
          <a:p>
            <a:pPr lvl="0" indent="0" marL="0">
              <a:buNone/>
            </a:pPr>
            <a:r>
              <a:rPr/>
              <a:t>LLM is a </a:t>
            </a:r>
            <a:r>
              <a:rPr i="1"/>
              <a:t>proposal engine</a:t>
            </a:r>
            <a:r>
              <a:rPr/>
              <a:t>; server and coverage are the </a:t>
            </a:r>
            <a:r>
              <a:rPr i="1"/>
              <a:t>judges</a:t>
            </a:r>
            <a:r>
              <a:rPr/>
              <a:t>. Metric: </a:t>
            </a:r>
            <a:r>
              <a:rPr b="1"/>
              <a:t>diff coverage</a:t>
            </a:r>
            <a:r>
              <a:rPr/>
              <a:t> = changed lines executed / changed executable lines.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RQ1</a:t>
            </a:r>
            <a:r>
              <a:rPr/>
              <a:t> Validity and coverage: valid-statement rate, line/branch coverage, plan-shape diversity.</a:t>
            </a:r>
          </a:p>
          <a:p>
            <a:pPr lvl="0"/>
            <a:r>
              <a:rPr b="1"/>
              <a:t>RQ2</a:t>
            </a:r>
            <a:r>
              <a:rPr/>
              <a:t> Bugs: unique crashes, assertion failures, internal errors, wrong results – and how many are real.</a:t>
            </a:r>
          </a:p>
          <a:p>
            <a:pPr lvl="0"/>
            <a:r>
              <a:rPr b="1"/>
              <a:t>RQ3</a:t>
            </a:r>
            <a:r>
              <a:rPr/>
              <a:t> Time to detect: 8–12 </a:t>
            </a:r>
            <a:r>
              <a:rPr b="1"/>
              <a:t>re-injected historical bugs</a:t>
            </a:r>
            <a:r>
              <a:rPr/>
              <a:t> (revert past fix commits) as ground truth.</a:t>
            </a:r>
          </a:p>
          <a:p>
            <a:pPr lvl="0"/>
            <a:r>
              <a:rPr b="1"/>
              <a:t>RQ4</a:t>
            </a:r>
            <a:r>
              <a:rPr/>
              <a:t> LLM ablation: grammar edits vs seeds vs both; token cost.</a:t>
            </a:r>
          </a:p>
          <a:p>
            <a:pPr lvl="0"/>
            <a:r>
              <a:rPr/>
              <a:t>Oracles: crash/assertion, internal error, 17-variant differential, </a:t>
            </a:r>
            <a:r>
              <a:rPr b="1"/>
              <a:t>metamorphic</a:t>
            </a:r>
            <a:r>
              <a:rPr/>
              <a:t> (TLP, NoREC, tree-level equivalent rewrites).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Statistics and setup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Same server build (</a:t>
                </a:r>
                <a:r>
                  <a:rPr>
                    <a:latin typeface="Courier"/>
                  </a:rPr>
                  <a:t>20devel</a:t>
                </a:r>
                <a:r>
                  <a:rPr/>
                  <a:t>, commit </a:t>
                </a:r>
                <a:r>
                  <a:rPr>
                    <a:latin typeface="Courier"/>
                  </a:rPr>
                  <a:t>d733fca</a:t>
                </a:r>
                <a:r>
                  <a:rPr/>
                  <a:t>, assertions + debug), same schema, executor and oracle for all arms.</a:t>
                </a:r>
              </a:p>
              <a:p>
                <a:pPr lvl="0"/>
                <a:r>
                  <a:rPr b="1"/>
                  <a:t>10 trials per arm</a:t>
                </a:r>
                <a:r>
                  <a:rPr/>
                  <a:t>, fixed time budget, different seeds.</a:t>
                </a:r>
              </a:p>
              <a:p>
                <a:pPr lvl="0"/>
                <a:r>
                  <a:rPr/>
                  <a:t>Medians with 95 % CI; </a:t>
                </a:r>
                <a:r>
                  <a:rPr b="1"/>
                  <a:t>Mann-Whitney U</a:t>
                </a:r>
                <a:r>
                  <a:rPr/>
                  <a:t> and </a:t>
                </a:r>
                <a:r>
                  <a:rPr b="1"/>
                  <a:t>Vargha-Delaney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A</m:t>
                            </m:r>
                          </m:e>
                        </m:acc>
                      </m:e>
                      <m:sub>
                        <m:r>
                          <m:t>12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Coverage collected on a separate gcov build, excluded from the budget.</a:t>
                </a:r>
              </a:p>
              <a:p>
                <a:pPr lvl="0"/>
                <a:r>
                  <a:rPr/>
                  <a:t>Every bug candidate: reproduce, reduce, </a:t>
                </a:r>
                <a:r>
                  <a:rPr>
                    <a:latin typeface="Courier"/>
                  </a:rPr>
                  <a:t>git bisect</a:t>
                </a:r>
                <a:r>
                  <a:rPr/>
                  <a:t>, check the release, dedup against pgsql-bugs, report upstream.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Status so far (measured)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Result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PostgreSQL from 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20devel</a:t>
                      </a:r>
                      <a:r>
                        <a:rPr/>
                        <a:t> @ </a:t>
                      </a:r>
                      <a:r>
                        <a:rPr>
                          <a:latin typeface="Courier"/>
                        </a:rPr>
                        <a:t>d733fca</a:t>
                      </a:r>
                      <a:r>
                        <a:rPr/>
                        <a:t>, assertions, ~13 min on 20 cores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Executor acceptance 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10/10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Unit and end-to-end 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65</a:t>
                      </a:r>
                      <a:r>
                        <a:rPr/>
                        <a:t> at the end of the harness work; </a:t>
                      </a:r>
                      <a:r>
                        <a:rPr b="1"/>
                        <a:t>84</a:t>
                      </a:r>
                      <a:r>
                        <a:rPr/>
                        <a:t> after the grammar and the random baseline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Executor speed, 20 test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0.15 s (log read only after a failure) vs 0.99 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Connection fix on Windows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131 s (</a:t>
                      </a:r>
                      <a:r>
                        <a:rPr>
                          <a:latin typeface="Courier"/>
                        </a:rPr>
                        <a:t>localhost</a:t>
                      </a:r>
                      <a:r>
                        <a:rPr/>
                        <a:t>) -&gt; 0.2 s (</a:t>
                      </a:r>
                      <a:r>
                        <a:rPr>
                          <a:latin typeface="Courier"/>
                        </a:rPr>
                        <a:t>127.0.0.1</a:t>
                      </a:r>
                      <a:r>
                        <a:rPr/>
                        <a:t>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Grammar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 types, about 100 rules, exact replay in tests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Random/mutation arm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the tree: AST seeds, then text mutation, same schema as the grammar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11600"/>
            <a:ext cx="8229600" cy="5461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Next:</a:t>
            </a:r>
            <a:r>
              <a:rPr/>
              <a:t> the first multi-hour campaigns. The server measurement is on the next slide.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server accepted</a:t>
            </a:r>
          </a:p>
        </p:txBody>
      </p:sp>
      <p:pic>
        <p:nvPicPr>
          <p:cNvPr descr="../figs/validity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50900" y="1193800"/>
            <a:ext cx="7454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Four rounds of 300 grammar test cases on the same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Rounds 1 to 3 climbed from 83.4% to 88.4%. The misses were scopes, JSON values, partitions, and timeouts.</a:t>
            </a:r>
          </a:p>
          <a:p>
            <a:pPr lvl="0"/>
            <a:r>
              <a:rPr/>
              <a:t>Round 4: </a:t>
            </a:r>
            <a:r>
              <a:rPr b="1"/>
              <a:t>966 of 966 statements ran (100%)</a:t>
            </a:r>
            <a:r>
              <a:rPr/>
              <a:t>, in 22.1 seconds. The error list is empty.</a:t>
            </a:r>
          </a:p>
          <a:p>
            <a:pPr lvl="0"/>
            <a:r>
              <a:rPr/>
              <a:t>The differential oracle checked 230 queries (460 extra runs). </a:t>
            </a:r>
            <a:r>
              <a:rPr b="1"/>
              <a:t>Still no bug candidate.</a:t>
            </a:r>
          </a:p>
          <a:p>
            <a:pPr lvl="0"/>
            <a:r>
              <a:rPr/>
              <a:t>100% accepted means every statement reached execution. It does not mean the server is bug-free.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does what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Venu</a:t>
            </a:r>
            <a:r>
              <a:rPr/>
              <a:t> and </a:t>
            </a:r>
            <a:r>
              <a:rPr b="1"/>
              <a:t>Bhuvan</a:t>
            </a:r>
            <a:r>
              <a:rPr/>
              <a:t> – recent PostgreSQL code. Read commits since the last release (MERGE, SQL/JSON, generated columns, partitions, new planner rewrites) and aim the grammar at that code.</a:t>
            </a:r>
          </a:p>
          <a:p>
            <a:pPr lvl="0"/>
            <a:r>
              <a:rPr b="1"/>
              <a:t>Bhuvan</a:t>
            </a:r>
            <a:r>
              <a:rPr/>
              <a:t> – also the first person on any bug candidate a run prints: reproduce it, shrink it, decide if it is real.</a:t>
            </a:r>
          </a:p>
          <a:p>
            <a:pPr lvl="0"/>
            <a:r>
              <a:rPr b="1"/>
              <a:t>Gowtham</a:t>
            </a:r>
            <a:r>
              <a:rPr/>
              <a:t> – the rest of the grade: the comparison experiment, the statistics, the LLM arm, and the paper.</a:t>
            </a:r>
          </a:p>
          <a:p>
            <a:pPr lvl="0" indent="0" marL="0">
              <a:buNone/>
            </a:pPr>
            <a:r>
              <a:rPr/>
              <a:t>The servers keep running while that reading happens. A candidate does not wait for the paper, and the paper does not wait for a candidate.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Either way:</a:t>
            </a:r>
            <a:r>
              <a:rPr/>
              <a:t> RQ1 (validity, coverage), RQ3 (time to detect re-injected bugs) and RQ4 (LLM ablation, token cost) are complete measured results.</a:t>
            </a:r>
          </a:p>
          <a:p>
            <a:pPr lvl="0"/>
            <a:r>
              <a:rPr b="1"/>
              <a:t>Target on top of that:</a:t>
            </a:r>
            <a:r>
              <a:rPr/>
              <a:t> one </a:t>
            </a:r>
            <a:r>
              <a:rPr b="1"/>
              <a:t>new bug the developers acknowledge</a:t>
            </a:r>
            <a:r>
              <a:rPr/>
              <a:t> (list reply or fix). We file in week 2 so a reply can arrive before 13 Nov.</a:t>
            </a:r>
          </a:p>
          <a:p>
            <a:pPr lvl="0"/>
            <a:r>
              <a:rPr b="1"/>
              <a:t>If none is confirmed:</a:t>
            </a:r>
            <a:r>
              <a:rPr/>
              <a:t> RQ2 reports zero, plus how many candidates we rejected. The motivating example is a re-injected bug with measured times. We do not call that full marks on the 50 % implementation component.</a:t>
            </a:r>
          </a:p>
          <a:p>
            <a:pPr lvl="0"/>
            <a:r>
              <a:rPr b="1"/>
              <a:t>Artifacts:</a:t>
            </a:r>
            <a:r>
              <a:rPr/>
              <a:t> fuzzer, </a:t>
            </a:r>
            <a:r>
              <a:rPr>
                <a:latin typeface="Courier"/>
              </a:rPr>
              <a:t>.pgg</a:t>
            </a:r>
            <a:r>
              <a:rPr/>
              <a:t> grammar, scripts and the run logs behind every number.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Draft paper structure (FSE style)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Graded parts in the template, and where they sit:</a:t>
            </a:r>
          </a:p>
          <a:p>
            <a:pPr lvl="0" indent="-342900" marL="342900">
              <a:buAutoNum type="arabicPeriod"/>
            </a:pPr>
            <a:r>
              <a:rPr/>
              <a:t>Introduction – </a:t>
            </a:r>
            <a:r>
              <a:rPr b="1"/>
              <a:t>motivating example</a:t>
            </a:r>
            <a:r>
              <a:rPr/>
              <a:t> (a real query, measured numbers)</a:t>
            </a:r>
          </a:p>
          <a:p>
            <a:pPr lvl="0" indent="-342900" marL="342900">
              <a:buAutoNum type="arabicPeriod"/>
            </a:pPr>
            <a:r>
              <a:rPr/>
              <a:t>Background</a:t>
            </a:r>
          </a:p>
          <a:p>
            <a:pPr lvl="0" indent="-342900" marL="342900">
              <a:buAutoNum type="arabicPeriod"/>
            </a:pPr>
            <a:r>
              <a:rPr/>
              <a:t>Design – </a:t>
            </a:r>
            <a:r>
              <a:rPr b="1"/>
              <a:t>workflow</a:t>
            </a:r>
            <a:r>
              <a:rPr/>
              <a:t> (one tree; three arms; validation gate)</a:t>
            </a:r>
          </a:p>
          <a:p>
            <a:pPr lvl="0" indent="-342900" marL="342900">
              <a:buAutoNum type="arabicPeriod"/>
            </a:pPr>
            <a:r>
              <a:rPr/>
              <a:t>Implementation</a:t>
            </a:r>
          </a:p>
          <a:p>
            <a:pPr lvl="0" indent="-342900" marL="342900">
              <a:buAutoNum type="arabicPeriod"/>
            </a:pPr>
            <a:r>
              <a:rPr/>
              <a:t>Evaluation – </a:t>
            </a:r>
            <a:r>
              <a:rPr b="1"/>
              <a:t>research questions</a:t>
            </a:r>
            <a:r>
              <a:rPr/>
              <a:t> RQ1 to RQ4</a:t>
            </a:r>
          </a:p>
          <a:p>
            <a:pPr lvl="0" indent="-342900" marL="342900">
              <a:buAutoNum type="arabicPeriod"/>
            </a:pPr>
            <a:r>
              <a:rPr/>
              <a:t>Bugs found – new bugs, or an honest zero plus oracle precision</a:t>
            </a:r>
          </a:p>
          <a:p>
            <a:pPr lvl="0" indent="-342900" marL="342900">
              <a:buAutoNum type="arabicPeriod"/>
            </a:pPr>
            <a:r>
              <a:rPr b="1"/>
              <a:t>Threats to validity</a:t>
            </a:r>
            <a:r>
              <a:rPr/>
              <a:t> – internal, external, construct</a:t>
            </a:r>
          </a:p>
          <a:p>
            <a:pPr lvl="0" indent="-342900" marL="342900">
              <a:buAutoNum type="arabicPeriod"/>
            </a:pPr>
            <a:r>
              <a:rPr b="1"/>
              <a:t>Related work</a:t>
            </a:r>
            <a:r>
              <a:rPr/>
              <a:t> – each paragraph ends with how we differ</a:t>
            </a:r>
          </a:p>
          <a:p>
            <a:pPr lvl="0" indent="-342900" marL="342900">
              <a:buAutoNum type="arabicPeriod"/>
            </a:pPr>
            <a:r>
              <a:rPr/>
              <a:t>Conclusion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Timeline</a:t>
            </a:r>
          </a:p>
        </p:txBody>
      </p:sp>
      <p:pic>
        <p:nvPicPr>
          <p:cNvPr descr="../figs/tim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62100"/>
            <a:ext cx="8229600" cy="214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From today to the paper deadline (13 Nov)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and asks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29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Mitigation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new bug in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 in week 2; RQ1, RQ3, RQ4 and the five graded sections still stand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Upstream slow to respond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 early; a list confirmation is already evidence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False positives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determinism filter, re-runs, manual reasoning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 proposals invalid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validation gate; acceptance rate is itself a result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19500"/>
            <a:ext cx="8229600" cy="8382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Asks:</a:t>
            </a:r>
            <a:r>
              <a:rPr/>
              <a:t> feedback on the RQs; is an upstream </a:t>
            </a:r>
            <a:r>
              <a:rPr i="1"/>
              <a:t>confirmation</a:t>
            </a:r>
            <a:r>
              <a:rPr/>
              <a:t> (before a fix commit) acceptable as evidence of a real bug?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LLM-Guided Grammar-Aware Fuzzing of PostgreSQL</dc:title>
  <dc:creator>Venu, Bhuvan, Gowtham</dc:creator>
  <cp:keywords/>
  <dcterms:created xsi:type="dcterms:W3CDTF">2026-10-15T20:12:51Z</dcterms:created>
  <dcterms:modified xsi:type="dcterms:W3CDTF">2026-10-15T20:12:51Z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olortheme">
    <vt:lpwstr>seahorse</vt:lpwstr>
  </property>
  <property fmtid="{D5CDD505-2E9C-101B-9397-08002B2CF9AE}" pid="4" name="date">
    <vt:lpwstr>16 October 2026</vt:lpwstr>
  </property>
  <property fmtid="{D5CDD505-2E9C-101B-9397-08002B2CF9AE}" pid="5" name="fontsize">
    <vt:lpwstr>10pt</vt:lpwstr>
  </property>
  <property fmtid="{D5CDD505-2E9C-101B-9397-08002B2CF9AE}" pid="6" name="subtitle">
    <vt:lpwstr>CS-5187 Term Project A3 – Meeting presentation</vt:lpwstr>
  </property>
  <property fmtid="{D5CDD505-2E9C-101B-9397-08002B2CF9AE}" pid="7" name="theme">
    <vt:lpwstr>Madrid</vt:lpwstr>
  </property>
</Properties>
</file>