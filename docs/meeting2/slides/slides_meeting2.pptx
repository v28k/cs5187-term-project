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f343992-dbbf-6bdd-b93c-e79b12875514}">
          <p14:sldIdLst>
            <p14:sldId id="256"/>
            <p14:sldId id="257"/>
            <p14:sldId id="258"/>
            <p14:sldId id="259"/>
            <p14:sldId id="260"/>
          </p14:sldIdLst>
        </p14:section>
        <p14:section name="The system" id="{41816b8b-5ced-069e-ad0b-a9242be24b2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Evaluation" id="{73b31e70-d0e6-14d4-a402-1e6c48c7b1b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lan" id="{1eb2ce9e-0244-d9ee-5eb8-ec08d0b2c8a4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a typed grammar whose derivation trees drive generation, oracles and reduction, extended from recent commits by a gated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bugs and the honest results. Campaigns are done; remaining work is verification and packaging.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wrong results are the bugs that matter; crash fuzzers miss them. Our three claims from meeting 1 and where each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query live if possible. The NULL row should give NULL in every column; released 17 and 18 give t/f because a planner support function folds the call to a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top to bottom; the last two rows are the work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loop: derive, attach checks, run several ways, classify and triage. Bottom loop: commit, proposal, gate,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derivation tree is the shared data structure. Replay is what keeps mutated and reduced trees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oracles see every statement; the wrong-result oracles see deterministic queries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TLP partitions rows by p, NOT p, p IS NULL. The tree tells us exactly where each rewrite is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RLS links to the information-flow lectures: the policy is a label, the check is non-interference on concrete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reduction finds smaller valid derivations that token deletion cannot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IS TRUE passed 109 sampled checks but is false, not NULL, at NULL: the value probe exists because sampling is not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truth: real bugs fixed by PostgreSQL developers, reverted on our base commit. 11 of the 20 observable ones need a wrong-result or error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component was measured once on master; the paper has the same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7/44 = 0.16 without duplicates, 22/59 = 0.37 with. Four new classes were fixed after the campaigns and not re-measured.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confirmed by committers, one fixed on master. Four more were found days after others had reported them: the oracles do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Arms differ only in the generator; everything else is shared and paired by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vs random is large on every metric. The oracles do not add coverage but double the plan shapes. The LLM adds features, not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does not show an oracle advantage; that claim rests on RQ2. RQ4: the LLM adds features but no coverage, and one accepted rewrite was not an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time is mostly overnight; our time is short. Filing upstream happens right after triage.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questions for the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live demo fails, show these screenshots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CS-5187 A3 · LLM-guided grammar-aware fuzzing of PostgreSQL · progress meeting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LLM-Guided Grammar-Aware Fuzzing of PostgreSQL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CS-5187 Term Project A3 · Progress meeting 2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Venu · Bhuvan · Gowtham · 26–30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Status at a glance</a:t>
            </a:r>
            <a:endParaRPr lang="en-US" sz="3200" dirty="0"/>
          </a:p>
        </p:txBody>
      </p:sp>
      <p:sp>
        <p:nvSpPr>
          <p:cNvPr id="4" name="stat-1"/>
          <p:cNvSpPr txBox="1"/>
          <p:nvPr/>
        </p:nvSpPr>
        <p:spPr>
          <a:xfrm>
            <a:off x="54864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4</a:t>
            </a:r>
            <a:endParaRPr lang="en-US" sz="4400" dirty="0"/>
          </a:p>
        </p:txBody>
      </p:sp>
      <p:sp>
        <p:nvSpPr>
          <p:cNvPr id="5" name="stat-label-2"/>
          <p:cNvSpPr txBox="1"/>
          <p:nvPr/>
        </p:nvSpPr>
        <p:spPr>
          <a:xfrm>
            <a:off x="5486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previously unknown PostgreSQL bugs; 2 confirmed by committers, 1 fixed</a:t>
            </a:r>
            <a:endParaRPr lang="en-US" sz="1500" dirty="0"/>
          </a:p>
        </p:txBody>
      </p:sp>
      <p:sp>
        <p:nvSpPr>
          <p:cNvPr id="6" name="stat-3"/>
          <p:cNvSpPr txBox="1"/>
          <p:nvPr/>
        </p:nvSpPr>
        <p:spPr>
          <a:xfrm>
            <a:off x="338328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36.7%</a:t>
            </a:r>
            <a:endParaRPr lang="en-US" sz="4400" dirty="0"/>
          </a:p>
        </p:txBody>
      </p:sp>
      <p:sp>
        <p:nvSpPr>
          <p:cNvPr id="7" name="stat-label-4"/>
          <p:cNvSpPr txBox="1"/>
          <p:nvPr/>
        </p:nvSpPr>
        <p:spPr>
          <a:xfrm>
            <a:off x="338328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of backend lines (random mutation: 22.2%)</a:t>
            </a:r>
            <a:endParaRPr lang="en-US" sz="1500" dirty="0"/>
          </a:p>
        </p:txBody>
      </p:sp>
      <p:sp>
        <p:nvSpPr>
          <p:cNvPr id="8" name="stat-5"/>
          <p:cNvSpPr txBox="1"/>
          <p:nvPr/>
        </p:nvSpPr>
        <p:spPr>
          <a:xfrm>
            <a:off x="621792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0.16</a:t>
            </a:r>
            <a:endParaRPr lang="en-US" sz="4400" dirty="0"/>
          </a:p>
        </p:txBody>
      </p:sp>
      <p:sp>
        <p:nvSpPr>
          <p:cNvPr id="9" name="stat-label-6"/>
          <p:cNvSpPr txBox="1"/>
          <p:nvPr/>
        </p:nvSpPr>
        <p:spPr>
          <a:xfrm>
            <a:off x="62179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oracle precision, 93 candidates (0.37 counting duplicates)</a:t>
            </a:r>
            <a:endParaRPr lang="en-US" sz="1500" dirty="0"/>
          </a:p>
        </p:txBody>
      </p:sp>
      <p:sp>
        <p:nvSpPr>
          <p:cNvPr id="10" name="stat-7"/>
          <p:cNvSpPr txBox="1"/>
          <p:nvPr/>
        </p:nvSpPr>
        <p:spPr>
          <a:xfrm>
            <a:off x="905256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 / 20</a:t>
            </a:r>
            <a:endParaRPr lang="en-US" sz="4400" dirty="0"/>
          </a:p>
        </p:txBody>
      </p:sp>
      <p:sp>
        <p:nvSpPr>
          <p:cNvPr id="11" name="stat-label-8"/>
          <p:cNvSpPr txBox="1"/>
          <p:nvPr/>
        </p:nvSpPr>
        <p:spPr>
          <a:xfrm>
            <a:off x="905256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re-injected bugs found by the best arm in 1 h</a:t>
            </a:r>
            <a:endParaRPr lang="en-US" sz="1500" dirty="0"/>
          </a:p>
        </p:txBody>
      </p:sp>
      <p:sp>
        <p:nvSpPr>
          <p:cNvPr id="12" name="card-9"/>
          <p:cNvSpPr/>
          <p:nvPr/>
        </p:nvSpPr>
        <p:spPr>
          <a:xfrm>
            <a:off x="548640" y="3017520"/>
            <a:ext cx="6675120" cy="310896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ard-head-10"/>
          <p:cNvSpPr txBox="1"/>
          <p:nvPr/>
        </p:nvSpPr>
        <p:spPr>
          <a:xfrm>
            <a:off x="731520" y="31272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Done since meeting 1</a:t>
            </a:r>
            <a:endParaRPr lang="en-US" sz="1800" dirty="0"/>
          </a:p>
        </p:txBody>
      </p:sp>
      <p:sp>
        <p:nvSpPr>
          <p:cNvPr id="14" name="bullets-11"/>
          <p:cNvSpPr txBox="1"/>
          <p:nvPr/>
        </p:nvSpPr>
        <p:spPr>
          <a:xfrm>
            <a:off x="731520" y="3566160"/>
            <a:ext cx="6309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meeting-1 plan item implemented and tested on PostgreSQL master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12 metamorphic oracle kinds on derivation trees, 18 plan variants, cross-version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Campaigns finished: RQ1–RQ4, 5 trials × 1 h per arm, on two machines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LLM arm ran on Gemini Flash (no Claude key): 10 commits, +5 features, no coverage 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 at 12 pages with real numbers; 148 unit tests</a:t>
            </a:r>
            <a:endParaRPr lang="en-US" sz="1500" dirty="0"/>
          </a:p>
        </p:txBody>
      </p:sp>
      <p:sp>
        <p:nvSpPr>
          <p:cNvPr id="15" name="card-12"/>
          <p:cNvSpPr/>
          <p:nvPr/>
        </p:nvSpPr>
        <p:spPr>
          <a:xfrm>
            <a:off x="7498080" y="3017520"/>
            <a:ext cx="4114800" cy="310896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card-head-13"/>
          <p:cNvSpPr txBox="1"/>
          <p:nvPr/>
        </p:nvSpPr>
        <p:spPr>
          <a:xfrm>
            <a:off x="768096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</a:t>
            </a:r>
            <a:endParaRPr lang="en-US" sz="1800" dirty="0"/>
          </a:p>
        </p:txBody>
      </p:sp>
      <p:sp>
        <p:nvSpPr>
          <p:cNvPr id="17" name="bullets-14"/>
          <p:cNvSpPr txBox="1"/>
          <p:nvPr/>
        </p:nvSpPr>
        <p:spPr>
          <a:xfrm>
            <a:off x="7680960" y="35661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Verify the open candidates (5 RLS, 1 corr)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Final slides and artifact package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Upstream follow-up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Recap: the problem and our three claims</a:t>
            </a:r>
            <a:endParaRPr lang="en-US" sz="3200" dirty="0"/>
          </a:p>
        </p:txBody>
      </p:sp>
      <p:sp>
        <p:nvSpPr>
          <p:cNvPr id="4" name="text-15"/>
          <p:cNvSpPr txBox="1"/>
          <p:nvPr/>
        </p:nvSpPr>
        <p:spPr>
          <a:xfrm>
            <a:off x="548640" y="12801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Problem.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PostgreSQL's planner changes every week. The worst bugs are </a:t>
            </a:r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silent wrong results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. Crash fuzzers miss them, SQLancer-style oracles use small hand-written generators, and neither knows what changed in yesterday's commit.</a:t>
            </a:r>
            <a:endParaRPr lang="en-US" sz="1900" dirty="0"/>
          </a:p>
        </p:txBody>
      </p:sp>
      <p:sp>
        <p:nvSpPr>
          <p:cNvPr id="5" name="card-16"/>
          <p:cNvSpPr/>
          <p:nvPr/>
        </p:nvSpPr>
        <p:spPr>
          <a:xfrm>
            <a:off x="548640" y="2377440"/>
            <a:ext cx="3515258" cy="265176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rd-head-17"/>
          <p:cNvSpPr txBox="1"/>
          <p:nvPr/>
        </p:nvSpPr>
        <p:spPr>
          <a:xfrm>
            <a:off x="731520" y="2487168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  One tree, four jobs</a:t>
            </a:r>
            <a:endParaRPr lang="en-US" sz="1900" dirty="0"/>
          </a:p>
        </p:txBody>
      </p:sp>
      <p:sp>
        <p:nvSpPr>
          <p:cNvPr id="7" name="text-18"/>
          <p:cNvSpPr txBox="1"/>
          <p:nvPr/>
        </p:nvSpPr>
        <p:spPr>
          <a:xfrm>
            <a:off x="731520" y="2926080"/>
            <a:ext cx="314949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typed derivation tree generates, mutates, is rewritten by the oracles, and is reduced in triage.</a:t>
            </a:r>
            <a:endParaRPr lang="en-US" sz="1800" dirty="0"/>
          </a:p>
        </p:txBody>
      </p:sp>
      <p:sp>
        <p:nvSpPr>
          <p:cNvPr id="8" name="status-19"/>
          <p:cNvSpPr txBox="1"/>
          <p:nvPr/>
        </p:nvSpPr>
        <p:spPr>
          <a:xfrm>
            <a:off x="731520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All four in code</a:t>
            </a:r>
            <a:endParaRPr lang="en-US" sz="1600" dirty="0"/>
          </a:p>
        </p:txBody>
      </p:sp>
      <p:sp>
        <p:nvSpPr>
          <p:cNvPr id="9" name="card-20"/>
          <p:cNvSpPr/>
          <p:nvPr/>
        </p:nvSpPr>
        <p:spPr>
          <a:xfrm>
            <a:off x="4338218" y="2377440"/>
            <a:ext cx="3515258" cy="265176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ard-head-21"/>
          <p:cNvSpPr txBox="1"/>
          <p:nvPr/>
        </p:nvSpPr>
        <p:spPr>
          <a:xfrm>
            <a:off x="4521098" y="2487168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  Soundness we measure</a:t>
            </a:r>
            <a:endParaRPr lang="en-US" sz="1900" dirty="0"/>
          </a:p>
        </p:txBody>
      </p:sp>
      <p:sp>
        <p:nvSpPr>
          <p:cNvPr id="11" name="text-22"/>
          <p:cNvSpPr txBox="1"/>
          <p:nvPr/>
        </p:nvSpPr>
        <p:spPr>
          <a:xfrm>
            <a:off x="4521098" y="2926080"/>
            <a:ext cx="314949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Generator validity, and per-oracle precision before and after each false-positive class is fixed.</a:t>
            </a:r>
            <a:endParaRPr lang="en-US" sz="1800" dirty="0"/>
          </a:p>
        </p:txBody>
      </p:sp>
      <p:sp>
        <p:nvSpPr>
          <p:cNvPr id="12" name="status-23"/>
          <p:cNvSpPr txBox="1"/>
          <p:nvPr/>
        </p:nvSpPr>
        <p:spPr>
          <a:xfrm>
            <a:off x="4521098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Precision ledger</a:t>
            </a:r>
            <a:endParaRPr lang="en-US" sz="1600" dirty="0"/>
          </a:p>
        </p:txBody>
      </p:sp>
      <p:sp>
        <p:nvSpPr>
          <p:cNvPr id="13" name="card-24"/>
          <p:cNvSpPr/>
          <p:nvPr/>
        </p:nvSpPr>
        <p:spPr>
          <a:xfrm>
            <a:off x="8127797" y="2377440"/>
            <a:ext cx="3515258" cy="2651760"/>
          </a:xfrm>
          <a:prstGeom prst="roundRect">
            <a:avLst>
              <a:gd name="adj" fmla="val 27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ard-head-25"/>
          <p:cNvSpPr txBox="1"/>
          <p:nvPr/>
        </p:nvSpPr>
        <p:spPr>
          <a:xfrm>
            <a:off x="8310677" y="2487168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  LLM proposes, server decides</a:t>
            </a:r>
            <a:endParaRPr lang="en-US" sz="1900" dirty="0"/>
          </a:p>
        </p:txBody>
      </p:sp>
      <p:sp>
        <p:nvSpPr>
          <p:cNvPr id="15" name="text-26"/>
          <p:cNvSpPr txBox="1"/>
          <p:nvPr/>
        </p:nvSpPr>
        <p:spPr>
          <a:xfrm>
            <a:off x="8310677" y="2926080"/>
            <a:ext cx="314949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Fragments and rewrites enter the fuzzer only through a gate on the real server.</a:t>
            </a:r>
            <a:endParaRPr lang="en-US" sz="1800" dirty="0"/>
          </a:p>
        </p:txBody>
      </p:sp>
      <p:sp>
        <p:nvSpPr>
          <p:cNvPr id="16" name="status-27"/>
          <p:cNvSpPr txBox="1"/>
          <p:nvPr/>
        </p:nvSpPr>
        <p:spPr>
          <a:xfrm>
            <a:off x="8310677" y="4480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Validation gate</a:t>
            </a:r>
            <a:endParaRPr lang="en-US" sz="1600" dirty="0"/>
          </a:p>
        </p:txBody>
      </p:sp>
      <p:sp>
        <p:nvSpPr>
          <p:cNvPr id="17" name="text-28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Ladder: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Random/Mutation → Grammar → Grammar+Oracles → +LLM, with the same server, oracles, budget and seeds.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Motivating example: BUG-02, found by our oracle</a:t>
            </a:r>
            <a:endParaRPr lang="en-US" sz="3200" dirty="0"/>
          </a:p>
        </p:txBody>
      </p:sp>
      <p:sp>
        <p:nvSpPr>
          <p:cNvPr id="4" name="code-29"/>
          <p:cNvSpPr txBox="1"/>
          <p:nvPr/>
        </p:nvSpPr>
        <p:spPr>
          <a:xfrm>
            <a:off x="548640" y="1325880"/>
            <a:ext cx="6400800" cy="2011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'(,)'::int4range @&gt; c       AS a, -- want NULL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'empty'::int4range @&gt; c     AS b, -- want NULL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('empty'::int4range @&gt; c) AS 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(VALUES (NULL::int), (1)) v(c);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-- 17, 18.6, master: NULL row -&gt; t | f | t</a:t>
            </a:r>
            <a:endParaRPr lang="en-US" sz="1500" dirty="0"/>
          </a:p>
        </p:txBody>
      </p:sp>
      <p:sp>
        <p:nvSpPr>
          <p:cNvPr id="5" name="bullets-30"/>
          <p:cNvSpPr txBox="1"/>
          <p:nvPr/>
        </p:nvSpPr>
        <p:spPr>
          <a:xfrm>
            <a:off x="548640" y="356616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Strict operator, but a planner support function folds it to true/false (rangetypes.c)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Silent wrong result in released PostgreSQL 17 and 18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Found because the oracle knew '(,)'::int4range is one typed expr&lt;int4range&gt; node, so e ≡ (SELECT e)</a:t>
            </a:r>
            <a:endParaRPr lang="en-US" sz="1800" dirty="0"/>
          </a:p>
        </p:txBody>
      </p:sp>
      <p:pic>
        <p:nvPicPr>
          <p:cNvPr id="6" name="shot-A3_bug02" descr="/home/user/cs5187-term-project/docs/meeting2/figs/shots/A3_bug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25880"/>
            <a:ext cx="4325112" cy="32250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changed since meeting 1</a:t>
            </a:r>
            <a:endParaRPr lang="en-US" sz="3200" dirty="0"/>
          </a:p>
        </p:txBody>
      </p:sp>
      <p:graphicFrame>
        <p:nvGraphicFramePr>
          <p:cNvPr id="6" name="table-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1947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Plan item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What we built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Metamorphic oracles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TLP (WHERE, HAVING, aggregates), NoREC, expression, predicate, NOT NULL, ORDER BY, CTE, fence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Cross-version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master vs 18.6, per-worker databases, intended-change list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Triage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reproduce ×3, tree + token reduction, localization, upstream draft, bisect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LLM loop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miner, cached prompt, gate, diff coverage, repair, ledger, rewrite gate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Benchmark (RQ3)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23 reverted fixes; fixed / solo / injected servers; attribution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Stretch goals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plan-shape guidance, bandit weights, data profile, RLS and CERT oracles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Campaigns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RQ1–RQ4 configs ready; smoke runs pass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running next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Upstream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BUG-01 and BUG-02 patches with regression tests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filing this week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system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</a:t>
            </a:r>
            <a:endParaRPr lang="en-US" sz="3200" dirty="0"/>
          </a:p>
        </p:txBody>
      </p:sp>
      <p:pic>
        <p:nvPicPr>
          <p:cNvPr id="4" name="figure-architecture" descr="/home/user/cs5187-term-project/docs/fig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9601200" cy="4757865"/>
          </a:xfrm>
          <a:prstGeom prst="rect">
            <a:avLst/>
          </a:prstGeom>
        </p:spPr>
      </p:pic>
      <p:sp>
        <p:nvSpPr>
          <p:cNvPr id="5" name="text-3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Fuzzing loop: derive → attach checks → run several ways → classify / triage.   LLM loop: commit → proposal → gate → grammar.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tree, four jobs</a:t>
            </a:r>
            <a:endParaRPr lang="en-US" sz="3200" dirty="0"/>
          </a:p>
        </p:txBody>
      </p:sp>
      <p:pic>
        <p:nvPicPr>
          <p:cNvPr id="4" name="figure-replay" descr="/home/user/cs5187-term-project/docs/figs/grammar_r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88720"/>
            <a:ext cx="8686800" cy="3431920"/>
          </a:xfrm>
          <a:prstGeom prst="rect">
            <a:avLst/>
          </a:prstGeom>
        </p:spPr>
      </p:pic>
      <p:sp>
        <p:nvSpPr>
          <p:cNvPr id="5" name="card-33"/>
          <p:cNvSpPr/>
          <p:nvPr/>
        </p:nvSpPr>
        <p:spPr>
          <a:xfrm>
            <a:off x="548640" y="4709160"/>
            <a:ext cx="256786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rd-head-34"/>
          <p:cNvSpPr txBox="1"/>
          <p:nvPr/>
        </p:nvSpPr>
        <p:spPr>
          <a:xfrm>
            <a:off x="731520" y="481888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Generate</a:t>
            </a:r>
            <a:endParaRPr lang="en-US" sz="1600" dirty="0"/>
          </a:p>
        </p:txBody>
      </p:sp>
      <p:sp>
        <p:nvSpPr>
          <p:cNvPr id="7" name="text-35"/>
          <p:cNvSpPr txBox="1"/>
          <p:nvPr/>
        </p:nvSpPr>
        <p:spPr>
          <a:xfrm>
            <a:off x="731520" y="525780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Typed grammar: 78 rules, 421 alternatives, scopes and type variables</a:t>
            </a:r>
            <a:endParaRPr lang="en-US" sz="1300" dirty="0"/>
          </a:p>
        </p:txBody>
      </p:sp>
      <p:sp>
        <p:nvSpPr>
          <p:cNvPr id="8" name="card-36"/>
          <p:cNvSpPr/>
          <p:nvPr/>
        </p:nvSpPr>
        <p:spPr>
          <a:xfrm>
            <a:off x="3390824" y="4709160"/>
            <a:ext cx="256786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-head-37"/>
          <p:cNvSpPr txBox="1"/>
          <p:nvPr/>
        </p:nvSpPr>
        <p:spPr>
          <a:xfrm>
            <a:off x="3573704" y="481888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Mutate</a:t>
            </a:r>
            <a:endParaRPr lang="en-US" sz="1600" dirty="0"/>
          </a:p>
        </p:txBody>
      </p:sp>
      <p:sp>
        <p:nvSpPr>
          <p:cNvPr id="10" name="text-38"/>
          <p:cNvSpPr txBox="1"/>
          <p:nvPr/>
        </p:nvSpPr>
        <p:spPr>
          <a:xfrm>
            <a:off x="3573704" y="525780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Regenerate, splice, insert or drop subtrees; replay re-binds names and types</a:t>
            </a:r>
            <a:endParaRPr lang="en-US" sz="1300" dirty="0"/>
          </a:p>
        </p:txBody>
      </p:sp>
      <p:sp>
        <p:nvSpPr>
          <p:cNvPr id="11" name="card-39"/>
          <p:cNvSpPr/>
          <p:nvPr/>
        </p:nvSpPr>
        <p:spPr>
          <a:xfrm>
            <a:off x="6233008" y="4709160"/>
            <a:ext cx="256786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ard-head-40"/>
          <p:cNvSpPr txBox="1"/>
          <p:nvPr/>
        </p:nvSpPr>
        <p:spPr>
          <a:xfrm>
            <a:off x="6415888" y="481888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Oracle</a:t>
            </a:r>
            <a:endParaRPr lang="en-US" sz="1600" dirty="0"/>
          </a:p>
        </p:txBody>
      </p:sp>
      <p:sp>
        <p:nvSpPr>
          <p:cNvPr id="13" name="text-41"/>
          <p:cNvSpPr txBox="1"/>
          <p:nvPr/>
        </p:nvSpPr>
        <p:spPr>
          <a:xfrm>
            <a:off x="6415888" y="525780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one typed node or clause span into an equivalent query</a:t>
            </a:r>
            <a:endParaRPr lang="en-US" sz="1300" dirty="0"/>
          </a:p>
        </p:txBody>
      </p:sp>
      <p:sp>
        <p:nvSpPr>
          <p:cNvPr id="14" name="card-42"/>
          <p:cNvSpPr/>
          <p:nvPr/>
        </p:nvSpPr>
        <p:spPr>
          <a:xfrm>
            <a:off x="9075191" y="4709160"/>
            <a:ext cx="256786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rd-head-43"/>
          <p:cNvSpPr txBox="1"/>
          <p:nvPr/>
        </p:nvSpPr>
        <p:spPr>
          <a:xfrm>
            <a:off x="9258071" y="481888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Reduce</a:t>
            </a:r>
            <a:endParaRPr lang="en-US" sz="1600" dirty="0"/>
          </a:p>
        </p:txBody>
      </p:sp>
      <p:sp>
        <p:nvSpPr>
          <p:cNvPr id="16" name="text-44"/>
          <p:cNvSpPr txBox="1"/>
          <p:nvPr/>
        </p:nvSpPr>
        <p:spPr>
          <a:xfrm>
            <a:off x="9258071" y="525780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Replace subtrees by their smallest derivation; replay keeps the SQL valid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oracle stack</a:t>
            </a:r>
            <a:endParaRPr lang="en-US" sz="3200" dirty="0"/>
          </a:p>
        </p:txBody>
      </p:sp>
      <p:pic>
        <p:nvPicPr>
          <p:cNvPr id="4" name="figure-oracles" descr="/home/user/cs5187-term-project/docs/figs/oracle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033503"/>
          </a:xfrm>
          <a:prstGeom prst="rect">
            <a:avLst/>
          </a:prstGeom>
        </p:spPr>
      </p:pic>
      <p:sp>
        <p:nvSpPr>
          <p:cNvPr id="5" name="bullets-45"/>
          <p:cNvSpPr txBox="1"/>
          <p:nvPr/>
        </p:nvSpPr>
        <p:spPr>
          <a:xfrm>
            <a:off x="6583680" y="137160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Crash / assertion / internal error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on every statement (cassert build, server log, PID check)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18 plan variants: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join methods, hash agg, parallel, partition-wise, tiny work_mem, self-join elimination, eager agg, JIT, 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12 metamorphic kinds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on the derivation tree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Cross-version: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master vs 18.6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Determinism filter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and canonical digests (numeric scale, −0, float classes), confirmation re-run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Metamorphic rewrites on derivation trees</a:t>
            </a:r>
            <a:endParaRPr lang="en-US" sz="3200" dirty="0"/>
          </a:p>
        </p:txBody>
      </p:sp>
      <p:sp>
        <p:nvSpPr>
          <p:cNvPr id="4" name="text-46"/>
          <p:cNvSpPr txBox="1"/>
          <p:nvPr/>
        </p:nvSpPr>
        <p:spPr>
          <a:xfrm>
            <a:off x="548640" y="1280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TLP-WHERE, generated and rewritten by the tool</a:t>
            </a:r>
            <a:endParaRPr lang="en-US" sz="1600" dirty="0"/>
          </a:p>
        </p:txBody>
      </p:sp>
      <p:sp>
        <p:nvSpPr>
          <p:cNvPr id="5" name="code-47"/>
          <p:cNvSpPr txBox="1"/>
          <p:nvPr/>
        </p:nvSpPr>
        <p:spPr>
          <a:xfrm>
            <a:off x="548640" y="1691640"/>
            <a:ext cx="6035040" cy="17373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t0_1.c0 FROM t0 AS t0_1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.. WHERE (t0_1.c0 &gt; 5))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 (SELECT .. WHERE NOT (t0_1.c0 &gt; 5))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 (SELECT .. WHERE (t0_1.c0 &gt; 5) IS NULL)</a:t>
            </a:r>
            <a:endParaRPr lang="en-US" sz="1400" dirty="0"/>
          </a:p>
        </p:txBody>
      </p:sp>
      <p:sp>
        <p:nvSpPr>
          <p:cNvPr id="6" name="text-48"/>
          <p:cNvSpPr txBox="1"/>
          <p:nvPr/>
        </p:nvSpPr>
        <p:spPr>
          <a:xfrm>
            <a:off x="548640" y="36576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Also: TLP-HAVING, TLP-aggregates (MIN of MINs, SUM of COUNTs), NoREC, IN ↔ OR, a&lt;b ↔ NOT(a&gt;=b), BETWEEN, NOT NULL conjunct, drop ORDER BY, CTE (not) materialized, OFFSET 0 fence, typed expression identities.</a:t>
            </a:r>
            <a:endParaRPr lang="en-US" sz="1700" dirty="0"/>
          </a:p>
        </p:txBody>
      </p:sp>
      <p:sp>
        <p:nvSpPr>
          <p:cNvPr id="7" name="card-49"/>
          <p:cNvSpPr/>
          <p:nvPr/>
        </p:nvSpPr>
        <p:spPr>
          <a:xfrm>
            <a:off x="6949440" y="1280160"/>
            <a:ext cx="4690872" cy="4846320"/>
          </a:xfrm>
          <a:prstGeom prst="roundRect">
            <a:avLst>
              <a:gd name="adj" fmla="val 15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-head-50"/>
          <p:cNvSpPr txBox="1"/>
          <p:nvPr/>
        </p:nvSpPr>
        <p:spPr>
          <a:xfrm>
            <a:off x="7132320" y="1389888"/>
            <a:ext cx="4325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the tree matters</a:t>
            </a:r>
            <a:endParaRPr lang="en-US" sz="1800" dirty="0"/>
          </a:p>
        </p:txBody>
      </p:sp>
      <p:sp>
        <p:nvSpPr>
          <p:cNvPr id="9" name="bullets-51"/>
          <p:cNvSpPr txBox="1"/>
          <p:nvPr/>
        </p:nvSpPr>
        <p:spPr>
          <a:xfrm>
            <a:off x="7132320" y="1828800"/>
            <a:ext cx="43251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Knows which WHERE belongs to which SELECT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Knows each node's type, grouped levels, scopes, outer joins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a rewrite is applied only where sound: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multiset contexts only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DISTINCT: unique-text types only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NULL: never under outer joins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e+0 on int, not on float8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Beyond wrong results: RLS leak oracle and CERT</a:t>
            </a:r>
            <a:endParaRPr lang="en-US" sz="3200" dirty="0"/>
          </a:p>
        </p:txBody>
      </p:sp>
      <p:sp>
        <p:nvSpPr>
          <p:cNvPr id="4" name="card-52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-head-53"/>
          <p:cNvSpPr txBox="1"/>
          <p:nvPr/>
        </p:nvSpPr>
        <p:spPr>
          <a:xfrm>
            <a:off x="731520" y="1435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RLS leak oracle (information flow)</a:t>
            </a:r>
            <a:endParaRPr lang="en-US" sz="1800" dirty="0"/>
          </a:p>
        </p:txBody>
      </p:sp>
      <p:sp>
        <p:nvSpPr>
          <p:cNvPr id="6" name="bullets-54"/>
          <p:cNvSpPr txBox="1"/>
          <p:nvPr/>
        </p:nvSpPr>
        <p:spPr>
          <a:xfrm>
            <a:off x="731520" y="18745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Policies on 5 tables; role pgfuzz_rls sees 131 of 203 rows of t0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Left: the query as the restricted role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Right: the query as superuser, each table replaced by (SELECT * FROM t WHERE policy)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More rows on the left = leak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532 checks, 0 false positives</a:t>
            </a:r>
            <a:endParaRPr lang="en-US" sz="1800" dirty="0"/>
          </a:p>
        </p:txBody>
      </p:sp>
      <p:sp>
        <p:nvSpPr>
          <p:cNvPr id="7" name="card-55"/>
          <p:cNvSpPr/>
          <p:nvPr/>
        </p:nvSpPr>
        <p:spPr>
          <a:xfrm>
            <a:off x="6309360" y="1325880"/>
            <a:ext cx="533095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-head-56"/>
          <p:cNvSpPr txBox="1"/>
          <p:nvPr/>
        </p:nvSpPr>
        <p:spPr>
          <a:xfrm>
            <a:off x="6492240" y="1435608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CERT (Ba &amp; Rigger, ICSE'24)</a:t>
            </a:r>
            <a:endParaRPr lang="en-US" sz="1800" dirty="0"/>
          </a:p>
        </p:txBody>
      </p:sp>
      <p:sp>
        <p:nvSpPr>
          <p:cNvPr id="9" name="bullets-57"/>
          <p:cNvSpPr txBox="1"/>
          <p:nvPr/>
        </p:nvSpPr>
        <p:spPr>
          <a:xfrm>
            <a:off x="6492240" y="1874520"/>
            <a:ext cx="4965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Adding WHERE must not raise the planner's row estimate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Reported as performance, apart from wrong results; 58 checks, 0 violations</a:t>
            </a:r>
            <a:endParaRPr lang="en-US" sz="1700" dirty="0"/>
          </a:p>
        </p:txBody>
      </p:sp>
      <p:sp>
        <p:nvSpPr>
          <p:cNvPr id="10" name="card-58"/>
          <p:cNvSpPr/>
          <p:nvPr/>
        </p:nvSpPr>
        <p:spPr>
          <a:xfrm>
            <a:off x="6309360" y="3794760"/>
            <a:ext cx="5330952" cy="2286000"/>
          </a:xfrm>
          <a:prstGeom prst="roundRect">
            <a:avLst>
              <a:gd name="adj" fmla="val 32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-head-59"/>
          <p:cNvSpPr txBox="1"/>
          <p:nvPr/>
        </p:nvSpPr>
        <p:spPr>
          <a:xfrm>
            <a:off x="6492240" y="3904488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Cross-version</a:t>
            </a:r>
            <a:endParaRPr lang="en-US" sz="1800" dirty="0"/>
          </a:p>
        </p:txBody>
      </p:sp>
      <p:sp>
        <p:nvSpPr>
          <p:cNvPr id="12" name="text-60"/>
          <p:cNvSpPr txBox="1"/>
          <p:nvPr/>
        </p:nvSpPr>
        <p:spPr>
          <a:xfrm>
            <a:off x="6492240" y="4343400"/>
            <a:ext cx="49651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1,155 comparisons, 0 mismatches after fixing clock data and excluding intended changes (corr on master).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Triage: from a failure to an upstream report</a:t>
            </a:r>
            <a:endParaRPr lang="en-US" sz="3200" dirty="0"/>
          </a:p>
        </p:txBody>
      </p:sp>
      <p:sp>
        <p:nvSpPr>
          <p:cNvPr id="4" name="step-61"/>
          <p:cNvSpPr/>
          <p:nvPr/>
        </p:nvSpPr>
        <p:spPr>
          <a:xfrm>
            <a:off x="548640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-text-62"/>
          <p:cNvSpPr txBox="1"/>
          <p:nvPr/>
        </p:nvSpPr>
        <p:spPr>
          <a:xfrm>
            <a:off x="548640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Reproduce ×3</a:t>
            </a:r>
            <a:endParaRPr lang="en-US" sz="1400" dirty="0"/>
          </a:p>
        </p:txBody>
      </p:sp>
      <p:sp>
        <p:nvSpPr>
          <p:cNvPr id="6" name="arrow-63"/>
          <p:cNvSpPr/>
          <p:nvPr/>
        </p:nvSpPr>
        <p:spPr>
          <a:xfrm>
            <a:off x="2176272" y="1760220"/>
            <a:ext cx="24377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tep-64"/>
          <p:cNvSpPr/>
          <p:nvPr/>
        </p:nvSpPr>
        <p:spPr>
          <a:xfrm>
            <a:off x="2447483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-text-65"/>
          <p:cNvSpPr txBox="1"/>
          <p:nvPr/>
        </p:nvSpPr>
        <p:spPr>
          <a:xfrm>
            <a:off x="2447483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Tree reduction</a:t>
            </a:r>
            <a:endParaRPr lang="en-US" sz="1400" dirty="0"/>
          </a:p>
        </p:txBody>
      </p:sp>
      <p:sp>
        <p:nvSpPr>
          <p:cNvPr id="9" name="arrow-66"/>
          <p:cNvSpPr/>
          <p:nvPr/>
        </p:nvSpPr>
        <p:spPr>
          <a:xfrm>
            <a:off x="4075115" y="1760220"/>
            <a:ext cx="24377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tep-67"/>
          <p:cNvSpPr/>
          <p:nvPr/>
        </p:nvSpPr>
        <p:spPr>
          <a:xfrm>
            <a:off x="4346326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-text-68"/>
          <p:cNvSpPr txBox="1"/>
          <p:nvPr/>
        </p:nvSpPr>
        <p:spPr>
          <a:xfrm>
            <a:off x="4346326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Statement ddmin</a:t>
            </a:r>
            <a:endParaRPr lang="en-US" sz="1400" dirty="0"/>
          </a:p>
        </p:txBody>
      </p:sp>
      <p:sp>
        <p:nvSpPr>
          <p:cNvPr id="12" name="arrow-69"/>
          <p:cNvSpPr/>
          <p:nvPr/>
        </p:nvSpPr>
        <p:spPr>
          <a:xfrm>
            <a:off x="5973958" y="1760220"/>
            <a:ext cx="24377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tep-70"/>
          <p:cNvSpPr/>
          <p:nvPr/>
        </p:nvSpPr>
        <p:spPr>
          <a:xfrm>
            <a:off x="6245169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-text-71"/>
          <p:cNvSpPr txBox="1"/>
          <p:nvPr/>
        </p:nvSpPr>
        <p:spPr>
          <a:xfrm>
            <a:off x="6245169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 HDD (pairs)</a:t>
            </a:r>
            <a:endParaRPr lang="en-US" sz="1400" dirty="0"/>
          </a:p>
        </p:txBody>
      </p:sp>
      <p:sp>
        <p:nvSpPr>
          <p:cNvPr id="15" name="arrow-72"/>
          <p:cNvSpPr/>
          <p:nvPr/>
        </p:nvSpPr>
        <p:spPr>
          <a:xfrm>
            <a:off x="7872801" y="1760220"/>
            <a:ext cx="24377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tep-73"/>
          <p:cNvSpPr/>
          <p:nvPr/>
        </p:nvSpPr>
        <p:spPr>
          <a:xfrm>
            <a:off x="8144012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-text-74"/>
          <p:cNvSpPr txBox="1"/>
          <p:nvPr/>
        </p:nvSpPr>
        <p:spPr>
          <a:xfrm>
            <a:off x="8144012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Localize (all variants)</a:t>
            </a:r>
            <a:endParaRPr lang="en-US" sz="1400" dirty="0"/>
          </a:p>
        </p:txBody>
      </p:sp>
      <p:sp>
        <p:nvSpPr>
          <p:cNvPr id="18" name="arrow-75"/>
          <p:cNvSpPr/>
          <p:nvPr/>
        </p:nvSpPr>
        <p:spPr>
          <a:xfrm>
            <a:off x="9771644" y="1760220"/>
            <a:ext cx="24377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tep-76"/>
          <p:cNvSpPr/>
          <p:nvPr/>
        </p:nvSpPr>
        <p:spPr>
          <a:xfrm>
            <a:off x="10042855" y="13716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-text-77"/>
          <p:cNvSpPr txBox="1"/>
          <p:nvPr/>
        </p:nvSpPr>
        <p:spPr>
          <a:xfrm>
            <a:off x="10042855" y="1371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 + upstream draft</a:t>
            </a:r>
            <a:endParaRPr lang="en-US" sz="1400" dirty="0"/>
          </a:p>
        </p:txBody>
      </p:sp>
      <p:graphicFrame>
        <p:nvGraphicFramePr>
          <p:cNvPr id="13" name="table-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6692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BUG-01 case (590 tokens)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Tokens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Server runs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Token reduction only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406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Tree first, then tokens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79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-79"/>
          <p:cNvSpPr txBox="1"/>
          <p:nvPr/>
        </p:nvSpPr>
        <p:spPr>
          <a:xfrm>
            <a:off x="548640" y="42062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Localization: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BUG-02 → "not toggled by planner settings" → a support function, which is the real cause.</a:t>
            </a:r>
            <a:endParaRPr lang="en-US" sz="1800" dirty="0"/>
          </a:p>
        </p:txBody>
      </p:sp>
      <p:pic>
        <p:nvPicPr>
          <p:cNvPr id="23" name="shot-A3_triage" descr="/home/user/cs5187-term-project/docs/meeting2/figs/shots/A3_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606040"/>
            <a:ext cx="5056632" cy="274565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LLM arm: the LLM proposes, the server decides</a:t>
            </a:r>
            <a:endParaRPr lang="en-US" sz="3200" dirty="0"/>
          </a:p>
        </p:txBody>
      </p:sp>
      <p:sp>
        <p:nvSpPr>
          <p:cNvPr id="4" name="bullets-80"/>
          <p:cNvSpPr txBox="1"/>
          <p:nvPr/>
        </p:nvSpPr>
        <p:spPr>
          <a:xfrm>
            <a:off x="548640" y="1325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Mine master commits (planner, executor, parser), excluding the 23 benchmark fixes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Cached 9k-token prompt + commit digest → fragment, seeds, rewrites (JSON schema)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Gate: parses · derivable (≥5 uses) · ≥60% valid on the server · seeds run · diff coverage up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Repair rounds with the server's errors (max 3); ledger of tokens and cost</a:t>
            </a:r>
            <a:endParaRPr lang="en-US" sz="1800" dirty="0"/>
          </a:p>
        </p:txBody>
      </p:sp>
      <p:sp>
        <p:nvSpPr>
          <p:cNvPr id="5" name="text-81"/>
          <p:cNvSpPr txBox="1"/>
          <p:nvPr/>
        </p:nvSpPr>
        <p:spPr>
          <a:xfrm>
            <a:off x="548640" y="5120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API or manual mode; stored responses replay for free.</a:t>
            </a:r>
            <a:endParaRPr lang="en-US" sz="1600" dirty="0"/>
          </a:p>
        </p:txBody>
      </p:sp>
      <p:sp>
        <p:nvSpPr>
          <p:cNvPr id="6" name="text-82"/>
          <p:cNvSpPr txBox="1"/>
          <p:nvPr/>
        </p:nvSpPr>
        <p:spPr>
          <a:xfrm>
            <a:off x="5943600" y="1325880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Rewrite gate: value probe + 150 live test cases</a:t>
            </a:r>
            <a:endParaRPr lang="en-US" sz="1600" dirty="0"/>
          </a:p>
        </p:txBody>
      </p:sp>
      <p:graphicFrame>
        <p:nvGraphicFramePr>
          <p:cNvPr id="14" name="table-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83080"/>
          <a:ext cx="5696712" cy="914400"/>
        </p:xfrm>
        <a:graphic>
          <a:graphicData uri="http://schemas.openxmlformats.org/drawingml/2006/table">
            <a:tbl>
              <a:tblPr/>
              <a:tblGrid>
                <a:gridCol w="3410712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Proposed rewrite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 WHEN e IS NULL THEN NULL ELSE e END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accepted, 90/90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substr(e, 1)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accepted, 88/88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+ 1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rejected: 12 mismatches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IS 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rejected: probe at NULL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-84"/>
          <p:cNvSpPr txBox="1"/>
          <p:nvPr/>
        </p:nvSpPr>
        <p:spPr>
          <a:xfrm>
            <a:off x="5943600" y="4526280"/>
            <a:ext cx="56967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 IS TRUE passed 109 sampled checks: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sampling is not proof.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Evaluation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RQ3 benchmark: 23 real bugs put back into PostgreSQL</a:t>
            </a:r>
            <a:endParaRPr lang="en-US" sz="3200" dirty="0"/>
          </a:p>
        </p:txBody>
      </p:sp>
      <p:sp>
        <p:nvSpPr>
          <p:cNvPr id="4" name="bullets-85"/>
          <p:cNvSpPr txBox="1"/>
          <p:nvPr/>
        </p:nvSpPr>
        <p:spPr>
          <a:xfrm>
            <a:off x="548640" y="132588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Fixes from 31 Jul–16 Oct 2026 with regression tests, reverted on base 26bd08fb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Servers: fixed, solo (one bug each), injected (all 23)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bench verify: symptom = the fixed vs solo difference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bench attribute: replay each finding on every solo server</a:t>
            </a:r>
            <a:endParaRPr lang="en-US" sz="1800" dirty="0"/>
          </a:p>
        </p:txBody>
      </p:sp>
      <p:sp>
        <p:nvSpPr>
          <p:cNvPr id="5" name="stat-86"/>
          <p:cNvSpPr txBox="1"/>
          <p:nvPr/>
        </p:nvSpPr>
        <p:spPr>
          <a:xfrm>
            <a:off x="54864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20 / 23 observable</a:t>
            </a:r>
            <a:endParaRPr lang="en-US" sz="4400" dirty="0"/>
          </a:p>
        </p:txBody>
      </p:sp>
      <p:sp>
        <p:nvSpPr>
          <p:cNvPr id="6" name="stat-label-87"/>
          <p:cNvSpPr txBox="1"/>
          <p:nvPr/>
        </p:nvSpPr>
        <p:spPr>
          <a:xfrm>
            <a:off x="548640" y="5166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only 9 of them visible to a crash-only fuzzer</a:t>
            </a:r>
            <a:endParaRPr lang="en-US" sz="1500" dirty="0"/>
          </a:p>
        </p:txBody>
      </p:sp>
      <p:graphicFrame>
        <p:nvGraphicFramePr>
          <p:cNvPr id="16" name="table-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25880"/>
          <a:ext cx="505663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99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Symptom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Bugs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wrong result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internal error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assertion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 / wrong error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observable (excluded)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shot-A2_bench_verify" descr="/home/user/cs5187-term-project/docs/meeting2/figs/shots/A2_bench_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842" y="3794760"/>
            <a:ext cx="4900309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Component checks on master (single runs)</a:t>
            </a:r>
            <a:endParaRPr lang="en-US" sz="3200" dirty="0"/>
          </a:p>
        </p:txBody>
      </p:sp>
      <p:graphicFrame>
        <p:nvGraphicFramePr>
          <p:cNvPr id="17" name="table-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525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Component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Measured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Metamorphic oracles (first run)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907 checks, 0 false positives; BUG-02 in the first 150 test cases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New rewrite kinds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798 checks, 0 false positives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Full system, 3 min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3,166 test cases, 99.5% valid, 1,991 checks, 7,956 variant runs, 0 FP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Bandit weights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533 vs 419 plan shapes per 1,000 test cases, same validity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Data profile (@dlit)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selective predicates (5–95% of rows): 29.3% → 58.6%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Tree replay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599 / 600 stored trees replay to identical SQL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Token reduction (BUG-02)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 statements / 107 tokens → 1 / 36 in 307 runs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LLM fragment gate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valid fragment 251/251 accepted; invalid one rejected with the server's message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Precision ledger (RQ2): 93 triaged candidates</a:t>
            </a:r>
            <a:endParaRPr lang="en-US" sz="3200" dirty="0"/>
          </a:p>
        </p:txBody>
      </p:sp>
      <p:graphicFrame>
        <p:nvGraphicFramePr>
          <p:cNvPr id="18" name="table-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640080"/>
                <a:gridCol w="640080"/>
                <a:gridCol w="640080"/>
                <a:gridCol w="64008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Oracle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Cand.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Real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Dup.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FP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Flaky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Open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assertion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cross-version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internal error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mm: expr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mm: rls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mm: tlp_having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mm: tlp_where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plan-variant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all (+1 crash)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-91"/>
          <p:cNvSpPr/>
          <p:nvPr/>
        </p:nvSpPr>
        <p:spPr>
          <a:xfrm>
            <a:off x="6949440" y="1325880"/>
            <a:ext cx="4690872" cy="4114800"/>
          </a:xfrm>
          <a:prstGeom prst="roundRect">
            <a:avLst>
              <a:gd name="adj" fmla="val 177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rd-head-92"/>
          <p:cNvSpPr txBox="1"/>
          <p:nvPr/>
        </p:nvSpPr>
        <p:spPr>
          <a:xfrm>
            <a:off x="7132320" y="1435608"/>
            <a:ext cx="4325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 false-positive classes, all fixed + tested</a:t>
            </a:r>
            <a:endParaRPr lang="en-US" sz="1800" dirty="0"/>
          </a:p>
        </p:txBody>
      </p:sp>
      <p:sp>
        <p:nvSpPr>
          <p:cNvPr id="7" name="bullets-93"/>
          <p:cNvSpPr txBox="1"/>
          <p:nvPr/>
        </p:nvSpPr>
        <p:spPr>
          <a:xfrm>
            <a:off x="7132320" y="1874520"/>
            <a:ext cx="432511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before the campaigns (ARRAY(SELECT), TLP-HAVING, numeric scale, seed clock, PoC PID, intended corr change)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Equal intervals with different text: 16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ORDER BY NULL in ordered aggregates: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Cross-version state divergence (IGNORE NULLS):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LLM rewrite that changes the collation: 1</a:t>
            </a:r>
            <a:endParaRPr lang="en-US" sz="1500" dirty="0"/>
          </a:p>
        </p:txBody>
      </p:sp>
      <p:sp>
        <p:nvSpPr>
          <p:cNvPr id="8" name="text-94"/>
          <p:cNvSpPr txBox="1"/>
          <p:nvPr/>
        </p:nvSpPr>
        <p:spPr>
          <a:xfrm>
            <a:off x="6949440" y="5577840"/>
            <a:ext cx="46908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Lesson: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oracle precision, not generator power, is the bottleneck.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Bugs found</a:t>
            </a:r>
            <a:endParaRPr lang="en-US" sz="3200" dirty="0"/>
          </a:p>
        </p:txBody>
      </p:sp>
      <p:graphicFrame>
        <p:nvGraphicFramePr>
          <p:cNvPr id="19" name="table-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834640"/>
                <a:gridCol w="1463040"/>
                <a:gridCol w="29535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Bug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Found by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Upstream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Status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BUG-01 JSON_TABLE collations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grammar (10 signatures)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#19768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filed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BUG-02 range containment NULL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(SELECT e) rewrite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#19793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filed, patch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MERGE: SubPlan with no parent plan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grammar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#19802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confirmed, patch posted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Parallel Append assertion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LLM fragments + TLP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#19803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confirmed, fixed on master</a:t>
                      </a:r>
                      <a:endParaRPr lang="en-US" sz="17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96"/>
          <p:cNvSpPr txBox="1"/>
          <p:nvPr/>
        </p:nvSpPr>
        <p:spPr>
          <a:xfrm>
            <a:off x="548640" y="4480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Rediscovered after others reported them: #19800 (self-join elimination wrong result, plan-variant oracle, present in 18.6), #19772, #19784, #19771 (fixed upstream).</a:t>
            </a:r>
            <a:endParaRPr lang="en-US" sz="1700" dirty="0"/>
          </a:p>
        </p:txBody>
      </p:sp>
      <p:sp>
        <p:nvSpPr>
          <p:cNvPr id="6" name="text-97"/>
          <p:cNvSpPr txBox="1"/>
          <p:nvPr/>
        </p:nvSpPr>
        <p:spPr>
          <a:xfrm>
            <a:off x="548640" y="5303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Also filed or reported: C-01 dependencies.c assertion, AUDIT-F1 NOT IN anti-join cast, AUDIT-F2 IGNORE NULLS hang, #19766 shm_toc assertion.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Experiment design (RQ1–RQ4)</a:t>
            </a:r>
            <a:endParaRPr lang="en-US" sz="3200" dirty="0"/>
          </a:p>
        </p:txBody>
      </p:sp>
      <p:sp>
        <p:nvSpPr>
          <p:cNvPr id="4" name="card-98"/>
          <p:cNvSpPr/>
          <p:nvPr/>
        </p:nvSpPr>
        <p:spPr>
          <a:xfrm>
            <a:off x="548640" y="132588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-head-99"/>
          <p:cNvSpPr txBox="1"/>
          <p:nvPr/>
        </p:nvSpPr>
        <p:spPr>
          <a:xfrm>
            <a:off x="731520" y="143560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RQ1 reach</a:t>
            </a:r>
            <a:endParaRPr lang="en-US" sz="1800" dirty="0"/>
          </a:p>
        </p:txBody>
      </p:sp>
      <p:sp>
        <p:nvSpPr>
          <p:cNvPr id="6" name="text-100"/>
          <p:cNvSpPr txBox="1"/>
          <p:nvPr/>
        </p:nvSpPr>
        <p:spPr>
          <a:xfrm>
            <a:off x="731520" y="187452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validity, line/branch coverage, features, plan shapes</a:t>
            </a:r>
            <a:endParaRPr lang="en-US" sz="1600" dirty="0"/>
          </a:p>
        </p:txBody>
      </p:sp>
      <p:sp>
        <p:nvSpPr>
          <p:cNvPr id="7" name="card-101"/>
          <p:cNvSpPr/>
          <p:nvPr/>
        </p:nvSpPr>
        <p:spPr>
          <a:xfrm>
            <a:off x="3390824" y="132588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-head-102"/>
          <p:cNvSpPr txBox="1"/>
          <p:nvPr/>
        </p:nvSpPr>
        <p:spPr>
          <a:xfrm>
            <a:off x="3573704" y="143560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RQ2 bugs</a:t>
            </a:r>
            <a:endParaRPr lang="en-US" sz="1800" dirty="0"/>
          </a:p>
        </p:txBody>
      </p:sp>
      <p:sp>
        <p:nvSpPr>
          <p:cNvPr id="9" name="text-103"/>
          <p:cNvSpPr txBox="1"/>
          <p:nvPr/>
        </p:nvSpPr>
        <p:spPr>
          <a:xfrm>
            <a:off x="3573704" y="187452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bugs found and per-oracle precision</a:t>
            </a:r>
            <a:endParaRPr lang="en-US" sz="1600" dirty="0"/>
          </a:p>
        </p:txBody>
      </p:sp>
      <p:sp>
        <p:nvSpPr>
          <p:cNvPr id="10" name="card-104"/>
          <p:cNvSpPr/>
          <p:nvPr/>
        </p:nvSpPr>
        <p:spPr>
          <a:xfrm>
            <a:off x="6233008" y="132588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-head-105"/>
          <p:cNvSpPr txBox="1"/>
          <p:nvPr/>
        </p:nvSpPr>
        <p:spPr>
          <a:xfrm>
            <a:off x="6415888" y="143560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RQ3 ground truth</a:t>
            </a:r>
            <a:endParaRPr lang="en-US" sz="1800" dirty="0"/>
          </a:p>
        </p:txBody>
      </p:sp>
      <p:sp>
        <p:nvSpPr>
          <p:cNvPr id="12" name="text-106"/>
          <p:cNvSpPr txBox="1"/>
          <p:nvPr/>
        </p:nvSpPr>
        <p:spPr>
          <a:xfrm>
            <a:off x="6415888" y="187452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re-injected bugs found, time to find</a:t>
            </a:r>
            <a:endParaRPr lang="en-US" sz="1600" dirty="0"/>
          </a:p>
        </p:txBody>
      </p:sp>
      <p:sp>
        <p:nvSpPr>
          <p:cNvPr id="13" name="card-107"/>
          <p:cNvSpPr/>
          <p:nvPr/>
        </p:nvSpPr>
        <p:spPr>
          <a:xfrm>
            <a:off x="9075191" y="132588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ard-head-108"/>
          <p:cNvSpPr txBox="1"/>
          <p:nvPr/>
        </p:nvSpPr>
        <p:spPr>
          <a:xfrm>
            <a:off x="9258071" y="1435608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RQ4 LLM</a:t>
            </a:r>
            <a:endParaRPr lang="en-US" sz="1800" dirty="0"/>
          </a:p>
        </p:txBody>
      </p:sp>
      <p:sp>
        <p:nvSpPr>
          <p:cNvPr id="15" name="text-109"/>
          <p:cNvSpPr txBox="1"/>
          <p:nvPr/>
        </p:nvSpPr>
        <p:spPr>
          <a:xfrm>
            <a:off x="9258071" y="187452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fragments add (diff coverage, ablation) and what they cost</a:t>
            </a:r>
            <a:endParaRPr lang="en-US" sz="1600" dirty="0"/>
          </a:p>
        </p:txBody>
      </p:sp>
      <p:sp>
        <p:nvSpPr>
          <p:cNvPr id="16" name="bullets-110"/>
          <p:cNvSpPr txBox="1"/>
          <p:nvPr/>
        </p:nvSpPr>
        <p:spPr>
          <a:xfrm>
            <a:off x="548640" y="34290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RQ1: 7 arms (incl. no-bandit and LLM ablations) × 5 trials × 1 h on a gcov build (machine B)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RQ3: 4 arms × 5 trials × 1 h, injected server + 18.6 reference (machine A)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Paired seeds, same oracles and budget; one commit (26bd08fb) for everything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Statistics: medians, IQR, bootstrap 95% CI, Mann–Whitney U, Vargha–Delaney Â12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RQ1: reach (median of 5 one-hour trials)</a:t>
            </a:r>
            <a:endParaRPr lang="en-US" sz="3200" dirty="0"/>
          </a:p>
        </p:txBody>
      </p:sp>
      <p:graphicFrame>
        <p:nvGraphicFramePr>
          <p:cNvPr id="21" name="table-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371600"/>
                <a:gridCol w="1371600"/>
                <a:gridCol w="1737360"/>
                <a:gridCol w="13075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Arm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Valid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Lines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Branches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Features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Plan shapes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26.0%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22.2%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15.1%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1,074k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Grammar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99.3%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36.7%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27.1%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20,279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Grammar+Oracles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96.3%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36.2%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26.7%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34,313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 no bandit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99.4%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36.2%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26.8%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23,997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+LLM fragments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95.5%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35.7%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26.5%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25,972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+LLM seeds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98.3%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35.6%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26.4%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29,274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+LLM both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95.3%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35.7%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26.4%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26,375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47k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figure-rq1-lines" descr="/home/user/cs5187-term-project/docs/meeting2/figs/rq1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0"/>
            <a:ext cx="3108960" cy="2194560"/>
          </a:xfrm>
          <a:prstGeom prst="rect">
            <a:avLst/>
          </a:prstGeom>
        </p:spPr>
      </p:pic>
      <p:sp>
        <p:nvSpPr>
          <p:cNvPr id="6" name="bullets-112"/>
          <p:cNvSpPr txBox="1"/>
          <p:nvPr/>
        </p:nvSpPr>
        <p:spPr>
          <a:xfrm>
            <a:off x="3840480" y="416052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Grammar vs random: Â12 = 1.00, p = 0.008, though random runs 15× more tests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Oracles: no line gain (p = 0.42); plan shapes 20k → 34k (Â12 = 0.84, p = 0.095)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Oracles cost throughput: 67 → 40 statements/s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RQ3 and RQ4</a:t>
            </a:r>
            <a:endParaRPr lang="en-US" sz="3200" dirty="0"/>
          </a:p>
        </p:txBody>
      </p:sp>
      <p:sp>
        <p:nvSpPr>
          <p:cNvPr id="4" name="text-113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RQ3: bugs found of 20, 5 trials × 1 h</a:t>
            </a:r>
            <a:endParaRPr lang="en-US" sz="1600" dirty="0"/>
          </a:p>
        </p:txBody>
      </p:sp>
      <p:graphicFrame>
        <p:nvGraphicFramePr>
          <p:cNvPr id="22" name="table-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73152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Random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Gram.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+Orac.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+LLM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dfcf6fa7 (internal error)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11b56ee2 (assertion)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wrong result (8 bugs)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bugs found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ullets-115"/>
          <p:cNvSpPr txBox="1"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wrong-result bug found by any arm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h × 5 trials is short for bugs needing feature combinations</a:t>
            </a:r>
            <a:endParaRPr lang="en-US" sz="1600" dirty="0"/>
          </a:p>
        </p:txBody>
      </p:sp>
      <p:sp>
        <p:nvSpPr>
          <p:cNvPr id="7" name="card-116"/>
          <p:cNvSpPr/>
          <p:nvPr/>
        </p:nvSpPr>
        <p:spPr>
          <a:xfrm>
            <a:off x="6309360" y="1280160"/>
            <a:ext cx="5330952" cy="4846320"/>
          </a:xfrm>
          <a:prstGeom prst="roundRect">
            <a:avLst>
              <a:gd name="adj" fmla="val 15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-head-117"/>
          <p:cNvSpPr txBox="1"/>
          <p:nvPr/>
        </p:nvSpPr>
        <p:spPr>
          <a:xfrm>
            <a:off x="6492240" y="1389888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RQ4: LLM (Gemini Flash, free tier)</a:t>
            </a:r>
            <a:endParaRPr lang="en-US" sz="1800" dirty="0"/>
          </a:p>
        </p:txBody>
      </p:sp>
      <p:sp>
        <p:nvSpPr>
          <p:cNvPr id="9" name="bullets-118"/>
          <p:cNvSpPr txBox="1"/>
          <p:nvPr/>
        </p:nvSpPr>
        <p:spPr>
          <a:xfrm>
            <a:off x="6492240" y="1828800"/>
            <a:ext cx="496519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 commits, 4 accepted (40%), 25 rounds; 16 rejected on server validity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+5 SQL features (p = 0.004), no coverage gain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328k in / 171k out tokens, 0 USD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 of 7 rewrites passed the gate; one changed the collation → false positive; gate now rejects COLLATE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Fragments-only arm found #19803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Plan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Timeline to the deadline</a:t>
            </a:r>
            <a:endParaRPr lang="en-US" sz="3200" dirty="0"/>
          </a:p>
        </p:txBody>
      </p:sp>
      <p:sp>
        <p:nvSpPr>
          <p:cNvPr id="4" name="timeline-line"/>
          <p:cNvSpPr/>
          <p:nvPr/>
        </p:nvSpPr>
        <p:spPr>
          <a:xfrm>
            <a:off x="1188720" y="2834640"/>
            <a:ext cx="97840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5" name="milestone-119"/>
          <p:cNvSpPr/>
          <p:nvPr/>
        </p:nvSpPr>
        <p:spPr>
          <a:xfrm>
            <a:off x="1060704" y="270662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ilestone-date-120"/>
          <p:cNvSpPr txBox="1"/>
          <p:nvPr/>
        </p:nvSpPr>
        <p:spPr>
          <a:xfrm>
            <a:off x="27432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24–26 Oct</a:t>
            </a:r>
            <a:endParaRPr lang="en-US" sz="1600" dirty="0"/>
          </a:p>
        </p:txBody>
      </p:sp>
      <p:sp>
        <p:nvSpPr>
          <p:cNvPr id="7" name="milestone-label-121"/>
          <p:cNvSpPr txBox="1"/>
          <p:nvPr/>
        </p:nvSpPr>
        <p:spPr>
          <a:xfrm>
            <a:off x="274320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extension</a:t>
            </a:r>
            <a:endParaRPr lang="en-US" sz="1400" dirty="0"/>
          </a:p>
        </p:txBody>
      </p:sp>
      <p:sp>
        <p:nvSpPr>
          <p:cNvPr id="8" name="milestone-122"/>
          <p:cNvSpPr/>
          <p:nvPr/>
        </p:nvSpPr>
        <p:spPr>
          <a:xfrm>
            <a:off x="3017520" y="270662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milestone-date-123"/>
          <p:cNvSpPr txBox="1"/>
          <p:nvPr/>
        </p:nvSpPr>
        <p:spPr>
          <a:xfrm>
            <a:off x="2231136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26–28 Oct</a:t>
            </a:r>
            <a:endParaRPr lang="en-US" sz="1600" dirty="0"/>
          </a:p>
        </p:txBody>
      </p:sp>
      <p:sp>
        <p:nvSpPr>
          <p:cNvPr id="10" name="milestone-label-124"/>
          <p:cNvSpPr txBox="1"/>
          <p:nvPr/>
        </p:nvSpPr>
        <p:spPr>
          <a:xfrm>
            <a:off x="2231136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RQ1–RQ4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campaigns done</a:t>
            </a:r>
            <a:endParaRPr lang="en-US" sz="1400" dirty="0"/>
          </a:p>
        </p:txBody>
      </p:sp>
      <p:sp>
        <p:nvSpPr>
          <p:cNvPr id="11" name="milestone-125"/>
          <p:cNvSpPr/>
          <p:nvPr/>
        </p:nvSpPr>
        <p:spPr>
          <a:xfrm>
            <a:off x="4974336" y="270662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milestone-date-126"/>
          <p:cNvSpPr txBox="1"/>
          <p:nvPr/>
        </p:nvSpPr>
        <p:spPr>
          <a:xfrm>
            <a:off x="4187952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29 Oct</a:t>
            </a:r>
            <a:endParaRPr lang="en-US" sz="1600" dirty="0"/>
          </a:p>
        </p:txBody>
      </p:sp>
      <p:sp>
        <p:nvSpPr>
          <p:cNvPr id="13" name="milestone-label-127"/>
          <p:cNvSpPr txBox="1"/>
          <p:nvPr/>
        </p:nvSpPr>
        <p:spPr>
          <a:xfrm>
            <a:off x="4187952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triage all,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paper numbers</a:t>
            </a:r>
            <a:endParaRPr lang="en-US" sz="1400" dirty="0"/>
          </a:p>
        </p:txBody>
      </p:sp>
      <p:sp>
        <p:nvSpPr>
          <p:cNvPr id="14" name="milestone-128"/>
          <p:cNvSpPr/>
          <p:nvPr/>
        </p:nvSpPr>
        <p:spPr>
          <a:xfrm>
            <a:off x="6931152" y="270662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milestone-date-129"/>
          <p:cNvSpPr txBox="1"/>
          <p:nvPr/>
        </p:nvSpPr>
        <p:spPr>
          <a:xfrm>
            <a:off x="6144768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30 Oct–5 Nov</a:t>
            </a:r>
            <a:endParaRPr lang="en-US" sz="1600" dirty="0"/>
          </a:p>
        </p:txBody>
      </p:sp>
      <p:sp>
        <p:nvSpPr>
          <p:cNvPr id="16" name="milestone-label-130"/>
          <p:cNvSpPr txBox="1"/>
          <p:nvPr/>
        </p:nvSpPr>
        <p:spPr>
          <a:xfrm>
            <a:off x="6144768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 open cases,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slides</a:t>
            </a:r>
            <a:endParaRPr lang="en-US" sz="1400" dirty="0"/>
          </a:p>
        </p:txBody>
      </p:sp>
      <p:sp>
        <p:nvSpPr>
          <p:cNvPr id="17" name="milestone-131"/>
          <p:cNvSpPr/>
          <p:nvPr/>
        </p:nvSpPr>
        <p:spPr>
          <a:xfrm>
            <a:off x="8887968" y="270662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milestone-date-132"/>
          <p:cNvSpPr txBox="1"/>
          <p:nvPr/>
        </p:nvSpPr>
        <p:spPr>
          <a:xfrm>
            <a:off x="8101584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2–6 Nov</a:t>
            </a:r>
            <a:endParaRPr lang="en-US" sz="1600" dirty="0"/>
          </a:p>
        </p:txBody>
      </p:sp>
      <p:sp>
        <p:nvSpPr>
          <p:cNvPr id="19" name="milestone-label-133"/>
          <p:cNvSpPr txBox="1"/>
          <p:nvPr/>
        </p:nvSpPr>
        <p:spPr>
          <a:xfrm>
            <a:off x="8101584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meeting 3</a:t>
            </a:r>
            <a:endParaRPr lang="en-US" sz="1400" dirty="0"/>
          </a:p>
        </p:txBody>
      </p:sp>
      <p:sp>
        <p:nvSpPr>
          <p:cNvPr id="20" name="milestone-134"/>
          <p:cNvSpPr/>
          <p:nvPr/>
        </p:nvSpPr>
        <p:spPr>
          <a:xfrm>
            <a:off x="10844784" y="270662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milestone-date-135"/>
          <p:cNvSpPr txBox="1"/>
          <p:nvPr/>
        </p:nvSpPr>
        <p:spPr>
          <a:xfrm>
            <a:off x="100584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 / 13 Nov</a:t>
            </a:r>
            <a:endParaRPr lang="en-US" sz="1600" dirty="0"/>
          </a:p>
        </p:txBody>
      </p:sp>
      <p:sp>
        <p:nvSpPr>
          <p:cNvPr id="22" name="milestone-label-136"/>
          <p:cNvSpPr txBox="1"/>
          <p:nvPr/>
        </p:nvSpPr>
        <p:spPr>
          <a:xfrm>
            <a:off x="10058400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presentation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paper + repo</a:t>
            </a:r>
            <a:endParaRPr lang="en-US" sz="1400" dirty="0"/>
          </a:p>
        </p:txBody>
      </p:sp>
      <p:sp>
        <p:nvSpPr>
          <p:cNvPr id="23" name="bullets-137"/>
          <p:cNvSpPr txBox="1"/>
          <p:nvPr/>
        </p:nvSpPr>
        <p:spPr>
          <a:xfrm>
            <a:off x="548640" y="448056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Open: 5 RLS candidates and one corr() case to verify; authorship of fix 776df8a6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Results and deviations: docs/RESULTS_ANALYSIS.md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Risks, and what we would like feedback on</a:t>
            </a:r>
            <a:endParaRPr lang="en-US" sz="3200" dirty="0"/>
          </a:p>
        </p:txBody>
      </p:sp>
      <p:sp>
        <p:nvSpPr>
          <p:cNvPr id="4" name="card-138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-head-139"/>
          <p:cNvSpPr txBox="1"/>
          <p:nvPr/>
        </p:nvSpPr>
        <p:spPr>
          <a:xfrm>
            <a:off x="731520" y="14356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Risks and fallbacks</a:t>
            </a:r>
            <a:endParaRPr lang="en-US" sz="1800" dirty="0"/>
          </a:p>
        </p:txBody>
      </p:sp>
      <p:sp>
        <p:nvSpPr>
          <p:cNvPr id="6" name="bullets-140"/>
          <p:cNvSpPr txBox="1"/>
          <p:nvPr/>
        </p:nvSpPr>
        <p:spPr>
          <a:xfrm>
            <a:off x="731520" y="1874520"/>
            <a:ext cx="5074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Happened: 4 new false-positive classes, fixed after the runs and not re-measured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Happened: no Claude key, LLM arm on Gemini Flash, 10 commits (quota)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 trials rarely reach p &lt; 0.05 → we report effect sizes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Upstream replies after 13 Nov → report status as of the deadline</a:t>
            </a:r>
            <a:endParaRPr lang="en-US" sz="1800" dirty="0"/>
          </a:p>
        </p:txBody>
      </p:sp>
      <p:sp>
        <p:nvSpPr>
          <p:cNvPr id="7" name="card-141"/>
          <p:cNvSpPr/>
          <p:nvPr/>
        </p:nvSpPr>
        <p:spPr>
          <a:xfrm>
            <a:off x="6199632" y="1325880"/>
            <a:ext cx="544068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-head-142"/>
          <p:cNvSpPr txBox="1"/>
          <p:nvPr/>
        </p:nvSpPr>
        <p:spPr>
          <a:xfrm>
            <a:off x="6382512" y="14356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Questions for you</a:t>
            </a:r>
            <a:endParaRPr lang="en-US" sz="1800" dirty="0"/>
          </a:p>
        </p:txBody>
      </p:sp>
      <p:sp>
        <p:nvSpPr>
          <p:cNvPr id="9" name="bullets-143"/>
          <p:cNvSpPr txBox="1"/>
          <p:nvPr/>
        </p:nvSpPr>
        <p:spPr>
          <a:xfrm>
            <a:off x="6382512" y="1874520"/>
            <a:ext cx="5074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 two committer-confirmed bugs (one fixed) meet the top band although the benchmark shows no oracle advantage?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Is it acceptable that precision after the fixes is argued from reproducers, not a new campaign?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 (backup screenshots)</a:t>
            </a:r>
            <a:endParaRPr lang="en-US" sz="3200" dirty="0"/>
          </a:p>
        </p:txBody>
      </p:sp>
      <p:pic>
        <p:nvPicPr>
          <p:cNvPr id="4" name="shot-A3_sample" descr="/home/user/cs5187-term-project/docs/meeting2/figs/shots/A3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5258" cy="1812075"/>
          </a:xfrm>
          <a:prstGeom prst="rect">
            <a:avLst/>
          </a:prstGeom>
        </p:spPr>
      </p:pic>
      <p:pic>
        <p:nvPicPr>
          <p:cNvPr id="5" name="shot-B4_triage" descr="/home/user/cs5187-term-project/docs/meeting2/figs/shots/B4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8" y="1325880"/>
            <a:ext cx="3515258" cy="1886151"/>
          </a:xfrm>
          <a:prstGeom prst="rect">
            <a:avLst/>
          </a:prstGeom>
        </p:spPr>
      </p:pic>
      <p:pic>
        <p:nvPicPr>
          <p:cNvPr id="6" name="shot-A5_attribute" descr="/home/user/cs5187-term-project/docs/meeting2/figs/shots/A5_attrib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325880"/>
            <a:ext cx="3515258" cy="2055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you,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github.com/v28k/cs5187-term-project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LLM-Guided Grammar-Aware Fuzzing of PostgreSQL: progress meeting 2</dc:title>
  <dc:subject>PptxGenJS Presentation</dc:subject>
  <dc:creator>Venu, Bhuvan, Gowtham</dc:creator>
  <cp:lastModifiedBy>Venu, Bhuvan, Gowtham</cp:lastModifiedBy>
  <cp:revision>1</cp:revision>
  <dcterms:created xsi:type="dcterms:W3CDTF">2026-10-29T14:29:33Z</dcterms:created>
  <dcterms:modified xsi:type="dcterms:W3CDTF">2026-10-29T14:29:33Z</dcterms:modified>
</cp:coreProperties>
</file>