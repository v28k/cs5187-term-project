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64ade19-a710-a73b-0795-93f6c03ad54e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ystem" id="{8f7f02c8-545f-b1e4-306f-e8b5fb2b6bd2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Evaluation" id="{3a469be5-febf-f9c4-91be-19bcc0dd4c2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lan" id="{05117a1a-631b-f7ee-1154-790ebfa0fd8d}">
          <p14:sldIdLst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a typed grammar whose derivation trees drive generation, oracles and reduction, extended from recent commits by a gated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two bugs. Everything planned at meeting 1 is implemented; the remaining work is running the long campaigns and filing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wrong results are the bugs that matter; crash fuzzers miss them. Our three claims from meeting 1 and where each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query live if possible. The NULL row should give NULL in every column; released 17 and 18 give t/f because a planner support function folds the call to a constant.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table top to bottom; the last two rows are the work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loop: derive, attach checks, run several ways, classify and triage. Bottom loop: commit, proposal, gate,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derivation tree is the shared data structure. Replay is what keeps mutated and reduced trees 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Crash oracles see every statement; the wrong-result oracles see deterministic queries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TLP partitions rows by p, NOT p, p IS NULL. The tree tells us exactly where each rewrite is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RLS links to the information-flow lectures: the policy is a label, the check is non-interference on concrete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reduction finds smaller valid derivations that token deletion cannot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IS TRUE passed 109 sampled checks but is false, not NULL, at NULL: the value probe exists because sampling is not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truth: real bugs fixed by PostgreSQL developers, reverted on our base commit. 11 of the 20 observable ones need a wrong-result or error oracle.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trial per arm: this shows the pipeline works, not a significant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component was measured once on master; the paper has the same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precision is low on purpose: we log every false positive we ever produced. All 13 came from 6 classes, all fixed with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BUG-01: assertion on master, wrong result on 18.6. BUG-02: wrong result in released 17 and 18. Both have patches and regression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Arms differ only in the generator; everything else is shared and paired by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both boxes with the report output after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with the attribution table and the LLM ledger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Machine time is mostly overnight; our time is short. Filing upstream happens right after triage.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the questions for the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live demo fails, show these screenshots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1094415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CS-5187 A3 · LLM-guided grammar-aware fuzzing of PostgreSQL · progress meeting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LLM-Guided Grammar-Aware Fuzzing of PostgreSQL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CS-5187 Term Project A3 · Progress meeting 2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Venu · Bhuvan · Gowtham · 26–30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Status at a glance</a:t>
            </a:r>
            <a:endParaRPr lang="en-US" sz="3200" dirty="0"/>
          </a:p>
        </p:txBody>
      </p:sp>
      <p:sp>
        <p:nvSpPr>
          <p:cNvPr id="4" name="stat-1"/>
          <p:cNvSpPr txBox="1"/>
          <p:nvPr/>
        </p:nvSpPr>
        <p:spPr>
          <a:xfrm>
            <a:off x="54864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</a:t>
            </a:r>
            <a:endParaRPr lang="en-US" sz="4400" dirty="0"/>
          </a:p>
        </p:txBody>
      </p:sp>
      <p:sp>
        <p:nvSpPr>
          <p:cNvPr id="5" name="stat-label-2"/>
          <p:cNvSpPr txBox="1"/>
          <p:nvPr/>
        </p:nvSpPr>
        <p:spPr>
          <a:xfrm>
            <a:off x="54864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previously unknown PostgreSQL bugs, with patches</a:t>
            </a:r>
            <a:endParaRPr lang="en-US" sz="1500" dirty="0"/>
          </a:p>
        </p:txBody>
      </p:sp>
      <p:sp>
        <p:nvSpPr>
          <p:cNvPr id="6" name="stat-3"/>
          <p:cNvSpPr txBox="1"/>
          <p:nvPr/>
        </p:nvSpPr>
        <p:spPr>
          <a:xfrm>
            <a:off x="338328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99.5%</a:t>
            </a:r>
            <a:endParaRPr lang="en-US" sz="4400" dirty="0"/>
          </a:p>
        </p:txBody>
      </p:sp>
      <p:sp>
        <p:nvSpPr>
          <p:cNvPr id="7" name="stat-label-4"/>
          <p:cNvSpPr txBox="1"/>
          <p:nvPr/>
        </p:nvSpPr>
        <p:spPr>
          <a:xfrm>
            <a:off x="338328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valid statements (typed grammar)</a:t>
            </a:r>
            <a:endParaRPr lang="en-US" sz="1500" dirty="0"/>
          </a:p>
        </p:txBody>
      </p:sp>
      <p:sp>
        <p:nvSpPr>
          <p:cNvPr id="8" name="stat-5"/>
          <p:cNvSpPr txBox="1"/>
          <p:nvPr/>
        </p:nvSpPr>
        <p:spPr>
          <a:xfrm>
            <a:off x="621792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20 / 23</a:t>
            </a:r>
            <a:endParaRPr lang="en-US" sz="4400" dirty="0"/>
          </a:p>
        </p:txBody>
      </p:sp>
      <p:sp>
        <p:nvSpPr>
          <p:cNvPr id="9" name="stat-label-6"/>
          <p:cNvSpPr txBox="1"/>
          <p:nvPr/>
        </p:nvSpPr>
        <p:spPr>
          <a:xfrm>
            <a:off x="621792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re-injected bugs observable; only 9 by crashes</a:t>
            </a:r>
            <a:endParaRPr lang="en-US" sz="1500" dirty="0"/>
          </a:p>
        </p:txBody>
      </p:sp>
      <p:sp>
        <p:nvSpPr>
          <p:cNvPr id="10" name="stat-7"/>
          <p:cNvSpPr txBox="1"/>
          <p:nvPr/>
        </p:nvSpPr>
        <p:spPr>
          <a:xfrm>
            <a:off x="905256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</a:t>
            </a:r>
            <a:endParaRPr lang="en-US" sz="4400" dirty="0"/>
          </a:p>
        </p:txBody>
      </p:sp>
      <p:sp>
        <p:nvSpPr>
          <p:cNvPr id="11" name="stat-label-8"/>
          <p:cNvSpPr txBox="1"/>
          <p:nvPr/>
        </p:nvSpPr>
        <p:spPr>
          <a:xfrm>
            <a:off x="905256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false positives in 3,379 checks of new oracle kinds</a:t>
            </a:r>
            <a:endParaRPr lang="en-US" sz="1500" dirty="0"/>
          </a:p>
        </p:txBody>
      </p:sp>
      <p:sp>
        <p:nvSpPr>
          <p:cNvPr id="12" name="card-9"/>
          <p:cNvSpPr/>
          <p:nvPr/>
        </p:nvSpPr>
        <p:spPr>
          <a:xfrm>
            <a:off x="548640" y="3017520"/>
            <a:ext cx="667512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card-head-10"/>
          <p:cNvSpPr txBox="1"/>
          <p:nvPr/>
        </p:nvSpPr>
        <p:spPr>
          <a:xfrm>
            <a:off x="731520" y="312724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Done since meeting 1</a:t>
            </a:r>
            <a:endParaRPr lang="en-US" sz="1800" dirty="0"/>
          </a:p>
        </p:txBody>
      </p:sp>
      <p:sp>
        <p:nvSpPr>
          <p:cNvPr id="14" name="bullets-11"/>
          <p:cNvSpPr txBox="1"/>
          <p:nvPr/>
        </p:nvSpPr>
        <p:spPr>
          <a:xfrm>
            <a:off x="731520" y="3566160"/>
            <a:ext cx="63093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 meeting-1 plan item implemented and tested on PostgreSQL master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12 metamorphic oracle kinds on derivation trees, 18 plan variants, cross-version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Triage: tree + token reduction (116 → 79 tokens), localization, upstream drafts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Gated LLM arm; 23-bug re-injected benchmark; paper drafted (all five parts)</a:t>
            </a:r>
            <a:endParaRPr lang="en-US" sz="1800" dirty="0"/>
          </a:p>
        </p:txBody>
      </p:sp>
      <p:sp>
        <p:nvSpPr>
          <p:cNvPr id="15" name="card-12"/>
          <p:cNvSpPr/>
          <p:nvPr/>
        </p:nvSpPr>
        <p:spPr>
          <a:xfrm>
            <a:off x="7498080" y="3017520"/>
            <a:ext cx="41148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card-head-13"/>
          <p:cNvSpPr txBox="1"/>
          <p:nvPr/>
        </p:nvSpPr>
        <p:spPr>
          <a:xfrm>
            <a:off x="768096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Next</a:t>
            </a:r>
            <a:endParaRPr lang="en-US" sz="1800" dirty="0"/>
          </a:p>
        </p:txBody>
      </p:sp>
      <p:sp>
        <p:nvSpPr>
          <p:cNvPr id="17" name="bullets-14"/>
          <p:cNvSpPr txBox="1"/>
          <p:nvPr/>
        </p:nvSpPr>
        <p:spPr>
          <a:xfrm>
            <a:off x="7680960" y="35661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Overnight campaigns for RQ1–RQ4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File BUG-01 and BUG-02 upstream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Fill result tables in the paper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Recap: the problem and our three claims</a:t>
            </a:r>
            <a:endParaRPr lang="en-US" sz="3200" dirty="0"/>
          </a:p>
        </p:txBody>
      </p:sp>
      <p:sp>
        <p:nvSpPr>
          <p:cNvPr id="4" name="text-15"/>
          <p:cNvSpPr txBox="1"/>
          <p:nvPr/>
        </p:nvSpPr>
        <p:spPr>
          <a:xfrm>
            <a:off x="548640" y="128016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Problem.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PostgreSQL's planner changes every week. The worst bugs are </a:t>
            </a:r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silent wrong results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. Crash fuzzers miss them, SQLancer-style oracles use small hand-written generators, and neither knows what changed in yesterday's commit.</a:t>
            </a:r>
            <a:endParaRPr lang="en-US" sz="1900" dirty="0"/>
          </a:p>
        </p:txBody>
      </p:sp>
      <p:sp>
        <p:nvSpPr>
          <p:cNvPr id="5" name="card-16"/>
          <p:cNvSpPr/>
          <p:nvPr/>
        </p:nvSpPr>
        <p:spPr>
          <a:xfrm>
            <a:off x="548640" y="2377440"/>
            <a:ext cx="3515258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card-head-17"/>
          <p:cNvSpPr txBox="1"/>
          <p:nvPr/>
        </p:nvSpPr>
        <p:spPr>
          <a:xfrm>
            <a:off x="731520" y="2487168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1  One tree, four jobs</a:t>
            </a:r>
            <a:endParaRPr lang="en-US" sz="1900" dirty="0"/>
          </a:p>
        </p:txBody>
      </p:sp>
      <p:sp>
        <p:nvSpPr>
          <p:cNvPr id="7" name="text-18"/>
          <p:cNvSpPr txBox="1"/>
          <p:nvPr/>
        </p:nvSpPr>
        <p:spPr>
          <a:xfrm>
            <a:off x="731520" y="2926080"/>
            <a:ext cx="314949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typed derivation tree generates, mutates, is rewritten by the oracles, and is reduced in triage.</a:t>
            </a:r>
            <a:endParaRPr lang="en-US" sz="1800" dirty="0"/>
          </a:p>
        </p:txBody>
      </p:sp>
      <p:sp>
        <p:nvSpPr>
          <p:cNvPr id="8" name="status-19"/>
          <p:cNvSpPr txBox="1"/>
          <p:nvPr/>
        </p:nvSpPr>
        <p:spPr>
          <a:xfrm>
            <a:off x="731520" y="4480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All four in code</a:t>
            </a:r>
            <a:endParaRPr lang="en-US" sz="1600" dirty="0"/>
          </a:p>
        </p:txBody>
      </p:sp>
      <p:sp>
        <p:nvSpPr>
          <p:cNvPr id="9" name="card-20"/>
          <p:cNvSpPr/>
          <p:nvPr/>
        </p:nvSpPr>
        <p:spPr>
          <a:xfrm>
            <a:off x="4338218" y="2377440"/>
            <a:ext cx="3515258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card-head-21"/>
          <p:cNvSpPr txBox="1"/>
          <p:nvPr/>
        </p:nvSpPr>
        <p:spPr>
          <a:xfrm>
            <a:off x="4521098" y="2487168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2  Soundness we measure</a:t>
            </a:r>
            <a:endParaRPr lang="en-US" sz="1900" dirty="0"/>
          </a:p>
        </p:txBody>
      </p:sp>
      <p:sp>
        <p:nvSpPr>
          <p:cNvPr id="11" name="text-22"/>
          <p:cNvSpPr txBox="1"/>
          <p:nvPr/>
        </p:nvSpPr>
        <p:spPr>
          <a:xfrm>
            <a:off x="4521098" y="2926080"/>
            <a:ext cx="314949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Generator validity, and per-oracle precision before and after each false-positive class is fixed.</a:t>
            </a:r>
            <a:endParaRPr lang="en-US" sz="1800" dirty="0"/>
          </a:p>
        </p:txBody>
      </p:sp>
      <p:sp>
        <p:nvSpPr>
          <p:cNvPr id="12" name="status-23"/>
          <p:cNvSpPr txBox="1"/>
          <p:nvPr/>
        </p:nvSpPr>
        <p:spPr>
          <a:xfrm>
            <a:off x="4521098" y="4480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Precision ledger</a:t>
            </a:r>
            <a:endParaRPr lang="en-US" sz="1600" dirty="0"/>
          </a:p>
        </p:txBody>
      </p:sp>
      <p:sp>
        <p:nvSpPr>
          <p:cNvPr id="13" name="card-24"/>
          <p:cNvSpPr/>
          <p:nvPr/>
        </p:nvSpPr>
        <p:spPr>
          <a:xfrm>
            <a:off x="8127797" y="2377440"/>
            <a:ext cx="3515258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card-head-25"/>
          <p:cNvSpPr txBox="1"/>
          <p:nvPr/>
        </p:nvSpPr>
        <p:spPr>
          <a:xfrm>
            <a:off x="8310677" y="2487168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3  LLM proposes, server decides</a:t>
            </a:r>
            <a:endParaRPr lang="en-US" sz="1900" dirty="0"/>
          </a:p>
        </p:txBody>
      </p:sp>
      <p:sp>
        <p:nvSpPr>
          <p:cNvPr id="15" name="text-26"/>
          <p:cNvSpPr txBox="1"/>
          <p:nvPr/>
        </p:nvSpPr>
        <p:spPr>
          <a:xfrm>
            <a:off x="8310677" y="2926080"/>
            <a:ext cx="314949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Fragments and rewrites enter the fuzzer only through a gate on the real server.</a:t>
            </a:r>
            <a:endParaRPr lang="en-US" sz="1800" dirty="0"/>
          </a:p>
        </p:txBody>
      </p:sp>
      <p:sp>
        <p:nvSpPr>
          <p:cNvPr id="16" name="status-27"/>
          <p:cNvSpPr txBox="1"/>
          <p:nvPr/>
        </p:nvSpPr>
        <p:spPr>
          <a:xfrm>
            <a:off x="8310677" y="4480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Validation gate</a:t>
            </a:r>
            <a:endParaRPr lang="en-US" sz="1600" dirty="0"/>
          </a:p>
        </p:txBody>
      </p:sp>
      <p:sp>
        <p:nvSpPr>
          <p:cNvPr id="17" name="text-28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Ladder: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Random/Mutation → Grammar → Grammar+Oracles → +LLM, with the same server, oracles, budget and seeds.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Motivating example: BUG-02, found by our oracle</a:t>
            </a:r>
            <a:endParaRPr lang="en-US" sz="3200" dirty="0"/>
          </a:p>
        </p:txBody>
      </p:sp>
      <p:sp>
        <p:nvSpPr>
          <p:cNvPr id="4" name="code-29"/>
          <p:cNvSpPr txBox="1"/>
          <p:nvPr/>
        </p:nvSpPr>
        <p:spPr>
          <a:xfrm>
            <a:off x="548640" y="1325880"/>
            <a:ext cx="6400800" cy="20116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'(,)'::int4range @&gt; c       AS a, -- want NULL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'empty'::int4range @&gt; c     AS b, -- want NULL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('empty'::int4range @&gt; c) AS 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(VALUES (NULL::int), (1)) v(c);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-- 17, 18.6, master: NULL row -&gt; t | f | t</a:t>
            </a:r>
            <a:endParaRPr lang="en-US" sz="1500" dirty="0"/>
          </a:p>
        </p:txBody>
      </p:sp>
      <p:sp>
        <p:nvSpPr>
          <p:cNvPr id="5" name="bullets-30"/>
          <p:cNvSpPr txBox="1"/>
          <p:nvPr/>
        </p:nvSpPr>
        <p:spPr>
          <a:xfrm>
            <a:off x="548640" y="3566160"/>
            <a:ext cx="6400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Strict operator, but a planner support function folds it to true/false (rangetypes.c)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Silent wrong result in released PostgreSQL 17 and 18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Found because the oracle knew '(,)'::int4range is one typed expr&lt;int4range&gt; node, so e ≡ (SELECT e)</a:t>
            </a:r>
            <a:endParaRPr lang="en-US" sz="1800" dirty="0"/>
          </a:p>
        </p:txBody>
      </p:sp>
      <p:sp>
        <p:nvSpPr>
          <p:cNvPr id="6" name="placeholder-31"/>
          <p:cNvSpPr/>
          <p:nvPr/>
        </p:nvSpPr>
        <p:spPr>
          <a:xfrm>
            <a:off x="7315200" y="1325880"/>
            <a:ext cx="4325112" cy="4754880"/>
          </a:xfrm>
          <a:prstGeom prst="roundRect">
            <a:avLst>
              <a:gd name="adj" fmla="val 1268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7" name="placeholder-text-32"/>
          <p:cNvSpPr txBox="1"/>
          <p:nvPr/>
        </p:nvSpPr>
        <p:spPr>
          <a:xfrm>
            <a:off x="7498080" y="1325880"/>
            <a:ext cx="3959352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Screenshot: psql on 18.6 and master running this query, plus EXPLAIN VERBOSE showing "Output: true"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docs/bughunt/BUG-02-*.md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changed since meeting 1</a:t>
            </a:r>
            <a:endParaRPr lang="en-US" sz="3200" dirty="0"/>
          </a:p>
        </p:txBody>
      </p:sp>
      <p:graphicFrame>
        <p:nvGraphicFramePr>
          <p:cNvPr id="6" name="table-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  <a:gridCol w="1947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Plan item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What we built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Status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Metamorphic oracles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TLP (WHERE, HAVING, aggregates), NoREC, expression, predicate, NOT NULL, ORDER BY, CTE, fence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Cross-version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master vs 18.6, per-worker databases, intended-change list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Triage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reproduce ×3, tree + token reduction, localization, upstream draft, bisect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LLM loop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miner, cached prompt, gate, diff coverage, repair, ledger, rewrite gate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Benchmark (RQ3)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 reverted fixes; fixed / solo / injected servers; attribution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Stretch goals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plan-shape guidance, bandit weights, data profile, RLS and CERT oracles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done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Campaigns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RQ1–RQ4 configs ready; smoke runs pass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running next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Upstream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BUG-01 and BUG-02 patches with regression tests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</a:rPr>
                        <a:t>filing this week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system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Architecture</a:t>
            </a:r>
            <a:endParaRPr lang="en-US" sz="3200" dirty="0"/>
          </a:p>
        </p:txBody>
      </p:sp>
      <p:pic>
        <p:nvPicPr>
          <p:cNvPr id="4" name="figure-architecture" descr="/home/user/cs5187-term-project/docs/fig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280160"/>
            <a:ext cx="9601200" cy="4757865"/>
          </a:xfrm>
          <a:prstGeom prst="rect">
            <a:avLst/>
          </a:prstGeom>
        </p:spPr>
      </p:pic>
      <p:sp>
        <p:nvSpPr>
          <p:cNvPr id="5" name="text-34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Fuzzing loop: derive → attach checks → run several ways → classify / triage.   LLM loop: commit → proposal → gate → grammar.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tree, four jobs</a:t>
            </a:r>
            <a:endParaRPr lang="en-US" sz="3200" dirty="0"/>
          </a:p>
        </p:txBody>
      </p:sp>
      <p:pic>
        <p:nvPicPr>
          <p:cNvPr id="4" name="figure-replay" descr="/home/user/cs5187-term-project/docs/figs/grammar_re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188720"/>
            <a:ext cx="8686800" cy="3431920"/>
          </a:xfrm>
          <a:prstGeom prst="rect">
            <a:avLst/>
          </a:prstGeom>
        </p:spPr>
      </p:pic>
      <p:sp>
        <p:nvSpPr>
          <p:cNvPr id="5" name="card-35"/>
          <p:cNvSpPr/>
          <p:nvPr/>
        </p:nvSpPr>
        <p:spPr>
          <a:xfrm>
            <a:off x="548640" y="4709160"/>
            <a:ext cx="2567864" cy="146304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card-head-36"/>
          <p:cNvSpPr txBox="1"/>
          <p:nvPr/>
        </p:nvSpPr>
        <p:spPr>
          <a:xfrm>
            <a:off x="731520" y="481888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Generate</a:t>
            </a:r>
            <a:endParaRPr lang="en-US" sz="1600" dirty="0"/>
          </a:p>
        </p:txBody>
      </p:sp>
      <p:sp>
        <p:nvSpPr>
          <p:cNvPr id="7" name="text-37"/>
          <p:cNvSpPr txBox="1"/>
          <p:nvPr/>
        </p:nvSpPr>
        <p:spPr>
          <a:xfrm>
            <a:off x="731520" y="5257800"/>
            <a:ext cx="22021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Typed grammar: 78 rules, 421 alternatives, scopes and type variables</a:t>
            </a:r>
            <a:endParaRPr lang="en-US" sz="1300" dirty="0"/>
          </a:p>
        </p:txBody>
      </p:sp>
      <p:sp>
        <p:nvSpPr>
          <p:cNvPr id="8" name="card-38"/>
          <p:cNvSpPr/>
          <p:nvPr/>
        </p:nvSpPr>
        <p:spPr>
          <a:xfrm>
            <a:off x="3390824" y="4709160"/>
            <a:ext cx="2567864" cy="146304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-head-39"/>
          <p:cNvSpPr txBox="1"/>
          <p:nvPr/>
        </p:nvSpPr>
        <p:spPr>
          <a:xfrm>
            <a:off x="3573704" y="481888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Mutate</a:t>
            </a:r>
            <a:endParaRPr lang="en-US" sz="1600" dirty="0"/>
          </a:p>
        </p:txBody>
      </p:sp>
      <p:sp>
        <p:nvSpPr>
          <p:cNvPr id="10" name="text-40"/>
          <p:cNvSpPr txBox="1"/>
          <p:nvPr/>
        </p:nvSpPr>
        <p:spPr>
          <a:xfrm>
            <a:off x="3573704" y="5257800"/>
            <a:ext cx="22021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Regenerate, splice, insert or drop subtrees; replay re-binds names and types</a:t>
            </a:r>
            <a:endParaRPr lang="en-US" sz="1300" dirty="0"/>
          </a:p>
        </p:txBody>
      </p:sp>
      <p:sp>
        <p:nvSpPr>
          <p:cNvPr id="11" name="card-41"/>
          <p:cNvSpPr/>
          <p:nvPr/>
        </p:nvSpPr>
        <p:spPr>
          <a:xfrm>
            <a:off x="6233008" y="4709160"/>
            <a:ext cx="2567864" cy="146304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card-head-42"/>
          <p:cNvSpPr txBox="1"/>
          <p:nvPr/>
        </p:nvSpPr>
        <p:spPr>
          <a:xfrm>
            <a:off x="6415888" y="481888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Oracle</a:t>
            </a:r>
            <a:endParaRPr lang="en-US" sz="1600" dirty="0"/>
          </a:p>
        </p:txBody>
      </p:sp>
      <p:sp>
        <p:nvSpPr>
          <p:cNvPr id="13" name="text-43"/>
          <p:cNvSpPr txBox="1"/>
          <p:nvPr/>
        </p:nvSpPr>
        <p:spPr>
          <a:xfrm>
            <a:off x="6415888" y="5257800"/>
            <a:ext cx="22021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Rewrite one typed node or clause span into an equivalent query</a:t>
            </a:r>
            <a:endParaRPr lang="en-US" sz="1300" dirty="0"/>
          </a:p>
        </p:txBody>
      </p:sp>
      <p:sp>
        <p:nvSpPr>
          <p:cNvPr id="14" name="card-44"/>
          <p:cNvSpPr/>
          <p:nvPr/>
        </p:nvSpPr>
        <p:spPr>
          <a:xfrm>
            <a:off x="9075191" y="4709160"/>
            <a:ext cx="2567864" cy="146304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card-head-45"/>
          <p:cNvSpPr txBox="1"/>
          <p:nvPr/>
        </p:nvSpPr>
        <p:spPr>
          <a:xfrm>
            <a:off x="9258071" y="481888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Reduce</a:t>
            </a:r>
            <a:endParaRPr lang="en-US" sz="1600" dirty="0"/>
          </a:p>
        </p:txBody>
      </p:sp>
      <p:sp>
        <p:nvSpPr>
          <p:cNvPr id="16" name="text-46"/>
          <p:cNvSpPr txBox="1"/>
          <p:nvPr/>
        </p:nvSpPr>
        <p:spPr>
          <a:xfrm>
            <a:off x="9258071" y="5257800"/>
            <a:ext cx="22021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Replace subtrees by their smallest derivation; replay keeps the SQL valid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oracle stack</a:t>
            </a:r>
            <a:endParaRPr lang="en-US" sz="3200" dirty="0"/>
          </a:p>
        </p:txBody>
      </p:sp>
      <p:pic>
        <p:nvPicPr>
          <p:cNvPr id="4" name="figure-oracles" descr="/home/user/cs5187-term-project/docs/figs/oracl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3033503"/>
          </a:xfrm>
          <a:prstGeom prst="rect">
            <a:avLst/>
          </a:prstGeom>
        </p:spPr>
      </p:pic>
      <p:sp>
        <p:nvSpPr>
          <p:cNvPr id="5" name="bullets-47"/>
          <p:cNvSpPr txBox="1"/>
          <p:nvPr/>
        </p:nvSpPr>
        <p:spPr>
          <a:xfrm>
            <a:off x="6583680" y="1371600"/>
            <a:ext cx="50292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Crash / assertion / internal error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every statement (cassert build, server log, PID check)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18 plan variants: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join methods, hash agg, parallel, partition-wise, tiny work_mem, self-join elimination, eager agg, JIT, …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12 metamorphic kinds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the derivation tree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Cross-version: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master vs 18.6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Determinism filter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and canonical digests (numeric scale, −0, float classes), confirmation re-run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Metamorphic rewrites on derivation trees</a:t>
            </a:r>
            <a:endParaRPr lang="en-US" sz="3200" dirty="0"/>
          </a:p>
        </p:txBody>
      </p:sp>
      <p:sp>
        <p:nvSpPr>
          <p:cNvPr id="4" name="text-48"/>
          <p:cNvSpPr txBox="1"/>
          <p:nvPr/>
        </p:nvSpPr>
        <p:spPr>
          <a:xfrm>
            <a:off x="548640" y="12801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TLP-WHERE, generated and rewritten by the tool</a:t>
            </a:r>
            <a:endParaRPr lang="en-US" sz="1600" dirty="0"/>
          </a:p>
        </p:txBody>
      </p:sp>
      <p:sp>
        <p:nvSpPr>
          <p:cNvPr id="5" name="code-49"/>
          <p:cNvSpPr txBox="1"/>
          <p:nvPr/>
        </p:nvSpPr>
        <p:spPr>
          <a:xfrm>
            <a:off x="548640" y="1691640"/>
            <a:ext cx="6035040" cy="17373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t0_1.c0 FROM t0 AS t0_1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==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(SELECT .. WHERE (t0_1.c0 &gt; 5))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 (SELECT .. WHERE NOT (t0_1.c0 &gt; 5))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 (SELECT .. WHERE (t0_1.c0 &gt; 5) IS NULL)</a:t>
            </a:r>
            <a:endParaRPr lang="en-US" sz="1400" dirty="0"/>
          </a:p>
        </p:txBody>
      </p:sp>
      <p:sp>
        <p:nvSpPr>
          <p:cNvPr id="6" name="text-50"/>
          <p:cNvSpPr txBox="1"/>
          <p:nvPr/>
        </p:nvSpPr>
        <p:spPr>
          <a:xfrm>
            <a:off x="548640" y="365760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Also: TLP-HAVING, TLP-aggregates (MIN of MINs, SUM of COUNTs), NoREC, IN ↔ OR, a&lt;b ↔ NOT(a&gt;=b), BETWEEN, NOT NULL conjunct, drop ORDER BY, CTE (not) materialized, OFFSET 0 fence, typed expression identities.</a:t>
            </a:r>
            <a:endParaRPr lang="en-US" sz="1700" dirty="0"/>
          </a:p>
        </p:txBody>
      </p:sp>
      <p:sp>
        <p:nvSpPr>
          <p:cNvPr id="7" name="card-51"/>
          <p:cNvSpPr/>
          <p:nvPr/>
        </p:nvSpPr>
        <p:spPr>
          <a:xfrm>
            <a:off x="6949440" y="1280160"/>
            <a:ext cx="4690872" cy="4846320"/>
          </a:xfrm>
          <a:prstGeom prst="roundRect">
            <a:avLst>
              <a:gd name="adj" fmla="val 155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card-head-52"/>
          <p:cNvSpPr txBox="1"/>
          <p:nvPr/>
        </p:nvSpPr>
        <p:spPr>
          <a:xfrm>
            <a:off x="7132320" y="1389888"/>
            <a:ext cx="4325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Why the tree matters</a:t>
            </a:r>
            <a:endParaRPr lang="en-US" sz="1800" dirty="0"/>
          </a:p>
        </p:txBody>
      </p:sp>
      <p:sp>
        <p:nvSpPr>
          <p:cNvPr id="9" name="bullets-53"/>
          <p:cNvSpPr txBox="1"/>
          <p:nvPr/>
        </p:nvSpPr>
        <p:spPr>
          <a:xfrm>
            <a:off x="7132320" y="1828800"/>
            <a:ext cx="432511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Knows which WHERE belongs to which SELECT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Knows each node's type, grouped levels, scopes, outer joins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 a rewrite is applied only where sound:</a:t>
            </a:r>
            <a:endParaRPr lang="en-US" sz="18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multiset contexts only</a:t>
            </a:r>
            <a:endParaRPr lang="en-US" sz="18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DISTINCT: unique-text types only</a:t>
            </a:r>
            <a:endParaRPr lang="en-US" sz="18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NOT NULL: never under outer joins</a:t>
            </a:r>
            <a:endParaRPr lang="en-US" sz="18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e+0 on int, not on float8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Beyond wrong results: RLS leak oracle and CERT</a:t>
            </a:r>
            <a:endParaRPr lang="en-US" sz="3200" dirty="0"/>
          </a:p>
        </p:txBody>
      </p:sp>
      <p:sp>
        <p:nvSpPr>
          <p:cNvPr id="4" name="card-54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card-head-55"/>
          <p:cNvSpPr txBox="1"/>
          <p:nvPr/>
        </p:nvSpPr>
        <p:spPr>
          <a:xfrm>
            <a:off x="731520" y="14356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RLS leak oracle (information flow)</a:t>
            </a:r>
            <a:endParaRPr lang="en-US" sz="1800" dirty="0"/>
          </a:p>
        </p:txBody>
      </p:sp>
      <p:sp>
        <p:nvSpPr>
          <p:cNvPr id="6" name="bullets-56"/>
          <p:cNvSpPr txBox="1"/>
          <p:nvPr/>
        </p:nvSpPr>
        <p:spPr>
          <a:xfrm>
            <a:off x="731520" y="187452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Policies on 5 tables; role pgfuzz_rls sees 131 of 203 rows of t0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Left: the query as the restricted role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Right: the query as superuser, each table replaced by (SELECT * FROM t WHERE policy)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More rows on the left = leak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532 checks, 0 false positives</a:t>
            </a:r>
            <a:endParaRPr lang="en-US" sz="1800" dirty="0"/>
          </a:p>
        </p:txBody>
      </p:sp>
      <p:sp>
        <p:nvSpPr>
          <p:cNvPr id="7" name="card-57"/>
          <p:cNvSpPr/>
          <p:nvPr/>
        </p:nvSpPr>
        <p:spPr>
          <a:xfrm>
            <a:off x="6309360" y="1325880"/>
            <a:ext cx="533095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card-head-58"/>
          <p:cNvSpPr txBox="1"/>
          <p:nvPr/>
        </p:nvSpPr>
        <p:spPr>
          <a:xfrm>
            <a:off x="6492240" y="1435608"/>
            <a:ext cx="4965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CERT (Ba &amp; Rigger, ICSE'24)</a:t>
            </a:r>
            <a:endParaRPr lang="en-US" sz="1800" dirty="0"/>
          </a:p>
        </p:txBody>
      </p:sp>
      <p:sp>
        <p:nvSpPr>
          <p:cNvPr id="9" name="bullets-59"/>
          <p:cNvSpPr txBox="1"/>
          <p:nvPr/>
        </p:nvSpPr>
        <p:spPr>
          <a:xfrm>
            <a:off x="6492240" y="1874520"/>
            <a:ext cx="49651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Adding WHERE must not raise the planner's row estimate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Reported as performance, apart from wrong results; 58 checks, 0 violations</a:t>
            </a:r>
            <a:endParaRPr lang="en-US" sz="1700" dirty="0"/>
          </a:p>
        </p:txBody>
      </p:sp>
      <p:sp>
        <p:nvSpPr>
          <p:cNvPr id="10" name="card-60"/>
          <p:cNvSpPr/>
          <p:nvPr/>
        </p:nvSpPr>
        <p:spPr>
          <a:xfrm>
            <a:off x="6309360" y="3794760"/>
            <a:ext cx="533095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card-head-61"/>
          <p:cNvSpPr txBox="1"/>
          <p:nvPr/>
        </p:nvSpPr>
        <p:spPr>
          <a:xfrm>
            <a:off x="6492240" y="3904488"/>
            <a:ext cx="4965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Cross-version</a:t>
            </a:r>
            <a:endParaRPr lang="en-US" sz="1800" dirty="0"/>
          </a:p>
        </p:txBody>
      </p:sp>
      <p:sp>
        <p:nvSpPr>
          <p:cNvPr id="12" name="text-62"/>
          <p:cNvSpPr txBox="1"/>
          <p:nvPr/>
        </p:nvSpPr>
        <p:spPr>
          <a:xfrm>
            <a:off x="6492240" y="4343400"/>
            <a:ext cx="49651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1,155 comparisons, 0 mismatches after fixing clock data and excluding intended changes (corr on master).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Triage: from a failure to an upstream report</a:t>
            </a:r>
            <a:endParaRPr lang="en-US" sz="3200" dirty="0"/>
          </a:p>
        </p:txBody>
      </p:sp>
      <p:sp>
        <p:nvSpPr>
          <p:cNvPr id="4" name="step-63"/>
          <p:cNvSpPr/>
          <p:nvPr/>
        </p:nvSpPr>
        <p:spPr>
          <a:xfrm>
            <a:off x="548640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tep-text-64"/>
          <p:cNvSpPr txBox="1"/>
          <p:nvPr/>
        </p:nvSpPr>
        <p:spPr>
          <a:xfrm>
            <a:off x="548640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Reproduce ×3</a:t>
            </a:r>
            <a:endParaRPr lang="en-US" sz="1400" dirty="0"/>
          </a:p>
        </p:txBody>
      </p:sp>
      <p:sp>
        <p:nvSpPr>
          <p:cNvPr id="6" name="arrow-65"/>
          <p:cNvSpPr/>
          <p:nvPr/>
        </p:nvSpPr>
        <p:spPr>
          <a:xfrm>
            <a:off x="2176272" y="1760220"/>
            <a:ext cx="243779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tep-66"/>
          <p:cNvSpPr/>
          <p:nvPr/>
        </p:nvSpPr>
        <p:spPr>
          <a:xfrm>
            <a:off x="2447483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tep-text-67"/>
          <p:cNvSpPr txBox="1"/>
          <p:nvPr/>
        </p:nvSpPr>
        <p:spPr>
          <a:xfrm>
            <a:off x="2447483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Tree reduction</a:t>
            </a:r>
            <a:endParaRPr lang="en-US" sz="1400" dirty="0"/>
          </a:p>
        </p:txBody>
      </p:sp>
      <p:sp>
        <p:nvSpPr>
          <p:cNvPr id="9" name="arrow-68"/>
          <p:cNvSpPr/>
          <p:nvPr/>
        </p:nvSpPr>
        <p:spPr>
          <a:xfrm>
            <a:off x="4075115" y="1760220"/>
            <a:ext cx="243779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step-69"/>
          <p:cNvSpPr/>
          <p:nvPr/>
        </p:nvSpPr>
        <p:spPr>
          <a:xfrm>
            <a:off x="4346326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-text-70"/>
          <p:cNvSpPr txBox="1"/>
          <p:nvPr/>
        </p:nvSpPr>
        <p:spPr>
          <a:xfrm>
            <a:off x="4346326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Statement ddmin</a:t>
            </a:r>
            <a:endParaRPr lang="en-US" sz="1400" dirty="0"/>
          </a:p>
        </p:txBody>
      </p:sp>
      <p:sp>
        <p:nvSpPr>
          <p:cNvPr id="12" name="arrow-71"/>
          <p:cNvSpPr/>
          <p:nvPr/>
        </p:nvSpPr>
        <p:spPr>
          <a:xfrm>
            <a:off x="5973958" y="1760220"/>
            <a:ext cx="243779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step-72"/>
          <p:cNvSpPr/>
          <p:nvPr/>
        </p:nvSpPr>
        <p:spPr>
          <a:xfrm>
            <a:off x="6245169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tep-text-73"/>
          <p:cNvSpPr txBox="1"/>
          <p:nvPr/>
        </p:nvSpPr>
        <p:spPr>
          <a:xfrm>
            <a:off x="6245169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 HDD (pairs)</a:t>
            </a:r>
            <a:endParaRPr lang="en-US" sz="1400" dirty="0"/>
          </a:p>
        </p:txBody>
      </p:sp>
      <p:sp>
        <p:nvSpPr>
          <p:cNvPr id="15" name="arrow-74"/>
          <p:cNvSpPr/>
          <p:nvPr/>
        </p:nvSpPr>
        <p:spPr>
          <a:xfrm>
            <a:off x="7872801" y="1760220"/>
            <a:ext cx="243779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step-75"/>
          <p:cNvSpPr/>
          <p:nvPr/>
        </p:nvSpPr>
        <p:spPr>
          <a:xfrm>
            <a:off x="8144012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tep-text-76"/>
          <p:cNvSpPr txBox="1"/>
          <p:nvPr/>
        </p:nvSpPr>
        <p:spPr>
          <a:xfrm>
            <a:off x="8144012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Localize (all variants)</a:t>
            </a:r>
            <a:endParaRPr lang="en-US" sz="1400" dirty="0"/>
          </a:p>
        </p:txBody>
      </p:sp>
      <p:sp>
        <p:nvSpPr>
          <p:cNvPr id="18" name="arrow-77"/>
          <p:cNvSpPr/>
          <p:nvPr/>
        </p:nvSpPr>
        <p:spPr>
          <a:xfrm>
            <a:off x="9771644" y="1760220"/>
            <a:ext cx="243779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step-78"/>
          <p:cNvSpPr/>
          <p:nvPr/>
        </p:nvSpPr>
        <p:spPr>
          <a:xfrm>
            <a:off x="10042855" y="13716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step-text-79"/>
          <p:cNvSpPr txBox="1"/>
          <p:nvPr/>
        </p:nvSpPr>
        <p:spPr>
          <a:xfrm>
            <a:off x="10042855" y="137160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Report + upstream draft</a:t>
            </a:r>
            <a:endParaRPr lang="en-US" sz="1400" dirty="0"/>
          </a:p>
        </p:txBody>
      </p:sp>
      <p:graphicFrame>
        <p:nvGraphicFramePr>
          <p:cNvPr id="13" name="table-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56692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BUG-01 case (590 tokens)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Tokens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Server runs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Token reduction only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406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Tree first, then tokens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79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555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-81"/>
          <p:cNvSpPr txBox="1"/>
          <p:nvPr/>
        </p:nvSpPr>
        <p:spPr>
          <a:xfrm>
            <a:off x="548640" y="420624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Localization: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BUG-02 → "not toggled by planner settings" → a support function, which is the real cause.</a:t>
            </a:r>
            <a:endParaRPr lang="en-US" sz="1800" dirty="0"/>
          </a:p>
        </p:txBody>
      </p:sp>
      <p:sp>
        <p:nvSpPr>
          <p:cNvPr id="23" name="placeholder-82"/>
          <p:cNvSpPr/>
          <p:nvPr/>
        </p:nvSpPr>
        <p:spPr>
          <a:xfrm>
            <a:off x="6583680" y="2606040"/>
            <a:ext cx="5056632" cy="3474720"/>
          </a:xfrm>
          <a:prstGeom prst="roundRect">
            <a:avLst>
              <a:gd name="adj" fmla="val 1579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24" name="placeholder-text-83"/>
          <p:cNvSpPr txBox="1"/>
          <p:nvPr/>
        </p:nvSpPr>
        <p:spPr>
          <a:xfrm>
            <a:off x="6766560" y="2606040"/>
            <a:ext cx="4690872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Screenshot: pgfuzz triage output and the generated upstream_report.txt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results/triage/&lt;signature&gt;/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LLM arm: the LLM proposes, the server decides</a:t>
            </a:r>
            <a:endParaRPr lang="en-US" sz="3200" dirty="0"/>
          </a:p>
        </p:txBody>
      </p:sp>
      <p:sp>
        <p:nvSpPr>
          <p:cNvPr id="4" name="bullets-84"/>
          <p:cNvSpPr txBox="1"/>
          <p:nvPr/>
        </p:nvSpPr>
        <p:spPr>
          <a:xfrm>
            <a:off x="548640" y="132588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Mine master commits (planner, executor, parser), excluding the 23 benchmark fixes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Cached 9k-token prompt + commit digest → fragment, seeds, rewrites (JSON schema)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Gate: parses · derivable (≥5 uses) · ≥60% valid on the server · seeds run · diff coverage up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tx1"/>
                </a:solidFill>
              </a:rPr>
              <a:t>Repair rounds with the server's errors (max 3); ledger of tokens and cost</a:t>
            </a:r>
            <a:endParaRPr lang="en-US" sz="1800" dirty="0"/>
          </a:p>
        </p:txBody>
      </p:sp>
      <p:sp>
        <p:nvSpPr>
          <p:cNvPr id="5" name="text-85"/>
          <p:cNvSpPr txBox="1"/>
          <p:nvPr/>
        </p:nvSpPr>
        <p:spPr>
          <a:xfrm>
            <a:off x="548640" y="5120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API or manual mode; stored responses replay for free.</a:t>
            </a:r>
            <a:endParaRPr lang="en-US" sz="1600" dirty="0"/>
          </a:p>
        </p:txBody>
      </p:sp>
      <p:sp>
        <p:nvSpPr>
          <p:cNvPr id="6" name="text-86"/>
          <p:cNvSpPr txBox="1"/>
          <p:nvPr/>
        </p:nvSpPr>
        <p:spPr>
          <a:xfrm>
            <a:off x="5943600" y="1325880"/>
            <a:ext cx="56967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Rewrite gate: value probe + 150 live test cases</a:t>
            </a:r>
            <a:endParaRPr lang="en-US" sz="1600" dirty="0"/>
          </a:p>
        </p:txBody>
      </p:sp>
      <p:graphicFrame>
        <p:nvGraphicFramePr>
          <p:cNvPr id="14" name="table-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83080"/>
          <a:ext cx="5696712" cy="914400"/>
        </p:xfrm>
        <a:graphic>
          <a:graphicData uri="http://schemas.openxmlformats.org/drawingml/2006/table">
            <a:tbl>
              <a:tblPr/>
              <a:tblGrid>
                <a:gridCol w="3410712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Proposed rewrite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CASE WHEN e IS NULL THEN NULL ELSE e END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accepted, 90/90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substr(e, 1)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accepted, 88/88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+ 1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rejected: 12 mismatches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IS TRUE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</a:rPr>
                        <a:t>rejected: probe at NULL</a:t>
                      </a:r>
                      <a:endParaRPr lang="en-US" sz="15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-88"/>
          <p:cNvSpPr txBox="1"/>
          <p:nvPr/>
        </p:nvSpPr>
        <p:spPr>
          <a:xfrm>
            <a:off x="5943600" y="4526280"/>
            <a:ext cx="569671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 IS TRUE passed 109 sampled checks: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sampling is not proof.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Evaluation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RQ3 benchmark: 23 real bugs put back into PostgreSQL</a:t>
            </a:r>
            <a:endParaRPr lang="en-US" sz="3200" dirty="0"/>
          </a:p>
        </p:txBody>
      </p:sp>
      <p:sp>
        <p:nvSpPr>
          <p:cNvPr id="4" name="bullets-89"/>
          <p:cNvSpPr txBox="1"/>
          <p:nvPr/>
        </p:nvSpPr>
        <p:spPr>
          <a:xfrm>
            <a:off x="548640" y="132588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Fixes from 31 Jul–16 Oct 2026 with regression tests, reverted on base 26bd08fb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Servers: fixed, solo (one bug each), injected (all 23)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bench verify: symptom = the fixed vs solo difference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bench attribute: replay each finding on every solo server</a:t>
            </a:r>
            <a:endParaRPr lang="en-US" sz="1800" dirty="0"/>
          </a:p>
        </p:txBody>
      </p:sp>
      <p:sp>
        <p:nvSpPr>
          <p:cNvPr id="5" name="stat-90"/>
          <p:cNvSpPr txBox="1"/>
          <p:nvPr/>
        </p:nvSpPr>
        <p:spPr>
          <a:xfrm>
            <a:off x="548640" y="43434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20 / 23 observable</a:t>
            </a:r>
            <a:endParaRPr lang="en-US" sz="4400" dirty="0"/>
          </a:p>
        </p:txBody>
      </p:sp>
      <p:sp>
        <p:nvSpPr>
          <p:cNvPr id="6" name="stat-label-91"/>
          <p:cNvSpPr txBox="1"/>
          <p:nvPr/>
        </p:nvSpPr>
        <p:spPr>
          <a:xfrm>
            <a:off x="548640" y="5166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only 9 of them visible to a crash-only fuzzer</a:t>
            </a:r>
            <a:endParaRPr lang="en-US" sz="1500" dirty="0"/>
          </a:p>
        </p:txBody>
      </p:sp>
      <p:graphicFrame>
        <p:nvGraphicFramePr>
          <p:cNvPr id="16" name="table-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663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99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Symptom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Bugs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wrong result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internal error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assertion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missing / wrong error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observable (excluded)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placeholder-93"/>
          <p:cNvSpPr/>
          <p:nvPr/>
        </p:nvSpPr>
        <p:spPr>
          <a:xfrm>
            <a:off x="6583680" y="3794760"/>
            <a:ext cx="5056632" cy="2286000"/>
          </a:xfrm>
          <a:prstGeom prst="roundRect">
            <a:avLst>
              <a:gd name="adj" fmla="val 2400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9" name="placeholder-text-94"/>
          <p:cNvSpPr txBox="1"/>
          <p:nvPr/>
        </p:nvSpPr>
        <p:spPr>
          <a:xfrm>
            <a:off x="6766560" y="3794760"/>
            <a:ext cx="46908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Screenshot: bench verify table (fixed / solo / injected per bug)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src/bench/reinjected/verify.json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Smoke run 2: 15 min per arm on the injected server</a:t>
            </a:r>
            <a:endParaRPr lang="en-US" sz="3200" dirty="0"/>
          </a:p>
        </p:txBody>
      </p:sp>
      <p:graphicFrame>
        <p:nvGraphicFramePr>
          <p:cNvPr id="17" name="table-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54480"/>
                <a:gridCol w="1371600"/>
                <a:gridCol w="1371600"/>
                <a:gridCol w="1645920"/>
                <a:gridCol w="2039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Arm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Test cases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Valid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Features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Plan shapes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Bench bugs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Random/Mutation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174,104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26.3%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Grammar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16,841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99.6%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5,416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Grammar+Oracles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15,861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99.7%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5,968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1 (158 s)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+LLM (no fragments yet)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15,800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99.7%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5,937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1 (160 s)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bullets-96"/>
          <p:cNvSpPr txBox="1"/>
          <p:nvPr/>
        </p:nvSpPr>
        <p:spPr>
          <a:xfrm>
            <a:off x="548640" y="393192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10× more test cases do not buy reach: the random arm reaches 17 features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rb-dfcf6fa7 found only with oracles + plan guidance; replay attribution separated it from a bug with the same message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One trial each: the pipeline works end to end; this is not a significant difference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Component checks on master (single runs)</a:t>
            </a:r>
            <a:endParaRPr lang="en-US" sz="3200" dirty="0"/>
          </a:p>
        </p:txBody>
      </p:sp>
      <p:graphicFrame>
        <p:nvGraphicFramePr>
          <p:cNvPr id="18" name="table-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5255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Component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2"/>
                          </a:solidFill>
                        </a:rPr>
                        <a:t>Measured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Metamorphic oracles (first run)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907 checks, 0 false positives; BUG-02 in the first 150 test cases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New rewrite kinds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798 checks, 0 false positives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Full system, 3 min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3,166 test cases, 99.5% valid, 1,991 checks, 7,956 variant runs, 0 FP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Bandit weights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533 vs 419 plan shapes per 1,000 test cases, same validity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Data profile (@dlit)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selective predicates (5–95% of rows): 29.3% → 58.6%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Tree replay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599 / 600 stored trees replay to identical SQL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Token reduction (BUG-02)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 statements / 107 tokens → 1 / 36 in 307 runs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LLM fragment gate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valid fragment 251/251 accepted; invalid one rejected with the server's message</a:t>
                      </a:r>
                      <a:endParaRPr lang="en-US" sz="17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Precision ledger (RQ2, claim 2)</a:t>
            </a:r>
            <a:endParaRPr lang="en-US" sz="3200" dirty="0"/>
          </a:p>
        </p:txBody>
      </p:sp>
      <p:graphicFrame>
        <p:nvGraphicFramePr>
          <p:cNvPr id="19" name="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"/>
                <a:gridCol w="868680"/>
                <a:gridCol w="86868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Oracle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Cand.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Real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FP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After fixes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assertion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cross-version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internal error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mm: expr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mm: tlp_having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plan-variant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6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-99"/>
          <p:cNvSpPr txBox="1"/>
          <p:nvPr/>
        </p:nvSpPr>
        <p:spPr>
          <a:xfrm>
            <a:off x="548640" y="49377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flaky. Raw precision 0.19, logged on purpose.</a:t>
            </a:r>
            <a:endParaRPr lang="en-US" sz="1300" dirty="0"/>
          </a:p>
        </p:txBody>
      </p:sp>
      <p:sp>
        <p:nvSpPr>
          <p:cNvPr id="6" name="card-100"/>
          <p:cNvSpPr/>
          <p:nvPr/>
        </p:nvSpPr>
        <p:spPr>
          <a:xfrm>
            <a:off x="6766560" y="1325880"/>
            <a:ext cx="4873752" cy="4023360"/>
          </a:xfrm>
          <a:prstGeom prst="roundRect">
            <a:avLst>
              <a:gd name="adj" fmla="val 18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card-head-101"/>
          <p:cNvSpPr txBox="1"/>
          <p:nvPr/>
        </p:nvSpPr>
        <p:spPr>
          <a:xfrm>
            <a:off x="6949440" y="1435608"/>
            <a:ext cx="4507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 false-positive classes, all fixed + tested</a:t>
            </a:r>
            <a:endParaRPr lang="en-US" sz="1800" dirty="0"/>
          </a:p>
        </p:txBody>
      </p:sp>
      <p:sp>
        <p:nvSpPr>
          <p:cNvPr id="8" name="bullets-102"/>
          <p:cNvSpPr txBox="1"/>
          <p:nvPr/>
        </p:nvSpPr>
        <p:spPr>
          <a:xfrm>
            <a:off x="6949440" y="1874520"/>
            <a:ext cx="450799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ARRAY(SELECT) without ORDER BY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TLP-HAVING without GROUP BY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numeric scale under DISTINCT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clock in seed data across versions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our PoC replay crashed a shared server → PID check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intended corr change on master</a:t>
            </a:r>
            <a:endParaRPr lang="en-US" sz="1700" dirty="0"/>
          </a:p>
        </p:txBody>
      </p:sp>
      <p:sp>
        <p:nvSpPr>
          <p:cNvPr id="9" name="text-103"/>
          <p:cNvSpPr txBox="1"/>
          <p:nvPr/>
        </p:nvSpPr>
        <p:spPr>
          <a:xfrm>
            <a:off x="6766560" y="5486400"/>
            <a:ext cx="487375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Lesson: </a:t>
            </a:r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oracle precision, not generator power, is the bottleneck.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Bugs found</a:t>
            </a:r>
            <a:endParaRPr lang="en-US" sz="3200" dirty="0"/>
          </a:p>
        </p:txBody>
      </p:sp>
      <p:sp>
        <p:nvSpPr>
          <p:cNvPr id="4" name="card-104"/>
          <p:cNvSpPr/>
          <p:nvPr/>
        </p:nvSpPr>
        <p:spPr>
          <a:xfrm>
            <a:off x="548640" y="1325880"/>
            <a:ext cx="5440680" cy="3246120"/>
          </a:xfrm>
          <a:prstGeom prst="roundRect">
            <a:avLst>
              <a:gd name="adj" fmla="val 22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card-head-105"/>
          <p:cNvSpPr txBox="1"/>
          <p:nvPr/>
        </p:nvSpPr>
        <p:spPr>
          <a:xfrm>
            <a:off x="731520" y="1435608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BUG-01: JSON_TABLE collations</a:t>
            </a:r>
            <a:endParaRPr lang="en-US" sz="1800" dirty="0"/>
          </a:p>
        </p:txBody>
      </p:sp>
      <p:sp>
        <p:nvSpPr>
          <p:cNvPr id="6" name="bullets-106"/>
          <p:cNvSpPr txBox="1"/>
          <p:nvPr/>
        </p:nvSpPr>
        <p:spPr>
          <a:xfrm>
            <a:off x="731520" y="1874520"/>
            <a:ext cx="50749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Found by the grammar campaign (assertion, execExpr.c:2078)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18.6: ROW(1,2) &lt; ROW(3,4) in the context item returns false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assign_expr_collations() in parse_jsontable.c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One-line patch + regression tests; affects 17, 18, master</a:t>
            </a:r>
            <a:endParaRPr lang="en-US" sz="1700" dirty="0"/>
          </a:p>
        </p:txBody>
      </p:sp>
      <p:sp>
        <p:nvSpPr>
          <p:cNvPr id="7" name="card-107"/>
          <p:cNvSpPr/>
          <p:nvPr/>
        </p:nvSpPr>
        <p:spPr>
          <a:xfrm>
            <a:off x="6199632" y="1325880"/>
            <a:ext cx="5440680" cy="3246120"/>
          </a:xfrm>
          <a:prstGeom prst="roundRect">
            <a:avLst>
              <a:gd name="adj" fmla="val 22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card-head-108"/>
          <p:cNvSpPr txBox="1"/>
          <p:nvPr/>
        </p:nvSpPr>
        <p:spPr>
          <a:xfrm>
            <a:off x="6382512" y="1435608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BUG-02: range containment with NULL</a:t>
            </a:r>
            <a:endParaRPr lang="en-US" sz="1800" dirty="0"/>
          </a:p>
        </p:txBody>
      </p:sp>
      <p:sp>
        <p:nvSpPr>
          <p:cNvPr id="9" name="bullets-109"/>
          <p:cNvSpPr txBox="1"/>
          <p:nvPr/>
        </p:nvSpPr>
        <p:spPr>
          <a:xfrm>
            <a:off x="6382512" y="1874520"/>
            <a:ext cx="50749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Found by the expr:scalar_sub rewrite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find_simplified_clause() folds the call to a constant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Patch: simplify only if the element is provably non-null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make check passes; affects 17, 18, master</a:t>
            </a:r>
            <a:endParaRPr lang="en-US" sz="1700" dirty="0"/>
          </a:p>
        </p:txBody>
      </p:sp>
      <p:sp>
        <p:nvSpPr>
          <p:cNvPr id="10" name="placeholder-110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4000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11" name="placeholder-text-111"/>
          <p:cNvSpPr txBox="1"/>
          <p:nvPr/>
        </p:nvSpPr>
        <p:spPr>
          <a:xfrm>
            <a:off x="731520" y="47548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Upstream status: pgsql-bugs numbers and thread links for BUG-01 and BUG-02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postgresql.org/list/pgsql-bugs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Experiment design (RQ1–RQ4)</a:t>
            </a:r>
            <a:endParaRPr lang="en-US" sz="3200" dirty="0"/>
          </a:p>
        </p:txBody>
      </p:sp>
      <p:sp>
        <p:nvSpPr>
          <p:cNvPr id="4" name="card-112"/>
          <p:cNvSpPr/>
          <p:nvPr/>
        </p:nvSpPr>
        <p:spPr>
          <a:xfrm>
            <a:off x="548640" y="1325880"/>
            <a:ext cx="2567864" cy="18288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card-head-113"/>
          <p:cNvSpPr txBox="1"/>
          <p:nvPr/>
        </p:nvSpPr>
        <p:spPr>
          <a:xfrm>
            <a:off x="731520" y="143560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RQ1 reach</a:t>
            </a:r>
            <a:endParaRPr lang="en-US" sz="1800" dirty="0"/>
          </a:p>
        </p:txBody>
      </p:sp>
      <p:sp>
        <p:nvSpPr>
          <p:cNvPr id="6" name="text-114"/>
          <p:cNvSpPr txBox="1"/>
          <p:nvPr/>
        </p:nvSpPr>
        <p:spPr>
          <a:xfrm>
            <a:off x="731520" y="1874520"/>
            <a:ext cx="22021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validity, line/branch coverage, features, plan shapes</a:t>
            </a:r>
            <a:endParaRPr lang="en-US" sz="1600" dirty="0"/>
          </a:p>
        </p:txBody>
      </p:sp>
      <p:sp>
        <p:nvSpPr>
          <p:cNvPr id="7" name="card-115"/>
          <p:cNvSpPr/>
          <p:nvPr/>
        </p:nvSpPr>
        <p:spPr>
          <a:xfrm>
            <a:off x="3390824" y="1325880"/>
            <a:ext cx="2567864" cy="18288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card-head-116"/>
          <p:cNvSpPr txBox="1"/>
          <p:nvPr/>
        </p:nvSpPr>
        <p:spPr>
          <a:xfrm>
            <a:off x="3573704" y="143560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RQ2 bugs</a:t>
            </a:r>
            <a:endParaRPr lang="en-US" sz="1800" dirty="0"/>
          </a:p>
        </p:txBody>
      </p:sp>
      <p:sp>
        <p:nvSpPr>
          <p:cNvPr id="9" name="text-117"/>
          <p:cNvSpPr txBox="1"/>
          <p:nvPr/>
        </p:nvSpPr>
        <p:spPr>
          <a:xfrm>
            <a:off x="3573704" y="1874520"/>
            <a:ext cx="22021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bugs found and per-oracle precision</a:t>
            </a:r>
            <a:endParaRPr lang="en-US" sz="1600" dirty="0"/>
          </a:p>
        </p:txBody>
      </p:sp>
      <p:sp>
        <p:nvSpPr>
          <p:cNvPr id="10" name="card-118"/>
          <p:cNvSpPr/>
          <p:nvPr/>
        </p:nvSpPr>
        <p:spPr>
          <a:xfrm>
            <a:off x="6233008" y="1325880"/>
            <a:ext cx="2567864" cy="18288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card-head-119"/>
          <p:cNvSpPr txBox="1"/>
          <p:nvPr/>
        </p:nvSpPr>
        <p:spPr>
          <a:xfrm>
            <a:off x="6415888" y="143560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RQ3 ground truth</a:t>
            </a:r>
            <a:endParaRPr lang="en-US" sz="1800" dirty="0"/>
          </a:p>
        </p:txBody>
      </p:sp>
      <p:sp>
        <p:nvSpPr>
          <p:cNvPr id="12" name="text-120"/>
          <p:cNvSpPr txBox="1"/>
          <p:nvPr/>
        </p:nvSpPr>
        <p:spPr>
          <a:xfrm>
            <a:off x="6415888" y="1874520"/>
            <a:ext cx="22021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re-injected bugs found, time to find</a:t>
            </a:r>
            <a:endParaRPr lang="en-US" sz="1600" dirty="0"/>
          </a:p>
        </p:txBody>
      </p:sp>
      <p:sp>
        <p:nvSpPr>
          <p:cNvPr id="13" name="card-121"/>
          <p:cNvSpPr/>
          <p:nvPr/>
        </p:nvSpPr>
        <p:spPr>
          <a:xfrm>
            <a:off x="9075191" y="1325880"/>
            <a:ext cx="2567864" cy="18288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card-head-122"/>
          <p:cNvSpPr txBox="1"/>
          <p:nvPr/>
        </p:nvSpPr>
        <p:spPr>
          <a:xfrm>
            <a:off x="9258071" y="1435608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RQ4 LLM</a:t>
            </a:r>
            <a:endParaRPr lang="en-US" sz="1800" dirty="0"/>
          </a:p>
        </p:txBody>
      </p:sp>
      <p:sp>
        <p:nvSpPr>
          <p:cNvPr id="15" name="text-123"/>
          <p:cNvSpPr txBox="1"/>
          <p:nvPr/>
        </p:nvSpPr>
        <p:spPr>
          <a:xfrm>
            <a:off x="9258071" y="1874520"/>
            <a:ext cx="22021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what fragments add (diff coverage, ablation) and what they cost</a:t>
            </a:r>
            <a:endParaRPr lang="en-US" sz="1600" dirty="0"/>
          </a:p>
        </p:txBody>
      </p:sp>
      <p:sp>
        <p:nvSpPr>
          <p:cNvPr id="16" name="bullets-124"/>
          <p:cNvSpPr txBox="1"/>
          <p:nvPr/>
        </p:nvSpPr>
        <p:spPr>
          <a:xfrm>
            <a:off x="548640" y="3429000"/>
            <a:ext cx="110944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RQ1: 7 arms (incl. no-bandit and LLM ablations) × 5 trials × 1 h on a gcov build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RQ3: 4 arms × 5 trials × 1 h, injected server + 18.6 reference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Paired seeds, same oracles and budget; one commit (26bd08fb) for everything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Statistics: medians, IQR, bootstrap 95% CI, Mann–Whitney U, Vargha–Delaney Â12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RQ1 results (to fill after the campaign)</a:t>
            </a:r>
            <a:endParaRPr lang="en-US" sz="3200" dirty="0"/>
          </a:p>
        </p:txBody>
      </p:sp>
      <p:sp>
        <p:nvSpPr>
          <p:cNvPr id="4" name="placeholder-125"/>
          <p:cNvSpPr/>
          <p:nvPr/>
        </p:nvSpPr>
        <p:spPr>
          <a:xfrm>
            <a:off x="548640" y="1325880"/>
            <a:ext cx="5394960" cy="4754880"/>
          </a:xfrm>
          <a:prstGeom prst="roundRect">
            <a:avLst>
              <a:gd name="adj" fmla="val 1154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5" name="placeholder-text-126"/>
          <p:cNvSpPr txBox="1"/>
          <p:nvPr/>
        </p:nvSpPr>
        <p:spPr>
          <a:xfrm>
            <a:off x="731520" y="1325880"/>
            <a:ext cx="502920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Plot: backend line coverage over time, median and IQR band per arm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pgfuzz report ../results/rq1 → plots/</a:t>
            </a:r>
            <a:endParaRPr lang="en-US" sz="1600" dirty="0"/>
          </a:p>
        </p:txBody>
      </p:sp>
      <p:sp>
        <p:nvSpPr>
          <p:cNvPr id="6" name="placeholder-127"/>
          <p:cNvSpPr/>
          <p:nvPr/>
        </p:nvSpPr>
        <p:spPr>
          <a:xfrm>
            <a:off x="6245352" y="1325880"/>
            <a:ext cx="5394960" cy="4754880"/>
          </a:xfrm>
          <a:prstGeom prst="roundRect">
            <a:avLst>
              <a:gd name="adj" fmla="val 1154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7" name="placeholder-text-128"/>
          <p:cNvSpPr txBox="1"/>
          <p:nvPr/>
        </p:nvSpPr>
        <p:spPr>
          <a:xfrm>
            <a:off x="6428232" y="1325880"/>
            <a:ext cx="502920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Table: validity, coverage, features, plan shapes per arm, with p and Â12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results/rq1/report.md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RQ3 and RQ4 results (to fill after the campaigns)</a:t>
            </a:r>
            <a:endParaRPr lang="en-US" sz="3200" dirty="0"/>
          </a:p>
        </p:txBody>
      </p:sp>
      <p:sp>
        <p:nvSpPr>
          <p:cNvPr id="4" name="placeholder-129"/>
          <p:cNvSpPr/>
          <p:nvPr/>
        </p:nvSpPr>
        <p:spPr>
          <a:xfrm>
            <a:off x="548640" y="1325880"/>
            <a:ext cx="5394960" cy="4754880"/>
          </a:xfrm>
          <a:prstGeom prst="roundRect">
            <a:avLst>
              <a:gd name="adj" fmla="val 1154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5" name="placeholder-text-130"/>
          <p:cNvSpPr txBox="1"/>
          <p:nvPr/>
        </p:nvSpPr>
        <p:spPr>
          <a:xfrm>
            <a:off x="731520" y="1325880"/>
            <a:ext cx="502920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Table: bugs found per arm (out of 20), time to first detection per bug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pgfuzz bench attribute → table_rq3.tex</a:t>
            </a:r>
            <a:endParaRPr lang="en-US" sz="1600" dirty="0"/>
          </a:p>
        </p:txBody>
      </p:sp>
      <p:sp>
        <p:nvSpPr>
          <p:cNvPr id="6" name="placeholder-131"/>
          <p:cNvSpPr/>
          <p:nvPr/>
        </p:nvSpPr>
        <p:spPr>
          <a:xfrm>
            <a:off x="6245352" y="1325880"/>
            <a:ext cx="5394960" cy="4754880"/>
          </a:xfrm>
          <a:prstGeom prst="roundRect">
            <a:avLst>
              <a:gd name="adj" fmla="val 1154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7" name="placeholder-text-132"/>
          <p:cNvSpPr txBox="1"/>
          <p:nvPr/>
        </p:nvSpPr>
        <p:spPr>
          <a:xfrm>
            <a:off x="6428232" y="1325880"/>
            <a:ext cx="502920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LLM ledger: fragments accepted / rejected, repair rounds, diff coverage with and without, tokens and $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pgfuzz llm 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Plan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Timeline to the deadline</a:t>
            </a:r>
            <a:endParaRPr lang="en-US" sz="3200" dirty="0"/>
          </a:p>
        </p:txBody>
      </p:sp>
      <p:sp>
        <p:nvSpPr>
          <p:cNvPr id="4" name="timeline-line"/>
          <p:cNvSpPr/>
          <p:nvPr/>
        </p:nvSpPr>
        <p:spPr>
          <a:xfrm>
            <a:off x="1188720" y="2834640"/>
            <a:ext cx="978408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5" name="milestone-133"/>
          <p:cNvSpPr/>
          <p:nvPr/>
        </p:nvSpPr>
        <p:spPr>
          <a:xfrm>
            <a:off x="1060704" y="2706624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ilestone-date-134"/>
          <p:cNvSpPr txBox="1"/>
          <p:nvPr/>
        </p:nvSpPr>
        <p:spPr>
          <a:xfrm>
            <a:off x="274320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24–26 Oct</a:t>
            </a:r>
            <a:endParaRPr lang="en-US" sz="1600" dirty="0"/>
          </a:p>
        </p:txBody>
      </p:sp>
      <p:sp>
        <p:nvSpPr>
          <p:cNvPr id="7" name="milestone-label-135"/>
          <p:cNvSpPr txBox="1"/>
          <p:nvPr/>
        </p:nvSpPr>
        <p:spPr>
          <a:xfrm>
            <a:off x="274320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LLM extension</a:t>
            </a:r>
            <a:endParaRPr lang="en-US" sz="1400" dirty="0"/>
          </a:p>
        </p:txBody>
      </p:sp>
      <p:sp>
        <p:nvSpPr>
          <p:cNvPr id="8" name="milestone-136"/>
          <p:cNvSpPr/>
          <p:nvPr/>
        </p:nvSpPr>
        <p:spPr>
          <a:xfrm>
            <a:off x="3017520" y="2706624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milestone-date-137"/>
          <p:cNvSpPr txBox="1"/>
          <p:nvPr/>
        </p:nvSpPr>
        <p:spPr>
          <a:xfrm>
            <a:off x="2231136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26–27 Oct</a:t>
            </a:r>
            <a:endParaRPr lang="en-US" sz="1600" dirty="0"/>
          </a:p>
        </p:txBody>
      </p:sp>
      <p:sp>
        <p:nvSpPr>
          <p:cNvPr id="10" name="milestone-label-138"/>
          <p:cNvSpPr txBox="1"/>
          <p:nvPr/>
        </p:nvSpPr>
        <p:spPr>
          <a:xfrm>
            <a:off x="2231136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RQ3 campaign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overnight</a:t>
            </a:r>
            <a:endParaRPr lang="en-US" sz="1400" dirty="0"/>
          </a:p>
        </p:txBody>
      </p:sp>
      <p:sp>
        <p:nvSpPr>
          <p:cNvPr id="11" name="milestone-139"/>
          <p:cNvSpPr/>
          <p:nvPr/>
        </p:nvSpPr>
        <p:spPr>
          <a:xfrm>
            <a:off x="4974336" y="2706624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milestone-date-140"/>
          <p:cNvSpPr txBox="1"/>
          <p:nvPr/>
        </p:nvSpPr>
        <p:spPr>
          <a:xfrm>
            <a:off x="4187952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27–28 Oct</a:t>
            </a:r>
            <a:endParaRPr lang="en-US" sz="1600" dirty="0"/>
          </a:p>
        </p:txBody>
      </p:sp>
      <p:sp>
        <p:nvSpPr>
          <p:cNvPr id="13" name="milestone-label-141"/>
          <p:cNvSpPr txBox="1"/>
          <p:nvPr/>
        </p:nvSpPr>
        <p:spPr>
          <a:xfrm>
            <a:off x="4187952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RQ1/2/4 campaign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overnight</a:t>
            </a:r>
            <a:endParaRPr lang="en-US" sz="1400" dirty="0"/>
          </a:p>
        </p:txBody>
      </p:sp>
      <p:sp>
        <p:nvSpPr>
          <p:cNvPr id="14" name="milestone-142"/>
          <p:cNvSpPr/>
          <p:nvPr/>
        </p:nvSpPr>
        <p:spPr>
          <a:xfrm>
            <a:off x="6931152" y="2706624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milestone-date-143"/>
          <p:cNvSpPr txBox="1"/>
          <p:nvPr/>
        </p:nvSpPr>
        <p:spPr>
          <a:xfrm>
            <a:off x="6144768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28–30 Oct</a:t>
            </a:r>
            <a:endParaRPr lang="en-US" sz="1600" dirty="0"/>
          </a:p>
        </p:txBody>
      </p:sp>
      <p:sp>
        <p:nvSpPr>
          <p:cNvPr id="16" name="milestone-label-144"/>
          <p:cNvSpPr txBox="1"/>
          <p:nvPr/>
        </p:nvSpPr>
        <p:spPr>
          <a:xfrm>
            <a:off x="6144768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triage all;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file BUG-01/02</a:t>
            </a:r>
            <a:endParaRPr lang="en-US" sz="1400" dirty="0"/>
          </a:p>
        </p:txBody>
      </p:sp>
      <p:sp>
        <p:nvSpPr>
          <p:cNvPr id="17" name="milestone-145"/>
          <p:cNvSpPr/>
          <p:nvPr/>
        </p:nvSpPr>
        <p:spPr>
          <a:xfrm>
            <a:off x="8887968" y="270662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milestone-date-146"/>
          <p:cNvSpPr txBox="1"/>
          <p:nvPr/>
        </p:nvSpPr>
        <p:spPr>
          <a:xfrm>
            <a:off x="8101584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2–6 Nov</a:t>
            </a:r>
            <a:endParaRPr lang="en-US" sz="1600" dirty="0"/>
          </a:p>
        </p:txBody>
      </p:sp>
      <p:sp>
        <p:nvSpPr>
          <p:cNvPr id="19" name="milestone-label-147"/>
          <p:cNvSpPr txBox="1"/>
          <p:nvPr/>
        </p:nvSpPr>
        <p:spPr>
          <a:xfrm>
            <a:off x="8101584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meeting 3: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RQ tables</a:t>
            </a:r>
            <a:endParaRPr lang="en-US" sz="1400" dirty="0"/>
          </a:p>
        </p:txBody>
      </p:sp>
      <p:sp>
        <p:nvSpPr>
          <p:cNvPr id="20" name="milestone-148"/>
          <p:cNvSpPr/>
          <p:nvPr/>
        </p:nvSpPr>
        <p:spPr>
          <a:xfrm>
            <a:off x="10844784" y="2706624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milestone-date-149"/>
          <p:cNvSpPr txBox="1"/>
          <p:nvPr/>
        </p:nvSpPr>
        <p:spPr>
          <a:xfrm>
            <a:off x="10058400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12 / 13 Nov</a:t>
            </a:r>
            <a:endParaRPr lang="en-US" sz="1600" dirty="0"/>
          </a:p>
        </p:txBody>
      </p:sp>
      <p:sp>
        <p:nvSpPr>
          <p:cNvPr id="22" name="milestone-label-150"/>
          <p:cNvSpPr txBox="1"/>
          <p:nvPr/>
        </p:nvSpPr>
        <p:spPr>
          <a:xfrm>
            <a:off x="10058400" y="31089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presentation 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paper + repo</a:t>
            </a:r>
            <a:endParaRPr lang="en-US" sz="1400" dirty="0"/>
          </a:p>
        </p:txBody>
      </p:sp>
      <p:sp>
        <p:nvSpPr>
          <p:cNvPr id="23" name="bullets-151"/>
          <p:cNvSpPr txBox="1"/>
          <p:nvPr/>
        </p:nvSpPr>
        <p:spPr>
          <a:xfrm>
            <a:off x="548640" y="448056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Exact commands and expected times in docs/EXECUTION_PLAN.md (phases 0–5, ≈16 h of machine time, ≈1.5 h of ours)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Campaigns resume if interrupted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Risks, and what we would like feedback on</a:t>
            </a:r>
            <a:endParaRPr lang="en-US" sz="3200" dirty="0"/>
          </a:p>
        </p:txBody>
      </p:sp>
      <p:sp>
        <p:nvSpPr>
          <p:cNvPr id="4" name="card-152"/>
          <p:cNvSpPr/>
          <p:nvPr/>
        </p:nvSpPr>
        <p:spPr>
          <a:xfrm>
            <a:off x="548640" y="1325880"/>
            <a:ext cx="5440680" cy="4754880"/>
          </a:xfrm>
          <a:prstGeom prst="roundRect">
            <a:avLst>
              <a:gd name="adj" fmla="val 153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card-head-153"/>
          <p:cNvSpPr txBox="1"/>
          <p:nvPr/>
        </p:nvSpPr>
        <p:spPr>
          <a:xfrm>
            <a:off x="731520" y="1435608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Risks and fallbacks</a:t>
            </a:r>
            <a:endParaRPr lang="en-US" sz="1800" dirty="0"/>
          </a:p>
        </p:txBody>
      </p:sp>
      <p:sp>
        <p:nvSpPr>
          <p:cNvPr id="6" name="bullets-154"/>
          <p:cNvSpPr txBox="1"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New false-positive classes in long runs → triage; they are RQ2 data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LLM API unavailable → manual mode, replayed responses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upstream reply by 13 Nov → report the filing, reproducer and patch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5 trials may not reach p &lt; 0.05 → effect sizes + CIs; more trials if time allows</a:t>
            </a:r>
            <a:endParaRPr lang="en-US" sz="1800" dirty="0"/>
          </a:p>
        </p:txBody>
      </p:sp>
      <p:sp>
        <p:nvSpPr>
          <p:cNvPr id="7" name="card-155"/>
          <p:cNvSpPr/>
          <p:nvPr/>
        </p:nvSpPr>
        <p:spPr>
          <a:xfrm>
            <a:off x="6199632" y="1325880"/>
            <a:ext cx="544068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ard-head-156"/>
          <p:cNvSpPr txBox="1"/>
          <p:nvPr/>
        </p:nvSpPr>
        <p:spPr>
          <a:xfrm>
            <a:off x="6382512" y="1435608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Questions for you</a:t>
            </a:r>
            <a:endParaRPr lang="en-US" sz="1800" dirty="0"/>
          </a:p>
        </p:txBody>
      </p:sp>
      <p:sp>
        <p:nvSpPr>
          <p:cNvPr id="9" name="bullets-157"/>
          <p:cNvSpPr txBox="1"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Is 5 trials × 1 h per arm acceptable, or should we cut arms for 10 trials?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Does a filed bug with a patch, under review by 13 Nov, count towards the top band?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paper is ≈1 page over 12: cut related work or the component checks?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Live demo (backup screenshots)</a:t>
            </a:r>
            <a:endParaRPr lang="en-US" sz="3200" dirty="0"/>
          </a:p>
        </p:txBody>
      </p:sp>
      <p:sp>
        <p:nvSpPr>
          <p:cNvPr id="4" name="placeholder-158"/>
          <p:cNvSpPr/>
          <p:nvPr/>
        </p:nvSpPr>
        <p:spPr>
          <a:xfrm>
            <a:off x="548640" y="1325880"/>
            <a:ext cx="3515258" cy="4754880"/>
          </a:xfrm>
          <a:prstGeom prst="roundRect">
            <a:avLst>
              <a:gd name="adj" fmla="val 1561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5" name="placeholder-text-159"/>
          <p:cNvSpPr txBox="1"/>
          <p:nvPr/>
        </p:nvSpPr>
        <p:spPr>
          <a:xfrm>
            <a:off x="731520" y="1325880"/>
            <a:ext cx="3149498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pgfuzz sample --execute: generated SQL and 99.5% validity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600" dirty="0"/>
          </a:p>
        </p:txBody>
      </p:sp>
      <p:sp>
        <p:nvSpPr>
          <p:cNvPr id="6" name="placeholder-160"/>
          <p:cNvSpPr/>
          <p:nvPr/>
        </p:nvSpPr>
        <p:spPr>
          <a:xfrm>
            <a:off x="4338218" y="1325880"/>
            <a:ext cx="3515258" cy="4754880"/>
          </a:xfrm>
          <a:prstGeom prst="roundRect">
            <a:avLst>
              <a:gd name="adj" fmla="val 1561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7" name="placeholder-text-161"/>
          <p:cNvSpPr txBox="1"/>
          <p:nvPr/>
        </p:nvSpPr>
        <p:spPr>
          <a:xfrm>
            <a:off x="4521098" y="1325880"/>
            <a:ext cx="3149498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pgfuzz triage: 590 → 79 tokens, report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docs/evidence/tree_reduction/</a:t>
            </a:r>
            <a:endParaRPr lang="en-US" sz="1600" dirty="0"/>
          </a:p>
        </p:txBody>
      </p:sp>
      <p:sp>
        <p:nvSpPr>
          <p:cNvPr id="8" name="placeholder-162"/>
          <p:cNvSpPr/>
          <p:nvPr/>
        </p:nvSpPr>
        <p:spPr>
          <a:xfrm>
            <a:off x="8127797" y="1325880"/>
            <a:ext cx="3515258" cy="4754880"/>
          </a:xfrm>
          <a:prstGeom prst="roundRect">
            <a:avLst>
              <a:gd name="adj" fmla="val 1561"/>
            </a:avLst>
          </a:prstGeom>
          <a:solidFill>
            <a:schemeClr val="accent4">
              <a:alpha val="7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9" name="placeholder-text-163"/>
          <p:cNvSpPr txBox="1"/>
          <p:nvPr/>
        </p:nvSpPr>
        <p:spPr>
          <a:xfrm>
            <a:off x="8310677" y="1325880"/>
            <a:ext cx="3149498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PLACEHOLDER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RQ3 smoke report: medians, Â12, time to first bug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docs/evidence/rq3_smoke2/report.md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you, questions?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github.com/v28k/cs5187-term-project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gfuzz meeting 2">
  <a:themeElements>
    <a:clrScheme name="pgfuzz meeting 2">
      <a:dk1>
        <a:srgbClr val="1A1A1A"/>
      </a:dk1>
      <a:lt1>
        <a:srgbClr val="FFFFFF"/>
      </a:lt1>
      <a:dk2>
        <a:srgbClr val="23373B"/>
      </a:dk2>
      <a:lt2>
        <a:srgbClr val="EEF2F4"/>
      </a:lt2>
      <a:accent1>
        <a:srgbClr val="1F5FAD"/>
      </a:accent1>
      <a:accent2>
        <a:srgbClr val="2E7D32"/>
      </a:accent2>
      <a:accent3>
        <a:srgbClr val="C62828"/>
      </a:accent3>
      <a:accent4>
        <a:srgbClr val="D9822B"/>
      </a:accent4>
      <a:accent5>
        <a:srgbClr val="5B7083"/>
      </a:accent5>
      <a:accent6>
        <a:srgbClr val="E6EEF8"/>
      </a:accent6>
      <a:hlink>
        <a:srgbClr val="1F5FAD"/>
      </a:hlink>
      <a:folHlink>
        <a:srgbClr val="5B7083"/>
      </a:folHlink>
    </a:clrScheme>
    <a:fontScheme name="pgfuzz meeting 2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LLM-Guided Grammar-Aware Fuzzing of PostgreSQL: progress meeting 2</dc:title>
  <dc:subject>PptxGenJS Presentation</dc:subject>
  <dc:creator>Venu, Bhuvan, Gowtham</dc:creator>
  <cp:lastModifiedBy>Venu, Bhuvan, Gowtham</cp:lastModifiedBy>
  <cp:revision>1</cp:revision>
  <dcterms:created xsi:type="dcterms:W3CDTF">2026-10-23T22:39:36Z</dcterms:created>
  <dcterms:modified xsi:type="dcterms:W3CDTF">2026-10-23T22:39:36Z</dcterms:modified>
</cp:coreProperties>
</file>