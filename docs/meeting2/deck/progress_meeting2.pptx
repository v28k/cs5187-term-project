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presented the question and a plan. Today we show that the plan was executed: the system is built, it found real PostgreSQL bugs, and the campaigns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of meeting 1. Our question: can a typed grammar, extended by an LLM that reads PostgreSQL commits, find more bugs than random mutation. We had three claims. At that time we had 100 percent valid statements on 300 test cases and zero bug candidates; no campaign had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row by row. The honest differences: fewer trials per arm than promised, a lower validity threshold in the gate, and Gemini Flash instead of Claude because no key was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thread. Each following slide has a tracker at the top showing the stage, and a dark bar at the bottom saying how it leads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Meeting 1 had the architecture and 13 types. Now: 78 rules, 421 alternatives, builtins for scope. The tree stores token spans per node. Half the test cases are new derivations, half replay a corpus case and re-derive one subtree.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Theory slide. A crash fuzzer only sees crashes. For wrong results we need an oracle. The idea: two queries that must return the same rows. Ternary logic partitioning: every row satisfies p, NOT p or p IS NULL, exactly one. If the union of the three partitions differs from the original, there is a bug. We added 12 such kinds plus plan variants and the last release as a second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example in our paper. The planner treats range contains element as a constant when the range is empty or unbounded, even for a NULL element. The operator is strict, so the answer must be NULL. Our scalar-subquery rewrite of the typed node gave a different answer, so the oracle fired within the first 150 test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Chronology of the work after meeting 1. The fuzzer found bugs by itself; the audits of recent PostgreSQL code by Bhuvan and the oracle-guided campaigns found others. Rows in green were confirmed by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Venu two filed, none answered yet. Gowtham three, all answered, two fixed. Bhuvan four, one answered. Totals nine, four,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raw fuzzer finding is a long query. Triage reproduces it three times, reduces it first on the derivation tree and then on tokens, and runs it under every plan variant to localize it. The result is a short reproducer and a draft upstream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two of meeting 1: we measure soundness. 93 candidates, every one has a verdict. Only 7 are new real bugs, 15 are real bugs somebody reported first, 37 false positives. The false positives come from ten classes, all fixed with tests. Four classes appeared only in the long campaigns and were fixed afterwards, so the post-fix precision is not a campaign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three. Meeting 1 planned this loop. Built: a miner lists commits that touch the planner, executor, parser; the LLM gets a digest and returns grammar alternatives, seeds and equivalence rewrites. The gate checks parse, reachability, validity on the server, seeds and coverage of the changed lines; failures go back for up to three repair rounds. Gemini Flash was used because no Claude key was available; the tool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Meeting 1 planned 8 to 12 re-injected bugs. We reverted every suitable fix between 31 July and 16 October, 23 in all. We build a fixed server, one solo server per bug, and an injected server with all 23. A finding counts for a bug if it fails on the bug's solo server and passes on the fixed one. 20 of the 23 are observable; only 9 would be seen by a crash-only fuzzer, which is the case for oracles.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kept everything equal across arms: server build, schema, oracles, budget and seeds. Seven arms, five one-hour trials each, four workers in parallel. RQ1, 2 and 4 ran on Gowtham's laptop, RQ3 on Bhuvan's. Meeting 1 promised 10 trials; the time budget allowed 5, so we report effect sizes next to p-values.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mutation runs fifteen times more test cases and still reaches 22 percent of backend lines against 37 for the grammar, because only 26 percent of its statements are valid. The oracles do not add lines but roughly double the distinct plan shapes. The LLM adds SQL features, not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arm found 2 of 20. The internal error dfcf6fa7 is found by all grammar arms in nearly every trial and never by random. The assertion 11b56ee2 was found once each by the oracle and LLM arms. No arm found any of the 8 wrong-result bugs. We say plainly that this benchmark does not show an oracle advantage; the evidence for oracles is the real wrong results in RQ2.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First, typing pays off for reach. Second, oracles find the bugs users cannot see but cost precision. Third, an LLM that is not allowed to be wrong needs a server-side gate, and even then one rewrite slipped through. All three are honest, measured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screenshots from the team's machines. Incidents: a worker's server failed crash recovery after an assertion, 14 trials were re-run with the same seeds; a laptop slept during a run, trial clocks are monotonic so the budget is unchanged; Gemini Flash replaced Claude; daily quota limited the LLM run to 10 commits; four oracle false-positive classes were fixed after the runs and not re-measured.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Verify the six open candidates, follow up the upstream threads, re-run the BUG-01 and BUG-02 reproducers, then write the paper. Roles stay as in meeting 1: Bhuvan on bug verification, Gowtham on experiments, statistics and paper, Venu on upstream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62B"/>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9822B"/>
          </a:solidFill>
          <a:ln w="12700">
            <a:solidFill>
              <a:srgbClr val="D9822B"/>
            </a:solidFill>
            <a:prstDash val="solid"/>
          </a:ln>
        </p:spPr>
      </p:sp>
      <p:sp>
        <p:nvSpPr>
          <p:cNvPr id="3" name="Text 1"/>
          <p:cNvSpPr/>
          <p:nvPr/>
        </p:nvSpPr>
        <p:spPr>
          <a:xfrm>
            <a:off x="822960" y="1737360"/>
            <a:ext cx="10515600" cy="1463040"/>
          </a:xfrm>
          <a:prstGeom prst="rect">
            <a:avLst/>
          </a:prstGeom>
          <a:noFill/>
          <a:ln/>
        </p:spPr>
        <p:txBody>
          <a:bodyPr wrap="square" lIns="0" tIns="0" rIns="0" bIns="0" rtlCol="0" anchor="b"/>
          <a:lstStyle/>
          <a:p>
            <a:pPr indent="0" marL="0">
              <a:buNone/>
            </a:pPr>
            <a:r>
              <a:rPr lang="en-US" sz="4200" b="1" dirty="0">
                <a:solidFill>
                  <a:srgbClr val="FFFFFF"/>
                </a:solidFill>
                <a:latin typeface="Calibri" pitchFamily="34" charset="0"/>
                <a:ea typeface="Calibri" pitchFamily="34" charset="-122"/>
                <a:cs typeface="Calibri" pitchFamily="34" charset="-120"/>
              </a:rPr>
              <a:t>LLM-Guided Grammar-Aware Fuzzing of PostgreSQL</a:t>
            </a:r>
            <a:endParaRPr lang="en-US" sz="4200" dirty="0"/>
          </a:p>
        </p:txBody>
      </p:sp>
      <p:sp>
        <p:nvSpPr>
          <p:cNvPr id="4" name="Text 2"/>
          <p:cNvSpPr/>
          <p:nvPr/>
        </p:nvSpPr>
        <p:spPr>
          <a:xfrm>
            <a:off x="822960" y="3337560"/>
            <a:ext cx="10515600" cy="822960"/>
          </a:xfrm>
          <a:prstGeom prst="rect">
            <a:avLst/>
          </a:prstGeom>
          <a:noFill/>
          <a:ln/>
        </p:spPr>
        <p:txBody>
          <a:bodyPr wrap="square" lIns="0" tIns="0" rIns="0" bIns="0" rtlCol="0" anchor="ctr"/>
          <a:lstStyle/>
          <a:p>
            <a:pPr indent="0" marL="0">
              <a:buNone/>
            </a:pPr>
            <a:r>
              <a:rPr lang="en-US" sz="2200" dirty="0">
                <a:solidFill>
                  <a:srgbClr val="C9D8E6"/>
                </a:solidFill>
                <a:latin typeface="Calibri" pitchFamily="34" charset="0"/>
                <a:ea typeface="Calibri" pitchFamily="34" charset="-122"/>
                <a:cs typeface="Calibri" pitchFamily="34" charset="-120"/>
              </a:rPr>
              <a:t>Progress meeting 2: from plan to executed system, found bugs and measured results</a:t>
            </a:r>
            <a:endParaRPr lang="en-US" sz="2200" dirty="0"/>
          </a:p>
        </p:txBody>
      </p:sp>
      <p:sp>
        <p:nvSpPr>
          <p:cNvPr id="5" name="Text 3"/>
          <p:cNvSpPr/>
          <p:nvPr/>
        </p:nvSpPr>
        <p:spPr>
          <a:xfrm>
            <a:off x="822960" y="4297680"/>
            <a:ext cx="10515600" cy="365760"/>
          </a:xfrm>
          <a:prstGeom prst="rect">
            <a:avLst/>
          </a:prstGeom>
          <a:noFill/>
          <a:ln/>
        </p:spPr>
        <p:txBody>
          <a:bodyPr wrap="square" lIns="0" tIns="0" rIns="0" bIns="0" rtlCol="0" anchor="ctr"/>
          <a:lstStyle/>
          <a:p>
            <a:pPr indent="0" marL="0">
              <a:buNone/>
            </a:pPr>
            <a:r>
              <a:rPr lang="en-US" sz="1600" dirty="0">
                <a:solidFill>
                  <a:srgbClr val="F2B36B"/>
                </a:solidFill>
                <a:latin typeface="Calibri" pitchFamily="34" charset="0"/>
                <a:ea typeface="Calibri" pitchFamily="34" charset="-122"/>
                <a:cs typeface="Calibri" pitchFamily="34" charset="-120"/>
              </a:rPr>
              <a:t>Continues the meeting of 16 October 2026</a:t>
            </a:r>
            <a:endParaRPr lang="en-US" sz="1600" dirty="0"/>
          </a:p>
        </p:txBody>
      </p:sp>
      <p:sp>
        <p:nvSpPr>
          <p:cNvPr id="6" name="Text 4"/>
          <p:cNvSpPr/>
          <p:nvPr/>
        </p:nvSpPr>
        <p:spPr>
          <a:xfrm>
            <a:off x="822960" y="5029200"/>
            <a:ext cx="10515600" cy="365760"/>
          </a:xfrm>
          <a:prstGeom prst="rect">
            <a:avLst/>
          </a:prstGeom>
          <a:noFill/>
          <a:ln/>
        </p:spPr>
        <p:txBody>
          <a:bodyPr wrap="square" lIns="0" tIns="0" rIns="0" bIns="0" rtlCol="0" anchor="ctr"/>
          <a:lstStyle/>
          <a:p>
            <a:pPr indent="0" marL="0">
              <a:buNone/>
            </a:pPr>
            <a:r>
              <a:rPr lang="en-US" sz="1500" dirty="0">
                <a:solidFill>
                  <a:srgbClr val="9DB2C4"/>
                </a:solidFill>
                <a:latin typeface="Calibri" pitchFamily="34" charset="0"/>
                <a:ea typeface="Calibri" pitchFamily="34" charset="-122"/>
                <a:cs typeface="Calibri" pitchFamily="34" charset="-120"/>
              </a:rPr>
              <a:t>CS-5187 term project A3 · Venu · Bhuvan · Gowtham · 29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1F5FAD"/>
          </a:solidFill>
          <a:ln w="6350">
            <a:solidFill>
              <a:srgbClr val="1F5FAD"/>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Where we were on 16 October</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Everything today answers one question: did the three claims survive contact with a real server?</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548640" y="1371600"/>
            <a:ext cx="5486400" cy="2148840"/>
          </a:xfrm>
          <a:prstGeom prst="rect">
            <a:avLst/>
          </a:prstGeom>
          <a:solidFill>
            <a:srgbClr val="EEF3F8"/>
          </a:solidFill>
          <a:ln w="12700">
            <a:solidFill>
              <a:srgbClr val="EEF3F8"/>
            </a:solidFill>
            <a:prstDash val="solid"/>
          </a:ln>
        </p:spPr>
      </p:sp>
      <p:sp>
        <p:nvSpPr>
          <p:cNvPr id="26" name="Shape 23"/>
          <p:cNvSpPr/>
          <p:nvPr/>
        </p:nvSpPr>
        <p:spPr>
          <a:xfrm>
            <a:off x="548640" y="1371600"/>
            <a:ext cx="64008" cy="2148840"/>
          </a:xfrm>
          <a:prstGeom prst="rect">
            <a:avLst/>
          </a:prstGeom>
          <a:solidFill>
            <a:srgbClr val="1F5FAD"/>
          </a:solidFill>
          <a:ln w="12700">
            <a:solidFill>
              <a:srgbClr val="1F5FAD"/>
            </a:solidFill>
            <a:prstDash val="solid"/>
          </a:ln>
        </p:spPr>
      </p:sp>
      <p:sp>
        <p:nvSpPr>
          <p:cNvPr id="27" name="Text 24"/>
          <p:cNvSpPr/>
          <p:nvPr/>
        </p:nvSpPr>
        <p:spPr>
          <a:xfrm>
            <a:off x="777240" y="1444752"/>
            <a:ext cx="5120640" cy="411480"/>
          </a:xfrm>
          <a:prstGeom prst="rect">
            <a:avLst/>
          </a:prstGeom>
          <a:noFill/>
          <a:ln/>
        </p:spPr>
        <p:txBody>
          <a:bodyPr wrap="square" lIns="0" tIns="0" rIns="0" bIns="0" rtlCol="0" anchor="ctr"/>
          <a:lstStyle/>
          <a:p>
            <a:pPr indent="0" marL="0">
              <a:buNone/>
            </a:pPr>
            <a:r>
              <a:rPr lang="en-US" sz="1700" b="1" dirty="0">
                <a:solidFill>
                  <a:srgbClr val="1F5FAD"/>
                </a:solidFill>
                <a:latin typeface="Calibri" pitchFamily="34" charset="0"/>
                <a:ea typeface="Calibri" pitchFamily="34" charset="-122"/>
                <a:cs typeface="Calibri" pitchFamily="34" charset="-120"/>
              </a:rPr>
              <a:t>The question (meeting 1)</a:t>
            </a:r>
            <a:endParaRPr lang="en-US" sz="1700" dirty="0"/>
          </a:p>
        </p:txBody>
      </p:sp>
      <p:sp>
        <p:nvSpPr>
          <p:cNvPr id="28" name="Text 25"/>
          <p:cNvSpPr/>
          <p:nvPr/>
        </p:nvSpPr>
        <p:spPr>
          <a:xfrm>
            <a:off x="777240" y="1874520"/>
            <a:ext cx="5120640" cy="1581912"/>
          </a:xfrm>
          <a:prstGeom prst="rect">
            <a:avLst/>
          </a:prstGeom>
          <a:noFill/>
          <a:ln/>
        </p:spPr>
        <p:txBody>
          <a:bodyPr wrap="square" lIns="0" tIns="0" rIns="0" bIns="0" rtlCol="0" anchor="t"/>
          <a:lstStyle/>
          <a:p>
            <a:pPr indent="0" marL="0">
              <a:spcAft>
                <a:spcPts val="400"/>
              </a:spcAft>
              <a:buNone/>
            </a:pPr>
            <a:r>
              <a:rPr lang="en-US" sz="1400" dirty="0">
                <a:solidFill>
                  <a:srgbClr val="17262B"/>
                </a:solidFill>
                <a:latin typeface="Calibri" pitchFamily="34" charset="0"/>
                <a:ea typeface="Calibri" pitchFamily="34" charset="-122"/>
                <a:cs typeface="Calibri" pitchFamily="34" charset="-120"/>
              </a:rPr>
              <a:t>Can a typed, editable grammar, extended by an LLM that reads PostgreSQL's own commits, find more bugs than random mutation and a plain grammar, under the same budget?</a:t>
            </a:r>
            <a:endParaRPr lang="en-US" sz="1400" dirty="0"/>
          </a:p>
        </p:txBody>
      </p:sp>
      <p:sp>
        <p:nvSpPr>
          <p:cNvPr id="29" name="Shape 26"/>
          <p:cNvSpPr/>
          <p:nvPr/>
        </p:nvSpPr>
        <p:spPr>
          <a:xfrm>
            <a:off x="548640" y="3657600"/>
            <a:ext cx="5486400" cy="2057400"/>
          </a:xfrm>
          <a:prstGeom prst="rect">
            <a:avLst/>
          </a:prstGeom>
          <a:solidFill>
            <a:srgbClr val="EEF3F8"/>
          </a:solidFill>
          <a:ln w="12700">
            <a:solidFill>
              <a:srgbClr val="EEF3F8"/>
            </a:solidFill>
            <a:prstDash val="solid"/>
          </a:ln>
        </p:spPr>
      </p:sp>
      <p:sp>
        <p:nvSpPr>
          <p:cNvPr id="30" name="Shape 27"/>
          <p:cNvSpPr/>
          <p:nvPr/>
        </p:nvSpPr>
        <p:spPr>
          <a:xfrm>
            <a:off x="548640" y="3657600"/>
            <a:ext cx="64008" cy="2057400"/>
          </a:xfrm>
          <a:prstGeom prst="rect">
            <a:avLst/>
          </a:prstGeom>
          <a:solidFill>
            <a:srgbClr val="D9822B"/>
          </a:solidFill>
          <a:ln w="12700">
            <a:solidFill>
              <a:srgbClr val="D9822B"/>
            </a:solidFill>
            <a:prstDash val="solid"/>
          </a:ln>
        </p:spPr>
      </p:sp>
      <p:sp>
        <p:nvSpPr>
          <p:cNvPr id="31" name="Text 28"/>
          <p:cNvSpPr/>
          <p:nvPr/>
        </p:nvSpPr>
        <p:spPr>
          <a:xfrm>
            <a:off x="777240" y="3730752"/>
            <a:ext cx="5120640" cy="411480"/>
          </a:xfrm>
          <a:prstGeom prst="rect">
            <a:avLst/>
          </a:prstGeom>
          <a:noFill/>
          <a:ln/>
        </p:spPr>
        <p:txBody>
          <a:bodyPr wrap="square" lIns="0" tIns="0" rIns="0" bIns="0" rtlCol="0" anchor="ctr"/>
          <a:lstStyle/>
          <a:p>
            <a:pPr indent="0" marL="0">
              <a:buNone/>
            </a:pPr>
            <a:r>
              <a:rPr lang="en-US" sz="1700" b="1" dirty="0">
                <a:solidFill>
                  <a:srgbClr val="D9822B"/>
                </a:solidFill>
                <a:latin typeface="Calibri" pitchFamily="34" charset="0"/>
                <a:ea typeface="Calibri" pitchFamily="34" charset="-122"/>
                <a:cs typeface="Calibri" pitchFamily="34" charset="-120"/>
              </a:rPr>
              <a:t>State on 16 Oct</a:t>
            </a:r>
            <a:endParaRPr lang="en-US" sz="1700" dirty="0"/>
          </a:p>
        </p:txBody>
      </p:sp>
      <p:sp>
        <p:nvSpPr>
          <p:cNvPr id="32" name="Text 29"/>
          <p:cNvSpPr/>
          <p:nvPr/>
        </p:nvSpPr>
        <p:spPr>
          <a:xfrm>
            <a:off x="777240" y="4160520"/>
            <a:ext cx="5120640" cy="149047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Harness, grammar and random baseline built</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100% valid on 300 cases, 0 bug candidates</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No campaign run yet; LLM loop only planned</a:t>
            </a:r>
            <a:endParaRPr lang="en-US" sz="1300" dirty="0"/>
          </a:p>
        </p:txBody>
      </p:sp>
      <p:sp>
        <p:nvSpPr>
          <p:cNvPr id="33" name="Shape 30"/>
          <p:cNvSpPr/>
          <p:nvPr/>
        </p:nvSpPr>
        <p:spPr>
          <a:xfrm>
            <a:off x="6263640" y="1371600"/>
            <a:ext cx="5376672" cy="4343400"/>
          </a:xfrm>
          <a:prstGeom prst="rect">
            <a:avLst/>
          </a:prstGeom>
          <a:solidFill>
            <a:srgbClr val="EEF3F8"/>
          </a:solidFill>
          <a:ln w="12700">
            <a:solidFill>
              <a:srgbClr val="EEF3F8"/>
            </a:solidFill>
            <a:prstDash val="solid"/>
          </a:ln>
        </p:spPr>
      </p:sp>
      <p:sp>
        <p:nvSpPr>
          <p:cNvPr id="34" name="Shape 31"/>
          <p:cNvSpPr/>
          <p:nvPr/>
        </p:nvSpPr>
        <p:spPr>
          <a:xfrm>
            <a:off x="6263640" y="1371600"/>
            <a:ext cx="64008" cy="4343400"/>
          </a:xfrm>
          <a:prstGeom prst="rect">
            <a:avLst/>
          </a:prstGeom>
          <a:solidFill>
            <a:srgbClr val="2E7D32"/>
          </a:solidFill>
          <a:ln w="12700">
            <a:solidFill>
              <a:srgbClr val="2E7D32"/>
            </a:solidFill>
            <a:prstDash val="solid"/>
          </a:ln>
        </p:spPr>
      </p:sp>
      <p:sp>
        <p:nvSpPr>
          <p:cNvPr id="35" name="Text 32"/>
          <p:cNvSpPr/>
          <p:nvPr/>
        </p:nvSpPr>
        <p:spPr>
          <a:xfrm>
            <a:off x="6492240" y="1444752"/>
            <a:ext cx="5010912" cy="411480"/>
          </a:xfrm>
          <a:prstGeom prst="rect">
            <a:avLst/>
          </a:prstGeom>
          <a:noFill/>
          <a:ln/>
        </p:spPr>
        <p:txBody>
          <a:bodyPr wrap="square" lIns="0" tIns="0" rIns="0" bIns="0" rtlCol="0" anchor="ctr"/>
          <a:lstStyle/>
          <a:p>
            <a:pPr indent="0" marL="0">
              <a:buNone/>
            </a:pPr>
            <a:r>
              <a:rPr lang="en-US" sz="1700" b="1" dirty="0">
                <a:solidFill>
                  <a:srgbClr val="2E7D32"/>
                </a:solidFill>
                <a:latin typeface="Calibri" pitchFamily="34" charset="0"/>
                <a:ea typeface="Calibri" pitchFamily="34" charset="-122"/>
                <a:cs typeface="Calibri" pitchFamily="34" charset="-120"/>
              </a:rPr>
              <a:t>Our three claims</a:t>
            </a:r>
            <a:endParaRPr lang="en-US" sz="1700" dirty="0"/>
          </a:p>
        </p:txBody>
      </p:sp>
      <p:sp>
        <p:nvSpPr>
          <p:cNvPr id="36" name="Text 33"/>
          <p:cNvSpPr/>
          <p:nvPr/>
        </p:nvSpPr>
        <p:spPr>
          <a:xfrm>
            <a:off x="6492240" y="1874520"/>
            <a:ext cx="5010912" cy="377647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1. One tree, four jobs: the derivation tree generates, mutates, is rewritten by oracles, and is reduced. SQL text is only its rendering.</a:t>
            </a:r>
            <a:endParaRPr lang="en-US" sz="1400" dirty="0"/>
          </a:p>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2. Soundness we measure: generator validity and oracle precision are reported numbers, not assumptions.</a:t>
            </a:r>
            <a:endParaRPr lang="en-US" sz="1400" dirty="0"/>
          </a:p>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3. The LLM proposes, the server decides: a proposal is used only if it runs and reaches the changed lines.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1F5FAD"/>
          </a:solidFill>
          <a:ln w="6350">
            <a:solidFill>
              <a:srgbClr val="1F5FAD"/>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What we promised, and where each promise stands</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Each row is a chapter of today's story; the next slide shows the order.</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3</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566160"/>
                <a:gridCol w="5669280"/>
                <a:gridCol w="1856232"/>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Meeting 1 said</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Now (29 Oct)</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502920">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Typed grammar, ~100 rules, 3 oracles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78 rules / 421 alternatives; 12 oracle kinds, 18 plan variants, cross-version</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LLM loop: mine, propose, gate</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Built; run on 10 commits; 4 accepted by the gate</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02920">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8-12 re-injected historical bugs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23 reverted fixes, 20 observable, 3 server variants each</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exceeded</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10 trials per arm</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5 trials x 1 h x 7 arms on two machines (time budget)</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b="1" dirty="0">
                          <a:solidFill>
                            <a:srgbClr val="D9822B"/>
                          </a:solidFill>
                          <a:latin typeface="Calibri" pitchFamily="34" charset="0"/>
                          <a:ea typeface="Calibri" pitchFamily="34" charset="-122"/>
                          <a:cs typeface="Calibri" pitchFamily="34" charset="-120"/>
                        </a:rPr>
                        <a:t>reduced</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02920">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Gate: &gt;= 80% valid, 200 samples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Gate: &gt;= 60% valid, 150 samples (calibrated on the server)</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b="1" dirty="0">
                          <a:solidFill>
                            <a:srgbClr val="D9822B"/>
                          </a:solidFill>
                          <a:latin typeface="Calibri" pitchFamily="34" charset="0"/>
                          <a:ea typeface="Calibri" pitchFamily="34" charset="-122"/>
                          <a:cs typeface="Calibri" pitchFamily="34" charset="-120"/>
                        </a:rPr>
                        <a:t>changed</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Target: one bug acknowledged upstream</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4 new bugs, 2 confirmed by committers, 1 fixed on master</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met</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02920">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Bug candidates: 0 so far</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93 candidates triaged, each with a verdict</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1F5FAD"/>
          </a:solidFill>
          <a:ln w="6350">
            <a:solidFill>
              <a:srgbClr val="1F5FAD"/>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The story of this talk</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Build the system, use it to find bugs, make sure the findings are trustworthy, add the LLM, then measure everything.</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4</a:t>
            </a:r>
            <a:endParaRPr lang="en-US" sz="1000" dirty="0"/>
          </a:p>
        </p:txBody>
      </p:sp>
      <p:sp>
        <p:nvSpPr>
          <p:cNvPr id="25" name="Shape 22"/>
          <p:cNvSpPr/>
          <p:nvPr/>
        </p:nvSpPr>
        <p:spPr>
          <a:xfrm>
            <a:off x="548640" y="1828800"/>
            <a:ext cx="1417320" cy="914400"/>
          </a:xfrm>
          <a:prstGeom prst="roundRect">
            <a:avLst>
              <a:gd name="adj" fmla="val 8000"/>
            </a:avLst>
          </a:prstGeom>
          <a:solidFill>
            <a:srgbClr val="1F5FAD"/>
          </a:solidFill>
          <a:ln w="12700">
            <a:solidFill>
              <a:srgbClr val="1F5FAD"/>
            </a:solidFill>
            <a:prstDash val="solid"/>
          </a:ln>
        </p:spPr>
      </p:sp>
      <p:sp>
        <p:nvSpPr>
          <p:cNvPr id="26" name="Text 23"/>
          <p:cNvSpPr/>
          <p:nvPr/>
        </p:nvSpPr>
        <p:spPr>
          <a:xfrm>
            <a:off x="548640" y="1828800"/>
            <a:ext cx="1417320" cy="91440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  Build</a:t>
            </a:r>
            <a:endParaRPr lang="en-US" sz="1700" dirty="0"/>
          </a:p>
        </p:txBody>
      </p:sp>
      <p:sp>
        <p:nvSpPr>
          <p:cNvPr id="27" name="Text 24"/>
          <p:cNvSpPr/>
          <p:nvPr/>
        </p:nvSpPr>
        <p:spPr>
          <a:xfrm>
            <a:off x="548640" y="2834640"/>
            <a:ext cx="1417320" cy="822960"/>
          </a:xfrm>
          <a:prstGeom prst="rect">
            <a:avLst/>
          </a:prstGeom>
          <a:noFill/>
          <a:ln/>
        </p:spPr>
        <p:txBody>
          <a:bodyPr wrap="square" lIns="0" tIns="0" rIns="0" bIns="0" rtlCol="0" anchor="t"/>
          <a:lstStyle/>
          <a:p>
            <a:pPr algn="ctr" indent="0" marL="0">
              <a:buNone/>
            </a:pPr>
            <a:r>
              <a:rPr lang="en-US" sz="1200" dirty="0">
                <a:solidFill>
                  <a:srgbClr val="17262B"/>
                </a:solidFill>
                <a:latin typeface="Calibri" pitchFamily="34" charset="0"/>
                <a:ea typeface="Calibri" pitchFamily="34" charset="-122"/>
                <a:cs typeface="Calibri" pitchFamily="34" charset="-120"/>
              </a:rPr>
              <a:t>typed grammar, tree, oracles</a:t>
            </a:r>
            <a:endParaRPr lang="en-US" sz="1200" dirty="0"/>
          </a:p>
        </p:txBody>
      </p:sp>
      <p:sp>
        <p:nvSpPr>
          <p:cNvPr id="28" name="Shape 25"/>
          <p:cNvSpPr/>
          <p:nvPr/>
        </p:nvSpPr>
        <p:spPr>
          <a:xfrm>
            <a:off x="1984248" y="2286000"/>
            <a:ext cx="158953" cy="0"/>
          </a:xfrm>
          <a:prstGeom prst="line">
            <a:avLst/>
          </a:prstGeom>
          <a:noFill/>
          <a:ln w="19050">
            <a:solidFill>
              <a:srgbClr val="1F5FAD"/>
            </a:solidFill>
            <a:prstDash val="solid"/>
            <a:tailEnd type="triangle"/>
          </a:ln>
        </p:spPr>
      </p:sp>
      <p:sp>
        <p:nvSpPr>
          <p:cNvPr id="29" name="Shape 26"/>
          <p:cNvSpPr/>
          <p:nvPr/>
        </p:nvSpPr>
        <p:spPr>
          <a:xfrm>
            <a:off x="2161489" y="1828800"/>
            <a:ext cx="1417320" cy="914400"/>
          </a:xfrm>
          <a:prstGeom prst="roundRect">
            <a:avLst>
              <a:gd name="adj" fmla="val 8000"/>
            </a:avLst>
          </a:prstGeom>
          <a:solidFill>
            <a:srgbClr val="EEF3F8"/>
          </a:solidFill>
          <a:ln w="12700">
            <a:solidFill>
              <a:srgbClr val="1F5FAD"/>
            </a:solidFill>
            <a:prstDash val="solid"/>
          </a:ln>
        </p:spPr>
      </p:sp>
      <p:sp>
        <p:nvSpPr>
          <p:cNvPr id="30" name="Text 27"/>
          <p:cNvSpPr/>
          <p:nvPr/>
        </p:nvSpPr>
        <p:spPr>
          <a:xfrm>
            <a:off x="2161489" y="1828800"/>
            <a:ext cx="1417320" cy="914400"/>
          </a:xfrm>
          <a:prstGeom prst="rect">
            <a:avLst/>
          </a:prstGeom>
          <a:noFill/>
          <a:ln/>
        </p:spPr>
        <p:txBody>
          <a:bodyPr wrap="square" rtlCol="0" anchor="ctr"/>
          <a:lstStyle/>
          <a:p>
            <a:pPr algn="ctr" indent="0" marL="0">
              <a:buNone/>
            </a:pPr>
            <a:r>
              <a:rPr lang="en-US" sz="1700" b="1" dirty="0">
                <a:solidFill>
                  <a:srgbClr val="1F5FAD"/>
                </a:solidFill>
                <a:latin typeface="Calibri" pitchFamily="34" charset="0"/>
                <a:ea typeface="Calibri" pitchFamily="34" charset="-122"/>
                <a:cs typeface="Calibri" pitchFamily="34" charset="-120"/>
              </a:rPr>
              <a:t>2  Find</a:t>
            </a:r>
            <a:endParaRPr lang="en-US" sz="1700" dirty="0"/>
          </a:p>
        </p:txBody>
      </p:sp>
      <p:sp>
        <p:nvSpPr>
          <p:cNvPr id="31" name="Text 28"/>
          <p:cNvSpPr/>
          <p:nvPr/>
        </p:nvSpPr>
        <p:spPr>
          <a:xfrm>
            <a:off x="2161489" y="2834640"/>
            <a:ext cx="1417320" cy="822960"/>
          </a:xfrm>
          <a:prstGeom prst="rect">
            <a:avLst/>
          </a:prstGeom>
          <a:noFill/>
          <a:ln/>
        </p:spPr>
        <p:txBody>
          <a:bodyPr wrap="square" lIns="0" tIns="0" rIns="0" bIns="0" rtlCol="0" anchor="t"/>
          <a:lstStyle/>
          <a:p>
            <a:pPr algn="ctr" indent="0" marL="0">
              <a:buNone/>
            </a:pPr>
            <a:r>
              <a:rPr lang="en-US" sz="1200" dirty="0">
                <a:solidFill>
                  <a:srgbClr val="17262B"/>
                </a:solidFill>
                <a:latin typeface="Calibri" pitchFamily="34" charset="0"/>
                <a:ea typeface="Calibri" pitchFamily="34" charset="-122"/>
                <a:cs typeface="Calibri" pitchFamily="34" charset="-120"/>
              </a:rPr>
              <a:t>first real bugs, upstream</a:t>
            </a:r>
            <a:endParaRPr lang="en-US" sz="1200" dirty="0"/>
          </a:p>
        </p:txBody>
      </p:sp>
      <p:sp>
        <p:nvSpPr>
          <p:cNvPr id="32" name="Shape 29"/>
          <p:cNvSpPr/>
          <p:nvPr/>
        </p:nvSpPr>
        <p:spPr>
          <a:xfrm>
            <a:off x="3597097" y="2286000"/>
            <a:ext cx="158953" cy="0"/>
          </a:xfrm>
          <a:prstGeom prst="line">
            <a:avLst/>
          </a:prstGeom>
          <a:noFill/>
          <a:ln w="19050">
            <a:solidFill>
              <a:srgbClr val="1F5FAD"/>
            </a:solidFill>
            <a:prstDash val="solid"/>
            <a:tailEnd type="triangle"/>
          </a:ln>
        </p:spPr>
      </p:sp>
      <p:sp>
        <p:nvSpPr>
          <p:cNvPr id="33" name="Shape 30"/>
          <p:cNvSpPr/>
          <p:nvPr/>
        </p:nvSpPr>
        <p:spPr>
          <a:xfrm>
            <a:off x="3774338" y="1828800"/>
            <a:ext cx="1417320" cy="914400"/>
          </a:xfrm>
          <a:prstGeom prst="roundRect">
            <a:avLst>
              <a:gd name="adj" fmla="val 8000"/>
            </a:avLst>
          </a:prstGeom>
          <a:solidFill>
            <a:srgbClr val="EEF3F8"/>
          </a:solidFill>
          <a:ln w="12700">
            <a:solidFill>
              <a:srgbClr val="1F5FAD"/>
            </a:solidFill>
            <a:prstDash val="solid"/>
          </a:ln>
        </p:spPr>
      </p:sp>
      <p:sp>
        <p:nvSpPr>
          <p:cNvPr id="34" name="Text 31"/>
          <p:cNvSpPr/>
          <p:nvPr/>
        </p:nvSpPr>
        <p:spPr>
          <a:xfrm>
            <a:off x="3774338" y="1828800"/>
            <a:ext cx="1417320" cy="914400"/>
          </a:xfrm>
          <a:prstGeom prst="rect">
            <a:avLst/>
          </a:prstGeom>
          <a:noFill/>
          <a:ln/>
        </p:spPr>
        <p:txBody>
          <a:bodyPr wrap="square" rtlCol="0" anchor="ctr"/>
          <a:lstStyle/>
          <a:p>
            <a:pPr algn="ctr" indent="0" marL="0">
              <a:buNone/>
            </a:pPr>
            <a:r>
              <a:rPr lang="en-US" sz="1700" b="1" dirty="0">
                <a:solidFill>
                  <a:srgbClr val="1F5FAD"/>
                </a:solidFill>
                <a:latin typeface="Calibri" pitchFamily="34" charset="0"/>
                <a:ea typeface="Calibri" pitchFamily="34" charset="-122"/>
                <a:cs typeface="Calibri" pitchFamily="34" charset="-120"/>
              </a:rPr>
              <a:t>3  Triage</a:t>
            </a:r>
            <a:endParaRPr lang="en-US" sz="1700" dirty="0"/>
          </a:p>
        </p:txBody>
      </p:sp>
      <p:sp>
        <p:nvSpPr>
          <p:cNvPr id="35" name="Text 32"/>
          <p:cNvSpPr/>
          <p:nvPr/>
        </p:nvSpPr>
        <p:spPr>
          <a:xfrm>
            <a:off x="3774338" y="2834640"/>
            <a:ext cx="1417320" cy="822960"/>
          </a:xfrm>
          <a:prstGeom prst="rect">
            <a:avLst/>
          </a:prstGeom>
          <a:noFill/>
          <a:ln/>
        </p:spPr>
        <p:txBody>
          <a:bodyPr wrap="square" lIns="0" tIns="0" rIns="0" bIns="0" rtlCol="0" anchor="t"/>
          <a:lstStyle/>
          <a:p>
            <a:pPr algn="ctr" indent="0" marL="0">
              <a:buNone/>
            </a:pPr>
            <a:r>
              <a:rPr lang="en-US" sz="1200" dirty="0">
                <a:solidFill>
                  <a:srgbClr val="17262B"/>
                </a:solidFill>
                <a:latin typeface="Calibri" pitchFamily="34" charset="0"/>
                <a:ea typeface="Calibri" pitchFamily="34" charset="-122"/>
                <a:cs typeface="Calibri" pitchFamily="34" charset="-120"/>
              </a:rPr>
              <a:t>reduce, de-duplicate, precision</a:t>
            </a:r>
            <a:endParaRPr lang="en-US" sz="1200" dirty="0"/>
          </a:p>
        </p:txBody>
      </p:sp>
      <p:sp>
        <p:nvSpPr>
          <p:cNvPr id="36" name="Shape 33"/>
          <p:cNvSpPr/>
          <p:nvPr/>
        </p:nvSpPr>
        <p:spPr>
          <a:xfrm>
            <a:off x="5209946" y="2286000"/>
            <a:ext cx="158953" cy="0"/>
          </a:xfrm>
          <a:prstGeom prst="line">
            <a:avLst/>
          </a:prstGeom>
          <a:noFill/>
          <a:ln w="19050">
            <a:solidFill>
              <a:srgbClr val="1F5FAD"/>
            </a:solidFill>
            <a:prstDash val="solid"/>
            <a:tailEnd type="triangle"/>
          </a:ln>
        </p:spPr>
      </p:sp>
      <p:sp>
        <p:nvSpPr>
          <p:cNvPr id="37" name="Shape 34"/>
          <p:cNvSpPr/>
          <p:nvPr/>
        </p:nvSpPr>
        <p:spPr>
          <a:xfrm>
            <a:off x="5387188" y="1828800"/>
            <a:ext cx="1417320" cy="914400"/>
          </a:xfrm>
          <a:prstGeom prst="roundRect">
            <a:avLst>
              <a:gd name="adj" fmla="val 8000"/>
            </a:avLst>
          </a:prstGeom>
          <a:solidFill>
            <a:srgbClr val="EEF3F8"/>
          </a:solidFill>
          <a:ln w="12700">
            <a:solidFill>
              <a:srgbClr val="1F5FAD"/>
            </a:solidFill>
            <a:prstDash val="solid"/>
          </a:ln>
        </p:spPr>
      </p:sp>
      <p:sp>
        <p:nvSpPr>
          <p:cNvPr id="38" name="Text 35"/>
          <p:cNvSpPr/>
          <p:nvPr/>
        </p:nvSpPr>
        <p:spPr>
          <a:xfrm>
            <a:off x="5387188" y="1828800"/>
            <a:ext cx="1417320" cy="914400"/>
          </a:xfrm>
          <a:prstGeom prst="rect">
            <a:avLst/>
          </a:prstGeom>
          <a:noFill/>
          <a:ln/>
        </p:spPr>
        <p:txBody>
          <a:bodyPr wrap="square" rtlCol="0" anchor="ctr"/>
          <a:lstStyle/>
          <a:p>
            <a:pPr algn="ctr" indent="0" marL="0">
              <a:buNone/>
            </a:pPr>
            <a:r>
              <a:rPr lang="en-US" sz="1700" b="1" dirty="0">
                <a:solidFill>
                  <a:srgbClr val="1F5FAD"/>
                </a:solidFill>
                <a:latin typeface="Calibri" pitchFamily="34" charset="0"/>
                <a:ea typeface="Calibri" pitchFamily="34" charset="-122"/>
                <a:cs typeface="Calibri" pitchFamily="34" charset="-120"/>
              </a:rPr>
              <a:t>4  LLM</a:t>
            </a:r>
            <a:endParaRPr lang="en-US" sz="1700" dirty="0"/>
          </a:p>
        </p:txBody>
      </p:sp>
      <p:sp>
        <p:nvSpPr>
          <p:cNvPr id="39" name="Text 36"/>
          <p:cNvSpPr/>
          <p:nvPr/>
        </p:nvSpPr>
        <p:spPr>
          <a:xfrm>
            <a:off x="5387188" y="2834640"/>
            <a:ext cx="1417320" cy="822960"/>
          </a:xfrm>
          <a:prstGeom prst="rect">
            <a:avLst/>
          </a:prstGeom>
          <a:noFill/>
          <a:ln/>
        </p:spPr>
        <p:txBody>
          <a:bodyPr wrap="square" lIns="0" tIns="0" rIns="0" bIns="0" rtlCol="0" anchor="t"/>
          <a:lstStyle/>
          <a:p>
            <a:pPr algn="ctr" indent="0" marL="0">
              <a:buNone/>
            </a:pPr>
            <a:r>
              <a:rPr lang="en-US" sz="1200" dirty="0">
                <a:solidFill>
                  <a:srgbClr val="17262B"/>
                </a:solidFill>
                <a:latin typeface="Calibri" pitchFamily="34" charset="0"/>
                <a:ea typeface="Calibri" pitchFamily="34" charset="-122"/>
                <a:cs typeface="Calibri" pitchFamily="34" charset="-120"/>
              </a:rPr>
              <a:t>commit-directed extension</a:t>
            </a:r>
            <a:endParaRPr lang="en-US" sz="1200" dirty="0"/>
          </a:p>
        </p:txBody>
      </p:sp>
      <p:sp>
        <p:nvSpPr>
          <p:cNvPr id="40" name="Shape 37"/>
          <p:cNvSpPr/>
          <p:nvPr/>
        </p:nvSpPr>
        <p:spPr>
          <a:xfrm>
            <a:off x="6822796" y="2286000"/>
            <a:ext cx="158953" cy="0"/>
          </a:xfrm>
          <a:prstGeom prst="line">
            <a:avLst/>
          </a:prstGeom>
          <a:noFill/>
          <a:ln w="19050">
            <a:solidFill>
              <a:srgbClr val="1F5FAD"/>
            </a:solidFill>
            <a:prstDash val="solid"/>
            <a:tailEnd type="triangle"/>
          </a:ln>
        </p:spPr>
      </p:sp>
      <p:sp>
        <p:nvSpPr>
          <p:cNvPr id="41" name="Shape 38"/>
          <p:cNvSpPr/>
          <p:nvPr/>
        </p:nvSpPr>
        <p:spPr>
          <a:xfrm>
            <a:off x="7000037" y="1828800"/>
            <a:ext cx="1417320" cy="914400"/>
          </a:xfrm>
          <a:prstGeom prst="roundRect">
            <a:avLst>
              <a:gd name="adj" fmla="val 8000"/>
            </a:avLst>
          </a:prstGeom>
          <a:solidFill>
            <a:srgbClr val="EEF3F8"/>
          </a:solidFill>
          <a:ln w="12700">
            <a:solidFill>
              <a:srgbClr val="1F5FAD"/>
            </a:solidFill>
            <a:prstDash val="solid"/>
          </a:ln>
        </p:spPr>
      </p:sp>
      <p:sp>
        <p:nvSpPr>
          <p:cNvPr id="42" name="Text 39"/>
          <p:cNvSpPr/>
          <p:nvPr/>
        </p:nvSpPr>
        <p:spPr>
          <a:xfrm>
            <a:off x="7000037" y="1828800"/>
            <a:ext cx="1417320" cy="914400"/>
          </a:xfrm>
          <a:prstGeom prst="rect">
            <a:avLst/>
          </a:prstGeom>
          <a:noFill/>
          <a:ln/>
        </p:spPr>
        <p:txBody>
          <a:bodyPr wrap="square" rtlCol="0" anchor="ctr"/>
          <a:lstStyle/>
          <a:p>
            <a:pPr algn="ctr" indent="0" marL="0">
              <a:buNone/>
            </a:pPr>
            <a:r>
              <a:rPr lang="en-US" sz="1700" b="1" dirty="0">
                <a:solidFill>
                  <a:srgbClr val="1F5FAD"/>
                </a:solidFill>
                <a:latin typeface="Calibri" pitchFamily="34" charset="0"/>
                <a:ea typeface="Calibri" pitchFamily="34" charset="-122"/>
                <a:cs typeface="Calibri" pitchFamily="34" charset="-120"/>
              </a:rPr>
              <a:t>5  Measure</a:t>
            </a:r>
            <a:endParaRPr lang="en-US" sz="1700" dirty="0"/>
          </a:p>
        </p:txBody>
      </p:sp>
      <p:sp>
        <p:nvSpPr>
          <p:cNvPr id="43" name="Text 40"/>
          <p:cNvSpPr/>
          <p:nvPr/>
        </p:nvSpPr>
        <p:spPr>
          <a:xfrm>
            <a:off x="7000037" y="2834640"/>
            <a:ext cx="1417320" cy="822960"/>
          </a:xfrm>
          <a:prstGeom prst="rect">
            <a:avLst/>
          </a:prstGeom>
          <a:noFill/>
          <a:ln/>
        </p:spPr>
        <p:txBody>
          <a:bodyPr wrap="square" lIns="0" tIns="0" rIns="0" bIns="0" rtlCol="0" anchor="t"/>
          <a:lstStyle/>
          <a:p>
            <a:pPr algn="ctr" indent="0" marL="0">
              <a:buNone/>
            </a:pPr>
            <a:r>
              <a:rPr lang="en-US" sz="1200" dirty="0">
                <a:solidFill>
                  <a:srgbClr val="17262B"/>
                </a:solidFill>
                <a:latin typeface="Calibri" pitchFamily="34" charset="0"/>
                <a:ea typeface="Calibri" pitchFamily="34" charset="-122"/>
                <a:cs typeface="Calibri" pitchFamily="34" charset="-120"/>
              </a:rPr>
              <a:t>benchmark and campaigns</a:t>
            </a:r>
            <a:endParaRPr lang="en-US" sz="1200" dirty="0"/>
          </a:p>
        </p:txBody>
      </p:sp>
      <p:sp>
        <p:nvSpPr>
          <p:cNvPr id="44" name="Shape 41"/>
          <p:cNvSpPr/>
          <p:nvPr/>
        </p:nvSpPr>
        <p:spPr>
          <a:xfrm>
            <a:off x="8435645" y="2286000"/>
            <a:ext cx="158953" cy="0"/>
          </a:xfrm>
          <a:prstGeom prst="line">
            <a:avLst/>
          </a:prstGeom>
          <a:noFill/>
          <a:ln w="19050">
            <a:solidFill>
              <a:srgbClr val="1F5FAD"/>
            </a:solidFill>
            <a:prstDash val="solid"/>
            <a:tailEnd type="triangle"/>
          </a:ln>
        </p:spPr>
      </p:sp>
      <p:sp>
        <p:nvSpPr>
          <p:cNvPr id="45" name="Shape 42"/>
          <p:cNvSpPr/>
          <p:nvPr/>
        </p:nvSpPr>
        <p:spPr>
          <a:xfrm>
            <a:off x="8612886" y="1828800"/>
            <a:ext cx="1417320" cy="914400"/>
          </a:xfrm>
          <a:prstGeom prst="roundRect">
            <a:avLst>
              <a:gd name="adj" fmla="val 8000"/>
            </a:avLst>
          </a:prstGeom>
          <a:solidFill>
            <a:srgbClr val="EEF3F8"/>
          </a:solidFill>
          <a:ln w="12700">
            <a:solidFill>
              <a:srgbClr val="1F5FAD"/>
            </a:solidFill>
            <a:prstDash val="solid"/>
          </a:ln>
        </p:spPr>
      </p:sp>
      <p:sp>
        <p:nvSpPr>
          <p:cNvPr id="46" name="Text 43"/>
          <p:cNvSpPr/>
          <p:nvPr/>
        </p:nvSpPr>
        <p:spPr>
          <a:xfrm>
            <a:off x="8612886" y="1828800"/>
            <a:ext cx="1417320" cy="914400"/>
          </a:xfrm>
          <a:prstGeom prst="rect">
            <a:avLst/>
          </a:prstGeom>
          <a:noFill/>
          <a:ln/>
        </p:spPr>
        <p:txBody>
          <a:bodyPr wrap="square" rtlCol="0" anchor="ctr"/>
          <a:lstStyle/>
          <a:p>
            <a:pPr algn="ctr" indent="0" marL="0">
              <a:buNone/>
            </a:pPr>
            <a:r>
              <a:rPr lang="en-US" sz="1700" b="1" dirty="0">
                <a:solidFill>
                  <a:srgbClr val="1F5FAD"/>
                </a:solidFill>
                <a:latin typeface="Calibri" pitchFamily="34" charset="0"/>
                <a:ea typeface="Calibri" pitchFamily="34" charset="-122"/>
                <a:cs typeface="Calibri" pitchFamily="34" charset="-120"/>
              </a:rPr>
              <a:t>6  Results</a:t>
            </a:r>
            <a:endParaRPr lang="en-US" sz="1700" dirty="0"/>
          </a:p>
        </p:txBody>
      </p:sp>
      <p:sp>
        <p:nvSpPr>
          <p:cNvPr id="47" name="Text 44"/>
          <p:cNvSpPr/>
          <p:nvPr/>
        </p:nvSpPr>
        <p:spPr>
          <a:xfrm>
            <a:off x="8612886" y="2834640"/>
            <a:ext cx="1417320" cy="822960"/>
          </a:xfrm>
          <a:prstGeom prst="rect">
            <a:avLst/>
          </a:prstGeom>
          <a:noFill/>
          <a:ln/>
        </p:spPr>
        <p:txBody>
          <a:bodyPr wrap="square" lIns="0" tIns="0" rIns="0" bIns="0" rtlCol="0" anchor="t"/>
          <a:lstStyle/>
          <a:p>
            <a:pPr algn="ctr" indent="0" marL="0">
              <a:buNone/>
            </a:pPr>
            <a:r>
              <a:rPr lang="en-US" sz="1200" dirty="0">
                <a:solidFill>
                  <a:srgbClr val="17262B"/>
                </a:solidFill>
                <a:latin typeface="Calibri" pitchFamily="34" charset="0"/>
                <a:ea typeface="Calibri" pitchFamily="34" charset="-122"/>
                <a:cs typeface="Calibri" pitchFamily="34" charset="-120"/>
              </a:rPr>
              <a:t>RQ1 to RQ4, lessons</a:t>
            </a:r>
            <a:endParaRPr lang="en-US" sz="1200" dirty="0"/>
          </a:p>
        </p:txBody>
      </p:sp>
      <p:sp>
        <p:nvSpPr>
          <p:cNvPr id="48" name="Shape 45"/>
          <p:cNvSpPr/>
          <p:nvPr/>
        </p:nvSpPr>
        <p:spPr>
          <a:xfrm>
            <a:off x="10048494" y="2286000"/>
            <a:ext cx="158953" cy="0"/>
          </a:xfrm>
          <a:prstGeom prst="line">
            <a:avLst/>
          </a:prstGeom>
          <a:noFill/>
          <a:ln w="19050">
            <a:solidFill>
              <a:srgbClr val="1F5FAD"/>
            </a:solidFill>
            <a:prstDash val="solid"/>
            <a:tailEnd type="triangle"/>
          </a:ln>
        </p:spPr>
      </p:sp>
      <p:sp>
        <p:nvSpPr>
          <p:cNvPr id="49" name="Shape 46"/>
          <p:cNvSpPr/>
          <p:nvPr/>
        </p:nvSpPr>
        <p:spPr>
          <a:xfrm>
            <a:off x="10225735" y="1828800"/>
            <a:ext cx="1417320" cy="914400"/>
          </a:xfrm>
          <a:prstGeom prst="roundRect">
            <a:avLst>
              <a:gd name="adj" fmla="val 8000"/>
            </a:avLst>
          </a:prstGeom>
          <a:solidFill>
            <a:srgbClr val="EEF3F8"/>
          </a:solidFill>
          <a:ln w="12700">
            <a:solidFill>
              <a:srgbClr val="1F5FAD"/>
            </a:solidFill>
            <a:prstDash val="solid"/>
          </a:ln>
        </p:spPr>
      </p:sp>
      <p:sp>
        <p:nvSpPr>
          <p:cNvPr id="50" name="Text 47"/>
          <p:cNvSpPr/>
          <p:nvPr/>
        </p:nvSpPr>
        <p:spPr>
          <a:xfrm>
            <a:off x="10225735" y="1828800"/>
            <a:ext cx="1417320" cy="914400"/>
          </a:xfrm>
          <a:prstGeom prst="rect">
            <a:avLst/>
          </a:prstGeom>
          <a:noFill/>
          <a:ln/>
        </p:spPr>
        <p:txBody>
          <a:bodyPr wrap="square" rtlCol="0" anchor="ctr"/>
          <a:lstStyle/>
          <a:p>
            <a:pPr algn="ctr" indent="0" marL="0">
              <a:buNone/>
            </a:pPr>
            <a:r>
              <a:rPr lang="en-US" sz="1700" b="1" dirty="0">
                <a:solidFill>
                  <a:srgbClr val="1F5FAD"/>
                </a:solidFill>
                <a:latin typeface="Calibri" pitchFamily="34" charset="0"/>
                <a:ea typeface="Calibri" pitchFamily="34" charset="-122"/>
                <a:cs typeface="Calibri" pitchFamily="34" charset="-120"/>
              </a:rPr>
              <a:t>7  Next</a:t>
            </a:r>
            <a:endParaRPr lang="en-US" sz="1700" dirty="0"/>
          </a:p>
        </p:txBody>
      </p:sp>
      <p:sp>
        <p:nvSpPr>
          <p:cNvPr id="51" name="Text 48"/>
          <p:cNvSpPr/>
          <p:nvPr/>
        </p:nvSpPr>
        <p:spPr>
          <a:xfrm>
            <a:off x="10225735" y="2834640"/>
            <a:ext cx="1417320" cy="822960"/>
          </a:xfrm>
          <a:prstGeom prst="rect">
            <a:avLst/>
          </a:prstGeom>
          <a:noFill/>
          <a:ln/>
        </p:spPr>
        <p:txBody>
          <a:bodyPr wrap="square" lIns="0" tIns="0" rIns="0" bIns="0" rtlCol="0" anchor="t"/>
          <a:lstStyle/>
          <a:p>
            <a:pPr algn="ctr" indent="0" marL="0">
              <a:buNone/>
            </a:pPr>
            <a:r>
              <a:rPr lang="en-US" sz="1200" dirty="0">
                <a:solidFill>
                  <a:srgbClr val="17262B"/>
                </a:solidFill>
                <a:latin typeface="Calibri" pitchFamily="34" charset="0"/>
                <a:ea typeface="Calibri" pitchFamily="34" charset="-122"/>
                <a:cs typeface="Calibri" pitchFamily="34" charset="-120"/>
              </a:rPr>
              <a:t>plan to 13 Nov</a:t>
            </a:r>
            <a:endParaRPr lang="en-US" sz="1200" dirty="0"/>
          </a:p>
        </p:txBody>
      </p:sp>
      <p:sp>
        <p:nvSpPr>
          <p:cNvPr id="52" name="Shape 49"/>
          <p:cNvSpPr/>
          <p:nvPr/>
        </p:nvSpPr>
        <p:spPr>
          <a:xfrm>
            <a:off x="548640" y="4023360"/>
            <a:ext cx="11094415" cy="1645920"/>
          </a:xfrm>
          <a:prstGeom prst="rect">
            <a:avLst/>
          </a:prstGeom>
          <a:solidFill>
            <a:srgbClr val="EEF3F8"/>
          </a:solidFill>
          <a:ln w="12700">
            <a:solidFill>
              <a:srgbClr val="EEF3F8"/>
            </a:solidFill>
            <a:prstDash val="solid"/>
          </a:ln>
        </p:spPr>
      </p:sp>
      <p:sp>
        <p:nvSpPr>
          <p:cNvPr id="53" name="Shape 50"/>
          <p:cNvSpPr/>
          <p:nvPr/>
        </p:nvSpPr>
        <p:spPr>
          <a:xfrm>
            <a:off x="548640" y="4023360"/>
            <a:ext cx="64008" cy="1645920"/>
          </a:xfrm>
          <a:prstGeom prst="rect">
            <a:avLst/>
          </a:prstGeom>
          <a:solidFill>
            <a:srgbClr val="1F5FAD"/>
          </a:solidFill>
          <a:ln w="12700">
            <a:solidFill>
              <a:srgbClr val="1F5FAD"/>
            </a:solidFill>
            <a:prstDash val="solid"/>
          </a:ln>
        </p:spPr>
      </p:sp>
      <p:sp>
        <p:nvSpPr>
          <p:cNvPr id="54" name="Text 51"/>
          <p:cNvSpPr/>
          <p:nvPr/>
        </p:nvSpPr>
        <p:spPr>
          <a:xfrm>
            <a:off x="777240" y="4096512"/>
            <a:ext cx="10728655" cy="411480"/>
          </a:xfrm>
          <a:prstGeom prst="rect">
            <a:avLst/>
          </a:prstGeom>
          <a:noFill/>
          <a:ln/>
        </p:spPr>
        <p:txBody>
          <a:bodyPr wrap="square" lIns="0" tIns="0" rIns="0" bIns="0" rtlCol="0" anchor="ctr"/>
          <a:lstStyle/>
          <a:p>
            <a:pPr indent="0" marL="0">
              <a:buNone/>
            </a:pPr>
            <a:r>
              <a:rPr lang="en-US" sz="1700" b="1" dirty="0">
                <a:solidFill>
                  <a:srgbClr val="1F5FAD"/>
                </a:solidFill>
                <a:latin typeface="Calibri" pitchFamily="34" charset="0"/>
                <a:ea typeface="Calibri" pitchFamily="34" charset="-122"/>
                <a:cs typeface="Calibri" pitchFamily="34" charset="-120"/>
              </a:rPr>
              <a:t>The running thread</a:t>
            </a:r>
            <a:endParaRPr lang="en-US" sz="1700" dirty="0"/>
          </a:p>
        </p:txBody>
      </p:sp>
      <p:sp>
        <p:nvSpPr>
          <p:cNvPr id="55" name="Text 52"/>
          <p:cNvSpPr/>
          <p:nvPr/>
        </p:nvSpPr>
        <p:spPr>
          <a:xfrm>
            <a:off x="777240" y="4526280"/>
            <a:ext cx="10728655" cy="1078992"/>
          </a:xfrm>
          <a:prstGeom prst="rect">
            <a:avLst/>
          </a:prstGeom>
          <a:noFill/>
          <a:ln/>
        </p:spPr>
        <p:txBody>
          <a:bodyPr wrap="square" lIns="0" tIns="0" rIns="0" bIns="0" rtlCol="0" anchor="t"/>
          <a:lstStyle/>
          <a:p>
            <a:pPr indent="0" marL="0">
              <a:spcAft>
                <a:spcPts val="400"/>
              </a:spcAft>
              <a:buNone/>
            </a:pPr>
            <a:r>
              <a:rPr lang="en-US" sz="1400" dirty="0">
                <a:solidFill>
                  <a:srgbClr val="17262B"/>
                </a:solidFill>
                <a:latin typeface="Calibri" pitchFamily="34" charset="0"/>
                <a:ea typeface="Calibri" pitchFamily="34" charset="-122"/>
                <a:cs typeface="Calibri" pitchFamily="34" charset="-120"/>
              </a:rPr>
              <a:t>The fuzzer generates SQL from a typed tree. Oracles turn the tree into checks that detect wrong results, not only crashes. Every failure is reduced and verified, because an unverified bug report wastes the maintainers' time. The LLM widens what the tree can say. The benchmark and campaigns measure whether each part helps.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1F5FAD"/>
          </a:solidFill>
          <a:ln w="6350">
            <a:solidFill>
              <a:srgbClr val="1F5FAD"/>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Build 1: a typed grammar that keeps the derivation tree</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A tree with typed, positioned nodes is what makes safe rewriting possible, which is the next slide.</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5</a:t>
            </a:r>
            <a:endParaRPr lang="en-US" sz="1000" dirty="0"/>
          </a:p>
        </p:txBody>
      </p:sp>
      <p:sp>
        <p:nvSpPr>
          <p:cNvPr id="25" name="Shape 22"/>
          <p:cNvSpPr/>
          <p:nvPr/>
        </p:nvSpPr>
        <p:spPr>
          <a:xfrm>
            <a:off x="512064" y="1335024"/>
            <a:ext cx="6839712" cy="3426314"/>
          </a:xfrm>
          <a:prstGeom prst="rect">
            <a:avLst/>
          </a:prstGeom>
          <a:solidFill>
            <a:srgbClr val="FFFFFF"/>
          </a:solidFill>
          <a:ln w="12700">
            <a:solidFill>
              <a:srgbClr val="C9D3DB"/>
            </a:solidFill>
            <a:prstDash val="solid"/>
          </a:ln>
        </p:spPr>
      </p:sp>
      <p:pic>
        <p:nvPicPr>
          <p:cNvPr id="26" name="Image 0" descr="/home/user/cs5187-term-project/docs/meeting2/deck/architecture.png">    </p:cNvPr>
          <p:cNvPicPr>
            <a:picLocks noChangeAspect="1"/>
          </p:cNvPicPr>
          <p:nvPr/>
        </p:nvPicPr>
        <p:blipFill>
          <a:blip r:embed="rId1"/>
          <a:stretch>
            <a:fillRect/>
          </a:stretch>
        </p:blipFill>
        <p:spPr>
          <a:xfrm>
            <a:off x="548640" y="1371600"/>
            <a:ext cx="6766560" cy="3353162"/>
          </a:xfrm>
          <a:prstGeom prst="rect">
            <a:avLst/>
          </a:prstGeom>
        </p:spPr>
      </p:pic>
      <p:sp>
        <p:nvSpPr>
          <p:cNvPr id="27" name="Text 23"/>
          <p:cNvSpPr/>
          <p:nvPr/>
        </p:nvSpPr>
        <p:spPr>
          <a:xfrm>
            <a:off x="548640" y="4797914"/>
            <a:ext cx="6766560"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generator, executor, instrumented server, oracle, report (as at meeting 1, now complete)</a:t>
            </a:r>
            <a:endParaRPr lang="en-US" sz="1100" dirty="0"/>
          </a:p>
        </p:txBody>
      </p:sp>
      <p:sp>
        <p:nvSpPr>
          <p:cNvPr id="28" name="Shape 24"/>
          <p:cNvSpPr/>
          <p:nvPr/>
        </p:nvSpPr>
        <p:spPr>
          <a:xfrm>
            <a:off x="7589520" y="1371600"/>
            <a:ext cx="4050792" cy="4297680"/>
          </a:xfrm>
          <a:prstGeom prst="rect">
            <a:avLst/>
          </a:prstGeom>
          <a:solidFill>
            <a:srgbClr val="EEF3F8"/>
          </a:solidFill>
          <a:ln w="12700">
            <a:solidFill>
              <a:srgbClr val="EEF3F8"/>
            </a:solidFill>
            <a:prstDash val="solid"/>
          </a:ln>
        </p:spPr>
      </p:sp>
      <p:sp>
        <p:nvSpPr>
          <p:cNvPr id="29" name="Shape 25"/>
          <p:cNvSpPr/>
          <p:nvPr/>
        </p:nvSpPr>
        <p:spPr>
          <a:xfrm>
            <a:off x="7589520" y="1371600"/>
            <a:ext cx="64008" cy="4297680"/>
          </a:xfrm>
          <a:prstGeom prst="rect">
            <a:avLst/>
          </a:prstGeom>
          <a:solidFill>
            <a:srgbClr val="1F5FAD"/>
          </a:solidFill>
          <a:ln w="12700">
            <a:solidFill>
              <a:srgbClr val="1F5FAD"/>
            </a:solidFill>
            <a:prstDash val="solid"/>
          </a:ln>
        </p:spPr>
      </p:sp>
      <p:sp>
        <p:nvSpPr>
          <p:cNvPr id="30" name="Text 26"/>
          <p:cNvSpPr/>
          <p:nvPr/>
        </p:nvSpPr>
        <p:spPr>
          <a:xfrm>
            <a:off x="7818120" y="1444752"/>
            <a:ext cx="3685032" cy="411480"/>
          </a:xfrm>
          <a:prstGeom prst="rect">
            <a:avLst/>
          </a:prstGeom>
          <a:noFill/>
          <a:ln/>
        </p:spPr>
        <p:txBody>
          <a:bodyPr wrap="square" lIns="0" tIns="0" rIns="0" bIns="0" rtlCol="0" anchor="ctr"/>
          <a:lstStyle/>
          <a:p>
            <a:pPr indent="0" marL="0">
              <a:buNone/>
            </a:pPr>
            <a:r>
              <a:rPr lang="en-US" sz="1700" b="1" dirty="0">
                <a:solidFill>
                  <a:srgbClr val="1F5FAD"/>
                </a:solidFill>
                <a:latin typeface="Calibri" pitchFamily="34" charset="0"/>
                <a:ea typeface="Calibri" pitchFamily="34" charset="-122"/>
                <a:cs typeface="Calibri" pitchFamily="34" charset="-120"/>
              </a:rPr>
              <a:t>In words</a:t>
            </a:r>
            <a:endParaRPr lang="en-US" sz="1700" dirty="0"/>
          </a:p>
        </p:txBody>
      </p:sp>
      <p:sp>
        <p:nvSpPr>
          <p:cNvPr id="31" name="Text 27"/>
          <p:cNvSpPr/>
          <p:nvPr/>
        </p:nvSpPr>
        <p:spPr>
          <a:xfrm>
            <a:off x="7818120" y="1874520"/>
            <a:ext cx="3685032" cy="3730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SQL is generated as a tree, not as text. Each node knows its type and scope.</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A node can be replaced by another derivation of the same type, so mutated queries stay valid SQL.</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Weights learn from feedback: alternatives that find new plans or features are chosen more often.</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Literals come from the data (min, max, quantiles, NaN, -0) so predicates select real rows.</a:t>
            </a:r>
            <a:endParaRPr lang="en-US" sz="1300" dirty="0"/>
          </a:p>
        </p:txBody>
      </p:sp>
      <p:sp>
        <p:nvSpPr>
          <p:cNvPr id="32" name="Text 28"/>
          <p:cNvSpPr/>
          <p:nvPr/>
        </p:nvSpPr>
        <p:spPr>
          <a:xfrm>
            <a:off x="548640" y="5257800"/>
            <a:ext cx="6766560" cy="457200"/>
          </a:xfrm>
          <a:prstGeom prst="rect">
            <a:avLst/>
          </a:prstGeom>
          <a:noFill/>
          <a:ln/>
        </p:spPr>
        <p:txBody>
          <a:bodyPr wrap="square" lIns="0" tIns="0" rIns="0" bIns="0" rtlCol="0" anchor="ctr"/>
          <a:lstStyle/>
          <a:p>
            <a:pPr indent="0" marL="0">
              <a:buNone/>
            </a:pPr>
            <a:r>
              <a:rPr lang="en-US" sz="1200" b="1" dirty="0">
                <a:solidFill>
                  <a:srgbClr val="1F5FAD"/>
                </a:solidFill>
                <a:latin typeface="Calibri" pitchFamily="34" charset="0"/>
                <a:ea typeface="Calibri" pitchFamily="34" charset="-122"/>
                <a:cs typeface="Calibri" pitchFamily="34" charset="-120"/>
              </a:rPr>
              <a:t>78 rules · 421 alternatives · 13 types · 9-relation schema (partitions, inheritance, view, 4 index types)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1F5FAD"/>
          </a:solidFill>
          <a:ln w="6350">
            <a:solidFill>
              <a:srgbClr val="1F5FAD"/>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Build 2: oracles that know the right answer without a reference</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Oracles need sound rewrites; whenever one breaks, we get a false positive. Hold that thought for the triage chapter.</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548640" y="1371600"/>
            <a:ext cx="5577840" cy="2194560"/>
          </a:xfrm>
          <a:prstGeom prst="rect">
            <a:avLst/>
          </a:prstGeom>
          <a:solidFill>
            <a:srgbClr val="EEF3F8"/>
          </a:solidFill>
          <a:ln w="12700">
            <a:solidFill>
              <a:srgbClr val="EEF3F8"/>
            </a:solidFill>
            <a:prstDash val="solid"/>
          </a:ln>
        </p:spPr>
      </p:sp>
      <p:sp>
        <p:nvSpPr>
          <p:cNvPr id="26" name="Shape 23"/>
          <p:cNvSpPr/>
          <p:nvPr/>
        </p:nvSpPr>
        <p:spPr>
          <a:xfrm>
            <a:off x="548640" y="1371600"/>
            <a:ext cx="64008" cy="2194560"/>
          </a:xfrm>
          <a:prstGeom prst="rect">
            <a:avLst/>
          </a:prstGeom>
          <a:solidFill>
            <a:srgbClr val="1F5FAD"/>
          </a:solidFill>
          <a:ln w="12700">
            <a:solidFill>
              <a:srgbClr val="1F5FAD"/>
            </a:solidFill>
            <a:prstDash val="solid"/>
          </a:ln>
        </p:spPr>
      </p:sp>
      <p:sp>
        <p:nvSpPr>
          <p:cNvPr id="27" name="Text 24"/>
          <p:cNvSpPr/>
          <p:nvPr/>
        </p:nvSpPr>
        <p:spPr>
          <a:xfrm>
            <a:off x="777240" y="1444752"/>
            <a:ext cx="5212080" cy="411480"/>
          </a:xfrm>
          <a:prstGeom prst="rect">
            <a:avLst/>
          </a:prstGeom>
          <a:noFill/>
          <a:ln/>
        </p:spPr>
        <p:txBody>
          <a:bodyPr wrap="square" lIns="0" tIns="0" rIns="0" bIns="0" rtlCol="0" anchor="ctr"/>
          <a:lstStyle/>
          <a:p>
            <a:pPr indent="0" marL="0">
              <a:buNone/>
            </a:pPr>
            <a:r>
              <a:rPr lang="en-US" sz="1700" b="1" dirty="0">
                <a:solidFill>
                  <a:srgbClr val="1F5FAD"/>
                </a:solidFill>
                <a:latin typeface="Calibri" pitchFamily="34" charset="0"/>
                <a:ea typeface="Calibri" pitchFamily="34" charset="-122"/>
                <a:cs typeface="Calibri" pitchFamily="34" charset="-120"/>
              </a:rPr>
              <a:t>The idea (ternary logic partitioning)</a:t>
            </a:r>
            <a:endParaRPr lang="en-US" sz="1700" dirty="0"/>
          </a:p>
        </p:txBody>
      </p:sp>
      <p:sp>
        <p:nvSpPr>
          <p:cNvPr id="28" name="Text 25"/>
          <p:cNvSpPr/>
          <p:nvPr/>
        </p:nvSpPr>
        <p:spPr>
          <a:xfrm>
            <a:off x="777240" y="1874520"/>
            <a:ext cx="5212080" cy="16276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Q: SELECT ... WHERE p</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Every row makes p true, false or NULL: exactly one</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Q must equal  Q(p) UNION ALL Q(NOT p) UNION ALL Q(p IS NULL)</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Different rows = bug in the planner or executor</a:t>
            </a:r>
            <a:endParaRPr lang="en-US" sz="1300" dirty="0"/>
          </a:p>
        </p:txBody>
      </p:sp>
      <p:sp>
        <p:nvSpPr>
          <p:cNvPr id="29" name="Shape 26"/>
          <p:cNvSpPr/>
          <p:nvPr/>
        </p:nvSpPr>
        <p:spPr>
          <a:xfrm>
            <a:off x="548640" y="3703320"/>
            <a:ext cx="5577840" cy="2011680"/>
          </a:xfrm>
          <a:prstGeom prst="rect">
            <a:avLst/>
          </a:prstGeom>
          <a:solidFill>
            <a:srgbClr val="17262B"/>
          </a:solidFill>
          <a:ln w="12700">
            <a:solidFill>
              <a:srgbClr val="17262B"/>
            </a:solidFill>
            <a:prstDash val="solid"/>
          </a:ln>
        </p:spPr>
      </p:sp>
      <p:sp>
        <p:nvSpPr>
          <p:cNvPr id="30" name="Text 27"/>
          <p:cNvSpPr/>
          <p:nvPr/>
        </p:nvSpPr>
        <p:spPr>
          <a:xfrm>
            <a:off x="685800" y="3749040"/>
            <a:ext cx="5303520" cy="1920240"/>
          </a:xfrm>
          <a:prstGeom prst="rect">
            <a:avLst/>
          </a:prstGeom>
          <a:noFill/>
          <a:ln/>
        </p:spPr>
        <p:txBody>
          <a:bodyPr wrap="square" lIns="0" tIns="0" rIns="0" bIns="0" rtlCol="0" anchor="ctr"/>
          <a:lstStyle/>
          <a:p>
            <a:pPr indent="0" marL="0">
              <a:buNone/>
            </a:pPr>
            <a:r>
              <a:rPr lang="en-US" sz="1200" dirty="0">
                <a:solidFill>
                  <a:srgbClr val="DDE7EE"/>
                </a:solidFill>
                <a:latin typeface="Courier New" pitchFamily="34" charset="0"/>
                <a:ea typeface="Courier New" pitchFamily="34" charset="-122"/>
                <a:cs typeface="Courier New" pitchFamily="34" charset="-120"/>
              </a:rPr>
              <a:t>SELECT c, '(,)'::int4range @&gt; c  -- must be NULL for NULL c</a:t>
            </a:r>
            <a:endParaRPr lang="en-US" sz="1200" dirty="0"/>
          </a:p>
          <a:p>
            <a:pPr indent="0" marL="0">
              <a:buNone/>
            </a:pPr>
            <a:r>
              <a:rPr lang="en-US" sz="1200" dirty="0">
                <a:solidFill>
                  <a:srgbClr val="DDE7EE"/>
                </a:solidFill>
                <a:latin typeface="Courier New" pitchFamily="34" charset="0"/>
                <a:ea typeface="Courier New" pitchFamily="34" charset="-122"/>
                <a:cs typeface="Courier New" pitchFamily="34" charset="-120"/>
              </a:rPr>
              <a:t>FROM (VALUES (NULL::int), (1)) v(c);</a:t>
            </a:r>
            <a:endParaRPr lang="en-US" sz="1200" dirty="0"/>
          </a:p>
          <a:p>
            <a:pPr indent="0" marL="0">
              <a:buNone/>
            </a:pPr>
            <a:endParaRPr lang="en-US" sz="1200" dirty="0"/>
          </a:p>
          <a:p>
            <a:pPr indent="0" marL="0">
              <a:buNone/>
            </a:pPr>
            <a:r>
              <a:rPr lang="en-US" sz="1200" dirty="0">
                <a:solidFill>
                  <a:srgbClr val="DDE7EE"/>
                </a:solidFill>
                <a:latin typeface="Courier New" pitchFamily="34" charset="0"/>
                <a:ea typeface="Courier New" pitchFamily="34" charset="-122"/>
                <a:cs typeface="Courier New" pitchFamily="34" charset="-120"/>
              </a:rPr>
              <a:t>-- 17, 18.6, master: t   (planner folded it)</a:t>
            </a:r>
            <a:endParaRPr lang="en-US" sz="1200" dirty="0"/>
          </a:p>
          <a:p>
            <a:pPr indent="0" marL="0">
              <a:buNone/>
            </a:pPr>
            <a:r>
              <a:rPr lang="en-US" sz="1200" dirty="0">
                <a:solidFill>
                  <a:srgbClr val="DDE7EE"/>
                </a:solidFill>
                <a:latin typeface="Courier New" pitchFamily="34" charset="0"/>
                <a:ea typeface="Courier New" pitchFamily="34" charset="-122"/>
                <a:cs typeface="Courier New" pitchFamily="34" charset="-120"/>
              </a:rPr>
              <a:t>-- e vs (SELECT e) disagree  =&gt;  bug</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355080" y="1371600"/>
          <a:ext cx="5285232" cy="914400"/>
        </p:xfrm>
        <a:graphic>
          <a:graphicData uri="http://schemas.openxmlformats.org/drawingml/2006/table">
            <a:tbl>
              <a:tblPr/>
              <a:tblGrid>
                <a:gridCol w="2926080"/>
                <a:gridCol w="2359152"/>
              </a:tblGrid>
              <a:tr h="56692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Oracle family</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566928">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TLP (WHERE, HAVING, aggregates), NoREC</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query vs partitioned / counted form</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Expression and predicate rewrites</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e vs (SELECT e), COALESCE(e,e), NOT NOT p ...</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66928">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RLS leak check</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restricted role vs superuser with policy inlined</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18 plan variants</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same query, different planner settings</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66928">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Cross-version</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master vs release 18.6</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Crash / assertion / internal error</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00" dirty="0">
                          <a:solidFill>
                            <a:srgbClr val="17262B"/>
                          </a:solidFill>
                          <a:latin typeface="Calibri" pitchFamily="34" charset="0"/>
                          <a:ea typeface="Calibri" pitchFamily="34" charset="-122"/>
                          <a:cs typeface="Calibri" pitchFamily="34" charset="-120"/>
                        </a:rPr>
                        <a:t>server log and error class</a:t>
                      </a:r>
                      <a:endParaRPr lang="en-US" sz="12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1F5FAD"/>
          </a:solidFill>
          <a:ln w="6350">
            <a:solidFill>
              <a:srgbClr val="1F5FAD"/>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Find 1: the first real bug, found by an oracle</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One bug is anecdote; the next slide shows how many we found and where each stands upstream.</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512064" y="1335024"/>
            <a:ext cx="5833872" cy="4368645"/>
          </a:xfrm>
          <a:prstGeom prst="rect">
            <a:avLst/>
          </a:prstGeom>
          <a:solidFill>
            <a:srgbClr val="FFFFFF"/>
          </a:solidFill>
          <a:ln w="12700">
            <a:solidFill>
              <a:srgbClr val="C9D3DB"/>
            </a:solidFill>
            <a:prstDash val="solid"/>
          </a:ln>
        </p:spPr>
      </p:sp>
      <p:pic>
        <p:nvPicPr>
          <p:cNvPr id="26" name="Image 0" descr="/home/user/cs5187-term-project/docs/meeting2/deck/A3_bug02.png">    </p:cNvPr>
          <p:cNvPicPr>
            <a:picLocks noChangeAspect="1"/>
          </p:cNvPicPr>
          <p:nvPr/>
        </p:nvPicPr>
        <p:blipFill>
          <a:blip r:embed="rId1"/>
          <a:stretch>
            <a:fillRect/>
          </a:stretch>
        </p:blipFill>
        <p:spPr>
          <a:xfrm>
            <a:off x="548640" y="1371600"/>
            <a:ext cx="5760720" cy="4295493"/>
          </a:xfrm>
          <a:prstGeom prst="rect">
            <a:avLst/>
          </a:prstGeom>
        </p:spPr>
      </p:pic>
      <p:sp>
        <p:nvSpPr>
          <p:cNvPr id="27" name="Shape 23"/>
          <p:cNvSpPr/>
          <p:nvPr/>
        </p:nvSpPr>
        <p:spPr>
          <a:xfrm>
            <a:off x="6583680" y="1371600"/>
            <a:ext cx="5056632" cy="2011680"/>
          </a:xfrm>
          <a:prstGeom prst="rect">
            <a:avLst/>
          </a:prstGeom>
          <a:solidFill>
            <a:srgbClr val="EEF3F8"/>
          </a:solidFill>
          <a:ln w="12700">
            <a:solidFill>
              <a:srgbClr val="EEF3F8"/>
            </a:solidFill>
            <a:prstDash val="solid"/>
          </a:ln>
        </p:spPr>
      </p:sp>
      <p:sp>
        <p:nvSpPr>
          <p:cNvPr id="28" name="Shape 24"/>
          <p:cNvSpPr/>
          <p:nvPr/>
        </p:nvSpPr>
        <p:spPr>
          <a:xfrm>
            <a:off x="6583680" y="1371600"/>
            <a:ext cx="64008" cy="2011680"/>
          </a:xfrm>
          <a:prstGeom prst="rect">
            <a:avLst/>
          </a:prstGeom>
          <a:solidFill>
            <a:srgbClr val="1F5FAD"/>
          </a:solidFill>
          <a:ln w="12700">
            <a:solidFill>
              <a:srgbClr val="1F5FAD"/>
            </a:solidFill>
            <a:prstDash val="solid"/>
          </a:ln>
        </p:spPr>
      </p:sp>
      <p:sp>
        <p:nvSpPr>
          <p:cNvPr id="29" name="Text 25"/>
          <p:cNvSpPr/>
          <p:nvPr/>
        </p:nvSpPr>
        <p:spPr>
          <a:xfrm>
            <a:off x="6812280" y="1444752"/>
            <a:ext cx="4690872" cy="411480"/>
          </a:xfrm>
          <a:prstGeom prst="rect">
            <a:avLst/>
          </a:prstGeom>
          <a:noFill/>
          <a:ln/>
        </p:spPr>
        <p:txBody>
          <a:bodyPr wrap="square" lIns="0" tIns="0" rIns="0" bIns="0" rtlCol="0" anchor="ctr"/>
          <a:lstStyle/>
          <a:p>
            <a:pPr indent="0" marL="0">
              <a:buNone/>
            </a:pPr>
            <a:r>
              <a:rPr lang="en-US" sz="1700" b="1" dirty="0">
                <a:solidFill>
                  <a:srgbClr val="1F5FAD"/>
                </a:solidFill>
                <a:latin typeface="Calibri" pitchFamily="34" charset="0"/>
                <a:ea typeface="Calibri" pitchFamily="34" charset="-122"/>
                <a:cs typeface="Calibri" pitchFamily="34" charset="-120"/>
              </a:rPr>
              <a:t>What you see</a:t>
            </a:r>
            <a:endParaRPr lang="en-US" sz="1700" dirty="0"/>
          </a:p>
        </p:txBody>
      </p:sp>
      <p:sp>
        <p:nvSpPr>
          <p:cNvPr id="30" name="Text 26"/>
          <p:cNvSpPr/>
          <p:nvPr/>
        </p:nvSpPr>
        <p:spPr>
          <a:xfrm>
            <a:off x="6812280" y="1874520"/>
            <a:ext cx="4690872" cy="1444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NULL row should give NULL in every column</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18.6 and master print true</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EXPLAIN shows Output: true: folded to a constant</a:t>
            </a:r>
            <a:endParaRPr lang="en-US" sz="1300" dirty="0"/>
          </a:p>
        </p:txBody>
      </p:sp>
      <p:sp>
        <p:nvSpPr>
          <p:cNvPr id="31" name="Shape 27"/>
          <p:cNvSpPr/>
          <p:nvPr/>
        </p:nvSpPr>
        <p:spPr>
          <a:xfrm>
            <a:off x="6583680" y="3520440"/>
            <a:ext cx="5056632" cy="2148840"/>
          </a:xfrm>
          <a:prstGeom prst="rect">
            <a:avLst/>
          </a:prstGeom>
          <a:solidFill>
            <a:srgbClr val="EEF3F8"/>
          </a:solidFill>
          <a:ln w="12700">
            <a:solidFill>
              <a:srgbClr val="EEF3F8"/>
            </a:solidFill>
            <a:prstDash val="solid"/>
          </a:ln>
        </p:spPr>
      </p:sp>
      <p:sp>
        <p:nvSpPr>
          <p:cNvPr id="32" name="Shape 28"/>
          <p:cNvSpPr/>
          <p:nvPr/>
        </p:nvSpPr>
        <p:spPr>
          <a:xfrm>
            <a:off x="6583680" y="3520440"/>
            <a:ext cx="64008" cy="2148840"/>
          </a:xfrm>
          <a:prstGeom prst="rect">
            <a:avLst/>
          </a:prstGeom>
          <a:solidFill>
            <a:srgbClr val="2E7D32"/>
          </a:solidFill>
          <a:ln w="12700">
            <a:solidFill>
              <a:srgbClr val="2E7D32"/>
            </a:solidFill>
            <a:prstDash val="solid"/>
          </a:ln>
        </p:spPr>
      </p:sp>
      <p:sp>
        <p:nvSpPr>
          <p:cNvPr id="33" name="Text 29"/>
          <p:cNvSpPr/>
          <p:nvPr/>
        </p:nvSpPr>
        <p:spPr>
          <a:xfrm>
            <a:off x="6812280" y="3593592"/>
            <a:ext cx="4690872" cy="411480"/>
          </a:xfrm>
          <a:prstGeom prst="rect">
            <a:avLst/>
          </a:prstGeom>
          <a:noFill/>
          <a:ln/>
        </p:spPr>
        <p:txBody>
          <a:bodyPr wrap="square" lIns="0" tIns="0" rIns="0" bIns="0" rtlCol="0" anchor="ctr"/>
          <a:lstStyle/>
          <a:p>
            <a:pPr indent="0" marL="0">
              <a:buNone/>
            </a:pPr>
            <a:r>
              <a:rPr lang="en-US" sz="1700" b="1" dirty="0">
                <a:solidFill>
                  <a:srgbClr val="2E7D32"/>
                </a:solidFill>
                <a:latin typeface="Calibri" pitchFamily="34" charset="0"/>
                <a:ea typeface="Calibri" pitchFamily="34" charset="-122"/>
                <a:cs typeface="Calibri" pitchFamily="34" charset="-120"/>
              </a:rPr>
              <a:t>Why only an oracle finds it</a:t>
            </a:r>
            <a:endParaRPr lang="en-US" sz="1700" dirty="0"/>
          </a:p>
        </p:txBody>
      </p:sp>
      <p:sp>
        <p:nvSpPr>
          <p:cNvPr id="34" name="Text 30"/>
          <p:cNvSpPr/>
          <p:nvPr/>
        </p:nvSpPr>
        <p:spPr>
          <a:xfrm>
            <a:off x="6812280" y="4023360"/>
            <a:ext cx="4690872" cy="15819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No crash, no error: the result is just wrong</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Present in released 17 and 18</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Root cause: a planner support function in rangetypes.c; patch sent for 17, 18 and master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1F5FAD"/>
          </a:solidFill>
          <a:ln w="6350">
            <a:solidFill>
              <a:srgbClr val="1F5FAD"/>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Find 2: from first find to nine upstream reports in two weeks</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Finding is only half: each report needs a verified reproducer, so every candidate goes through triage.</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097280"/>
                <a:gridCol w="4480560"/>
                <a:gridCol w="3017520"/>
                <a:gridCol w="2496312"/>
              </a:tblGrid>
              <a:tr h="530352">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Bug</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Found by</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Upstream</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530352">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16 Oct</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BUG-01 JSON_TABLE collations</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grammar fuzzer (assertion)</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#19768 filed</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23 Oct</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BUG-02 range containment NULL</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scalar-subquery rewrite oracle</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#19793 filed + patch</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30352">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23 Oct</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AUDIT-F1 NOT IN anti-join cast; AUDIT-F2 IGNORE NULLS hang</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code audit + probes</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pgsql-bugs; F2 answered</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27 Oct</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C-01 dependencies.c assertion</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differential fuzzers</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pgsql-bugs filed</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30352">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28 Oct</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#19802 MERGE SubPlan error</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grammar campaign</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b="1" dirty="0">
                          <a:solidFill>
                            <a:srgbClr val="2E7D32"/>
                          </a:solidFill>
                          <a:latin typeface="Calibri" pitchFamily="34" charset="0"/>
                          <a:ea typeface="Calibri" pitchFamily="34" charset="-122"/>
                          <a:cs typeface="Calibri" pitchFamily="34" charset="-120"/>
                        </a:rPr>
                        <a:t>confirmed, patch posted</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28 Oct</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#19803 parallel Append assertion</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LLM-fragment arm + TLP</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250" b="1" dirty="0">
                          <a:solidFill>
                            <a:srgbClr val="2E7D32"/>
                          </a:solidFill>
                          <a:latin typeface="Calibri" pitchFamily="34" charset="0"/>
                          <a:ea typeface="Calibri" pitchFamily="34" charset="-122"/>
                          <a:cs typeface="Calibri" pitchFamily="34" charset="-120"/>
                        </a:rPr>
                        <a:t>confirmed, fixed on master</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30352">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Also</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#19771 to_char NaN crash</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dirty="0">
                          <a:solidFill>
                            <a:srgbClr val="17262B"/>
                          </a:solidFill>
                          <a:latin typeface="Calibri" pitchFamily="34" charset="0"/>
                          <a:ea typeface="Calibri" pitchFamily="34" charset="-122"/>
                          <a:cs typeface="Calibri" pitchFamily="34" charset="-120"/>
                        </a:rPr>
                        <a:t>grammar campaign</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250" b="1" dirty="0">
                          <a:solidFill>
                            <a:srgbClr val="2E7D32"/>
                          </a:solidFill>
                          <a:latin typeface="Calibri" pitchFamily="34" charset="0"/>
                          <a:ea typeface="Calibri" pitchFamily="34" charset="-122"/>
                          <a:cs typeface="Calibri" pitchFamily="34" charset="-120"/>
                        </a:rPr>
                        <a:t>fix committed (Gowtham)</a:t>
                      </a:r>
                      <a:endParaRPr lang="en-US" sz="125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1F5FAD"/>
          </a:solidFill>
          <a:ln w="6350">
            <a:solidFill>
              <a:srgbClr val="1F5FAD"/>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Find 3: upstream scorecard</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Nine reports means nine reproducers to defend; the next stage is how we make them trustworthy.</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gridCol w="2377440"/>
                <a:gridCol w="3291840"/>
                <a:gridCol w="2468880"/>
              </a:tblGrid>
              <a:tr h="54864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Member</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Bugs filed</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Replied: confirmed a bug</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Fixed upstream</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548640">
                <a:tc>
                  <a:txBody>
                    <a:bodyPr/>
                    <a:lstStyle/>
                    <a:p>
                      <a:pPr indent="0" marL="0">
                        <a:buNone/>
                      </a:pPr>
                      <a:r>
                        <a:rPr lang="en-US" sz="1800" b="1" dirty="0">
                          <a:solidFill>
                            <a:srgbClr val="17262B"/>
                          </a:solidFill>
                          <a:latin typeface="Calibri" pitchFamily="34" charset="0"/>
                          <a:ea typeface="Calibri" pitchFamily="34" charset="-122"/>
                          <a:cs typeface="Calibri" pitchFamily="34" charset="-120"/>
                        </a:rPr>
                        <a:t>Venu</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800" dirty="0">
                          <a:solidFill>
                            <a:srgbClr val="17262B"/>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800" dirty="0">
                          <a:solidFill>
                            <a:srgbClr val="17262B"/>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800" dirty="0">
                          <a:solidFill>
                            <a:srgbClr val="17262B"/>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48640">
                <a:tc>
                  <a:txBody>
                    <a:bodyPr/>
                    <a:lstStyle/>
                    <a:p>
                      <a:pPr indent="0" marL="0">
                        <a:buNone/>
                      </a:pPr>
                      <a:r>
                        <a:rPr lang="en-US" sz="1800" b="1" dirty="0">
                          <a:solidFill>
                            <a:srgbClr val="17262B"/>
                          </a:solidFill>
                          <a:latin typeface="Calibri" pitchFamily="34" charset="0"/>
                          <a:ea typeface="Calibri" pitchFamily="34" charset="-122"/>
                          <a:cs typeface="Calibri" pitchFamily="34" charset="-120"/>
                        </a:rPr>
                        <a:t>Gowtham</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800" dirty="0">
                          <a:solidFill>
                            <a:srgbClr val="17262B"/>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800" b="1" dirty="0">
                          <a:solidFill>
                            <a:srgbClr val="2E7D32"/>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800" b="1" dirty="0">
                          <a:solidFill>
                            <a:srgbClr val="2E7D32"/>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48640">
                <a:tc>
                  <a:txBody>
                    <a:bodyPr/>
                    <a:lstStyle/>
                    <a:p>
                      <a:pPr indent="0" marL="0">
                        <a:buNone/>
                      </a:pPr>
                      <a:r>
                        <a:rPr lang="en-US" sz="1800" b="1" dirty="0">
                          <a:solidFill>
                            <a:srgbClr val="17262B"/>
                          </a:solidFill>
                          <a:latin typeface="Calibri" pitchFamily="34" charset="0"/>
                          <a:ea typeface="Calibri" pitchFamily="34" charset="-122"/>
                          <a:cs typeface="Calibri" pitchFamily="34" charset="-120"/>
                        </a:rPr>
                        <a:t>Bhuvan</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800" dirty="0">
                          <a:solidFill>
                            <a:srgbClr val="17262B"/>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800" dirty="0">
                          <a:solidFill>
                            <a:srgbClr val="17262B"/>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800" dirty="0">
                          <a:solidFill>
                            <a:srgbClr val="17262B"/>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48640">
                <a:tc>
                  <a:txBody>
                    <a:bodyPr/>
                    <a:lstStyle/>
                    <a:p>
                      <a:pPr indent="0" marL="0">
                        <a:buNone/>
                      </a:pPr>
                      <a:r>
                        <a:rPr lang="en-US" sz="1800" b="1" dirty="0">
                          <a:solidFill>
                            <a:srgbClr val="17262B"/>
                          </a:solidFill>
                          <a:latin typeface="Calibri" pitchFamily="34" charset="0"/>
                          <a:ea typeface="Calibri" pitchFamily="34" charset="-122"/>
                          <a:cs typeface="Calibri" pitchFamily="34" charset="-120"/>
                        </a:rPr>
                        <a:t>Team total</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800" b="1" dirty="0">
                          <a:solidFill>
                            <a:srgbClr val="17262B"/>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800" b="1" dirty="0">
                          <a:solidFill>
                            <a:srgbClr val="17262B"/>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800" b="1" dirty="0">
                          <a:solidFill>
                            <a:srgbClr val="17262B"/>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bl>
          </a:graphicData>
        </a:graphic>
      </p:graphicFrame>
      <p:sp>
        <p:nvSpPr>
          <p:cNvPr id="26" name="Text 22"/>
          <p:cNvSpPr/>
          <p:nvPr/>
        </p:nvSpPr>
        <p:spPr>
          <a:xfrm>
            <a:off x="548640" y="4297680"/>
            <a:ext cx="3200400" cy="777240"/>
          </a:xfrm>
          <a:prstGeom prst="rect">
            <a:avLst/>
          </a:prstGeom>
          <a:noFill/>
          <a:ln/>
        </p:spPr>
        <p:txBody>
          <a:bodyPr wrap="square" lIns="0" tIns="0" rIns="0" bIns="0" rtlCol="0" anchor="ctr"/>
          <a:lstStyle/>
          <a:p>
            <a:pPr indent="0" marL="0">
              <a:buNone/>
            </a:pPr>
            <a:r>
              <a:rPr lang="en-US" sz="4000" b="1" dirty="0">
                <a:solidFill>
                  <a:srgbClr val="1F5FAD"/>
                </a:solidFill>
                <a:latin typeface="Calibri" pitchFamily="34" charset="0"/>
                <a:ea typeface="Calibri" pitchFamily="34" charset="-122"/>
                <a:cs typeface="Calibri" pitchFamily="34" charset="-120"/>
              </a:rPr>
              <a:t>9</a:t>
            </a:r>
            <a:endParaRPr lang="en-US" sz="4000" dirty="0"/>
          </a:p>
        </p:txBody>
      </p:sp>
      <p:sp>
        <p:nvSpPr>
          <p:cNvPr id="27" name="Text 23"/>
          <p:cNvSpPr/>
          <p:nvPr/>
        </p:nvSpPr>
        <p:spPr>
          <a:xfrm>
            <a:off x="548640" y="5074920"/>
            <a:ext cx="320040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reports on pgsql-bugs / pgsql-hackers</a:t>
            </a:r>
            <a:endParaRPr lang="en-US" sz="1300" dirty="0"/>
          </a:p>
        </p:txBody>
      </p:sp>
      <p:sp>
        <p:nvSpPr>
          <p:cNvPr id="28" name="Text 24"/>
          <p:cNvSpPr/>
          <p:nvPr/>
        </p:nvSpPr>
        <p:spPr>
          <a:xfrm>
            <a:off x="4389120" y="4297680"/>
            <a:ext cx="3200400" cy="777240"/>
          </a:xfrm>
          <a:prstGeom prst="rect">
            <a:avLst/>
          </a:prstGeom>
          <a:noFill/>
          <a:ln/>
        </p:spPr>
        <p:txBody>
          <a:bodyPr wrap="square" lIns="0" tIns="0" rIns="0" bIns="0" rtlCol="0" anchor="ctr"/>
          <a:lstStyle/>
          <a:p>
            <a:pPr indent="0" marL="0">
              <a:buNone/>
            </a:pPr>
            <a:r>
              <a:rPr lang="en-US" sz="4000" b="1" dirty="0">
                <a:solidFill>
                  <a:srgbClr val="D9822B"/>
                </a:solidFill>
                <a:latin typeface="Calibri" pitchFamily="34" charset="0"/>
                <a:ea typeface="Calibri" pitchFamily="34" charset="-122"/>
                <a:cs typeface="Calibri" pitchFamily="34" charset="-120"/>
              </a:rPr>
              <a:t>4</a:t>
            </a:r>
            <a:endParaRPr lang="en-US" sz="4000" dirty="0"/>
          </a:p>
        </p:txBody>
      </p:sp>
      <p:sp>
        <p:nvSpPr>
          <p:cNvPr id="29" name="Text 25"/>
          <p:cNvSpPr/>
          <p:nvPr/>
        </p:nvSpPr>
        <p:spPr>
          <a:xfrm>
            <a:off x="4389120" y="5074920"/>
            <a:ext cx="320040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answered by committers or contributors</a:t>
            </a:r>
            <a:endParaRPr lang="en-US" sz="1300" dirty="0"/>
          </a:p>
        </p:txBody>
      </p:sp>
      <p:sp>
        <p:nvSpPr>
          <p:cNvPr id="30" name="Text 26"/>
          <p:cNvSpPr/>
          <p:nvPr/>
        </p:nvSpPr>
        <p:spPr>
          <a:xfrm>
            <a:off x="8229600" y="4297680"/>
            <a:ext cx="3200400" cy="777240"/>
          </a:xfrm>
          <a:prstGeom prst="rect">
            <a:avLst/>
          </a:prstGeom>
          <a:noFill/>
          <a:ln/>
        </p:spPr>
        <p:txBody>
          <a:bodyPr wrap="square" lIns="0" tIns="0" rIns="0" bIns="0" rtlCol="0" anchor="ctr"/>
          <a:lstStyle/>
          <a:p>
            <a:pPr indent="0" marL="0">
              <a:buNone/>
            </a:pPr>
            <a:r>
              <a:rPr lang="en-US" sz="4000" b="1" dirty="0">
                <a:solidFill>
                  <a:srgbClr val="2E7D32"/>
                </a:solidFill>
                <a:latin typeface="Calibri" pitchFamily="34" charset="0"/>
                <a:ea typeface="Calibri" pitchFamily="34" charset="-122"/>
                <a:cs typeface="Calibri" pitchFamily="34" charset="-120"/>
              </a:rPr>
              <a:t>2</a:t>
            </a:r>
            <a:endParaRPr lang="en-US" sz="4000" dirty="0"/>
          </a:p>
        </p:txBody>
      </p:sp>
      <p:sp>
        <p:nvSpPr>
          <p:cNvPr id="31" name="Text 27"/>
          <p:cNvSpPr/>
          <p:nvPr/>
        </p:nvSpPr>
        <p:spPr>
          <a:xfrm>
            <a:off x="8229600" y="5074920"/>
            <a:ext cx="320040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fixed on PostgreSQL master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1F5FAD"/>
          </a:solidFill>
          <a:ln w="6350">
            <a:solidFill>
              <a:srgbClr val="1F5FAD"/>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Bugs: Venu (2 filed)</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BUG-01 came from a campaign assertion; BUG-02 from an oracle. Both have patches and tests.</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651760"/>
                <a:gridCol w="1280160"/>
                <a:gridCol w="5029200"/>
                <a:gridCol w="2130552"/>
              </a:tblGrid>
              <a:tr h="9144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Bug</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Upstream</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is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914400">
                <a:tc>
                  <a:txBody>
                    <a:bodyPr/>
                    <a:lstStyle/>
                    <a:p>
                      <a:pPr indent="0" marL="0">
                        <a:buNone/>
                      </a:pPr>
                      <a:r>
                        <a:rPr lang="en-US" sz="1300" b="1" dirty="0">
                          <a:solidFill>
                            <a:srgbClr val="17262B"/>
                          </a:solidFill>
                          <a:latin typeface="Calibri" pitchFamily="34" charset="0"/>
                          <a:ea typeface="Calibri" pitchFamily="34" charset="-122"/>
                          <a:cs typeface="Calibri" pitchFamily="34" charset="-120"/>
                        </a:rPr>
                        <a:t>BUG-01 JSON_TABLE collations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#19768</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JSON_TABLE never assigns collations to its context item and PASSING arguments. Assertion in execExpr.c on master; silent wrong result on 18.6. One-line patch + tests.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b="1" dirty="0">
                          <a:solidFill>
                            <a:srgbClr val="D9822B"/>
                          </a:solidFill>
                          <a:latin typeface="Calibri" pitchFamily="34" charset="0"/>
                          <a:ea typeface="Calibri" pitchFamily="34" charset="-122"/>
                          <a:cs typeface="Calibri" pitchFamily="34" charset="-120"/>
                        </a:rPr>
                        <a:t>filed 16 Oct; no reply</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914400">
                <a:tc>
                  <a:txBody>
                    <a:bodyPr/>
                    <a:lstStyle/>
                    <a:p>
                      <a:pPr indent="0" marL="0">
                        <a:buNone/>
                      </a:pPr>
                      <a:r>
                        <a:rPr lang="en-US" sz="1300" b="1" dirty="0">
                          <a:solidFill>
                            <a:srgbClr val="17262B"/>
                          </a:solidFill>
                          <a:latin typeface="Calibri" pitchFamily="34" charset="0"/>
                          <a:ea typeface="Calibri" pitchFamily="34" charset="-122"/>
                          <a:cs typeface="Calibri" pitchFamily="34" charset="-120"/>
                        </a:rPr>
                        <a:t>BUG-02 range containment with NULL</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#19793</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Planner support function folds range @&gt; NULL element to a constant. Silent wrong result in released 17 and 18.</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b="1" dirty="0">
                          <a:solidFill>
                            <a:srgbClr val="D9822B"/>
                          </a:solidFill>
                          <a:latin typeface="Calibri" pitchFamily="34" charset="0"/>
                          <a:ea typeface="Calibri" pitchFamily="34" charset="-122"/>
                          <a:cs typeface="Calibri" pitchFamily="34" charset="-120"/>
                        </a:rPr>
                        <a:t>filed 23 Oct; patch sent; no reply</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1F5FAD"/>
          </a:solidFill>
          <a:ln w="6350">
            <a:solidFill>
              <a:srgbClr val="1F5FAD"/>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Bugs: Gowtham (3 filed, 3 answered, 2 fixed)</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Two of these came directly from the campaigns of this meeting's evaluation.</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651760"/>
                <a:gridCol w="1280160"/>
                <a:gridCol w="5029200"/>
                <a:gridCol w="2130552"/>
              </a:tblGrid>
              <a:tr h="9144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Bug</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Upstream</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is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914400">
                <a:tc>
                  <a:txBody>
                    <a:bodyPr/>
                    <a:lstStyle/>
                    <a:p>
                      <a:pPr indent="0" marL="0">
                        <a:buNone/>
                      </a:pPr>
                      <a:r>
                        <a:rPr lang="en-US" sz="1300" b="1" dirty="0">
                          <a:solidFill>
                            <a:srgbClr val="17262B"/>
                          </a:solidFill>
                          <a:latin typeface="Calibri" pitchFamily="34" charset="0"/>
                          <a:ea typeface="Calibri" pitchFamily="34" charset="-122"/>
                          <a:cs typeface="Calibri" pitchFamily="34" charset="-120"/>
                        </a:rPr>
                        <a:t>MERGE: SubPlan with no parent plan</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#19802</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MERGE into a partitioned table with a non-pulled-up source and a scalar subquery in UPDATE SET fails with an internal error.</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confirmed; fix posted</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914400">
                <a:tc>
                  <a:txBody>
                    <a:bodyPr/>
                    <a:lstStyle/>
                    <a:p>
                      <a:pPr indent="0" marL="0">
                        <a:buNone/>
                      </a:pPr>
                      <a:r>
                        <a:rPr lang="en-US" sz="1300" b="1" dirty="0">
                          <a:solidFill>
                            <a:srgbClr val="17262B"/>
                          </a:solidFill>
                          <a:latin typeface="Calibri" pitchFamily="34" charset="0"/>
                          <a:ea typeface="Calibri" pitchFamily="34" charset="-122"/>
                          <a:cs typeface="Calibri" pitchFamily="34" charset="-120"/>
                        </a:rPr>
                        <a:t>Parallel Append assertion</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#19803</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Assertion failure in a parallel Append plan, found through a TLP check by the LLM-fragment arm.</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confirmed; fixed (abda2a2c)</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914400">
                <a:tc>
                  <a:txBody>
                    <a:bodyPr/>
                    <a:lstStyle/>
                    <a:p>
                      <a:pPr indent="0" marL="0">
                        <a:buNone/>
                      </a:pPr>
                      <a:r>
                        <a:rPr lang="en-US" sz="1300" b="1" dirty="0">
                          <a:solidFill>
                            <a:srgbClr val="17262B"/>
                          </a:solidFill>
                          <a:latin typeface="Calibri" pitchFamily="34" charset="0"/>
                          <a:ea typeface="Calibri" pitchFamily="34" charset="-122"/>
                          <a:cs typeface="Calibri" pitchFamily="34" charset="-120"/>
                        </a:rPr>
                        <a:t>to_char NaN / NORMALIZE crash</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#19771</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to_char on NaN leads to an assertion in NORMALIZE; reduced by our tool to 27 tokens.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fix committed (776df8a6)</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1F5FAD"/>
          </a:solidFill>
          <a:ln w="6350">
            <a:solidFill>
              <a:srgbClr val="1F5FAD"/>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Bugs: Bhuvan (4 filed, 1 answered)</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Bhuvan's bugs come from auditing recent PostgreSQL code with differential probes, a second route to bugs next to the fuzzer.</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651760"/>
                <a:gridCol w="1280160"/>
                <a:gridCol w="5029200"/>
                <a:gridCol w="2130552"/>
              </a:tblGrid>
              <a:tr h="9144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Bug</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Upstream</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is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914400">
                <a:tc>
                  <a:txBody>
                    <a:bodyPr/>
                    <a:lstStyle/>
                    <a:p>
                      <a:pPr indent="0" marL="0">
                        <a:buNone/>
                      </a:pPr>
                      <a:r>
                        <a:rPr lang="en-US" sz="1300" b="1" dirty="0">
                          <a:solidFill>
                            <a:srgbClr val="17262B"/>
                          </a:solidFill>
                          <a:latin typeface="Calibri" pitchFamily="34" charset="0"/>
                          <a:ea typeface="Calibri" pitchFamily="34" charset="-122"/>
                          <a:cs typeface="Calibri" pitchFamily="34" charset="-120"/>
                        </a:rPr>
                        <a:t>AUDIT-F1 NOT IN anti-join cast</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pgsql-bugs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Wrong-result regression from commit 383eb21ebf: NOT IN becomes an anti-join and ignores an implicit cast. In 19rc1 and master, not 18.6. Patch + test.</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b="1" dirty="0">
                          <a:solidFill>
                            <a:srgbClr val="D9822B"/>
                          </a:solidFill>
                          <a:latin typeface="Calibri" pitchFamily="34" charset="0"/>
                          <a:ea typeface="Calibri" pitchFamily="34" charset="-122"/>
                          <a:cs typeface="Calibri" pitchFamily="34" charset="-120"/>
                        </a:rPr>
                        <a:t>filed 23 Oct</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914400">
                <a:tc>
                  <a:txBody>
                    <a:bodyPr/>
                    <a:lstStyle/>
                    <a:p>
                      <a:pPr indent="0" marL="0">
                        <a:buNone/>
                      </a:pPr>
                      <a:r>
                        <a:rPr lang="en-US" sz="1300" b="1" dirty="0">
                          <a:solidFill>
                            <a:srgbClr val="17262B"/>
                          </a:solidFill>
                          <a:latin typeface="Calibri" pitchFamily="34" charset="0"/>
                          <a:ea typeface="Calibri" pitchFamily="34" charset="-122"/>
                          <a:cs typeface="Calibri" pitchFamily="34" charset="-120"/>
                        </a:rPr>
                        <a:t>AUDIT-F2 IGNORE NULLS hang</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pgsql-bugs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Frame scan of window functions with IGNORE NULLS can hang.</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b="1" dirty="0">
                          <a:solidFill>
                            <a:srgbClr val="2E7D32"/>
                          </a:solidFill>
                          <a:latin typeface="Calibri" pitchFamily="34" charset="0"/>
                          <a:ea typeface="Calibri" pitchFamily="34" charset="-122"/>
                          <a:cs typeface="Calibri" pitchFamily="34" charset="-120"/>
                        </a:rPr>
                        <a:t>filed 23 Oct; Ishii replied</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914400">
                <a:tc>
                  <a:txBody>
                    <a:bodyPr/>
                    <a:lstStyle/>
                    <a:p>
                      <a:pPr indent="0" marL="0">
                        <a:buNone/>
                      </a:pPr>
                      <a:r>
                        <a:rPr lang="en-US" sz="1300" b="1" dirty="0">
                          <a:solidFill>
                            <a:srgbClr val="17262B"/>
                          </a:solidFill>
                          <a:latin typeface="Calibri" pitchFamily="34" charset="0"/>
                          <a:ea typeface="Calibri" pitchFamily="34" charset="-122"/>
                          <a:cs typeface="Calibri" pitchFamily="34" charset="-120"/>
                        </a:rPr>
                        <a:t>C-01 dependencies.c assertion</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pgsql-bugs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Duplicate expression in extended statistics trips an assertion. Reproducer + patch.</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300" b="1" dirty="0">
                          <a:solidFill>
                            <a:srgbClr val="D9822B"/>
                          </a:solidFill>
                          <a:latin typeface="Calibri" pitchFamily="34" charset="0"/>
                          <a:ea typeface="Calibri" pitchFamily="34" charset="-122"/>
                          <a:cs typeface="Calibri" pitchFamily="34" charset="-120"/>
                        </a:rPr>
                        <a:t>filed 27 Oct</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914400">
                <a:tc>
                  <a:txBody>
                    <a:bodyPr/>
                    <a:lstStyle/>
                    <a:p>
                      <a:pPr indent="0" marL="0">
                        <a:buNone/>
                      </a:pPr>
                      <a:r>
                        <a:rPr lang="en-US" sz="1300" b="1" dirty="0">
                          <a:solidFill>
                            <a:srgbClr val="17262B"/>
                          </a:solidFill>
                          <a:latin typeface="Calibri" pitchFamily="34" charset="0"/>
                          <a:ea typeface="Calibri" pitchFamily="34" charset="-122"/>
                          <a:cs typeface="Calibri" pitchFamily="34" charset="-120"/>
                        </a:rPr>
                        <a:t>Extended stats non-finite MCV</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pgsql-hackers</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dirty="0">
                          <a:solidFill>
                            <a:srgbClr val="17262B"/>
                          </a:solidFill>
                          <a:latin typeface="Calibri" pitchFamily="34" charset="0"/>
                          <a:ea typeface="Calibri" pitchFamily="34" charset="-122"/>
                          <a:cs typeface="Calibri" pitchFamily="34" charset="-120"/>
                        </a:rPr>
                        <a:t>pg_restore_extended_stats accepts non-finite MCV frequencies. Patch submitted.</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300" b="1" dirty="0">
                          <a:solidFill>
                            <a:srgbClr val="D9822B"/>
                          </a:solidFill>
                          <a:latin typeface="Calibri" pitchFamily="34" charset="0"/>
                          <a:ea typeface="Calibri" pitchFamily="34" charset="-122"/>
                          <a:cs typeface="Calibri" pitchFamily="34" charset="-120"/>
                        </a:rPr>
                        <a:t>patch under review</a:t>
                      </a:r>
                      <a:endParaRPr lang="en-US" sz="13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1F5FAD"/>
          </a:solidFill>
          <a:ln w="6350">
            <a:solidFill>
              <a:srgbClr val="1F5FAD"/>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Triage 1: every finding is reproduced, shrunk and localized</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Reduction gives the maintainers a small reproducer; the remaining question is how many findings were real.</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13</a:t>
            </a:r>
            <a:endParaRPr lang="en-US" sz="1000" dirty="0"/>
          </a:p>
        </p:txBody>
      </p:sp>
      <p:sp>
        <p:nvSpPr>
          <p:cNvPr id="25" name="Shape 22"/>
          <p:cNvSpPr/>
          <p:nvPr/>
        </p:nvSpPr>
        <p:spPr>
          <a:xfrm>
            <a:off x="568046" y="1335024"/>
            <a:ext cx="5630468" cy="3090672"/>
          </a:xfrm>
          <a:prstGeom prst="rect">
            <a:avLst/>
          </a:prstGeom>
          <a:solidFill>
            <a:srgbClr val="FFFFFF"/>
          </a:solidFill>
          <a:ln w="12700">
            <a:solidFill>
              <a:srgbClr val="C9D3DB"/>
            </a:solidFill>
            <a:prstDash val="solid"/>
          </a:ln>
        </p:spPr>
      </p:sp>
      <p:pic>
        <p:nvPicPr>
          <p:cNvPr id="26" name="Image 0" descr="/home/user/cs5187-term-project/docs/meeting2/deck/A3_triage.png">    </p:cNvPr>
          <p:cNvPicPr>
            <a:picLocks noChangeAspect="1"/>
          </p:cNvPicPr>
          <p:nvPr/>
        </p:nvPicPr>
        <p:blipFill>
          <a:blip r:embed="rId1"/>
          <a:stretch>
            <a:fillRect/>
          </a:stretch>
        </p:blipFill>
        <p:spPr>
          <a:xfrm>
            <a:off x="604622" y="1371600"/>
            <a:ext cx="5557316" cy="3017520"/>
          </a:xfrm>
          <a:prstGeom prst="rect">
            <a:avLst/>
          </a:prstGeom>
        </p:spPr>
      </p:pic>
      <p:sp>
        <p:nvSpPr>
          <p:cNvPr id="27" name="Text 23"/>
          <p:cNvSpPr/>
          <p:nvPr/>
        </p:nvSpPr>
        <p:spPr>
          <a:xfrm>
            <a:off x="548640" y="4462272"/>
            <a:ext cx="5669280"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pgfuzz triage on a real candidate</a:t>
            </a:r>
            <a:endParaRPr lang="en-US" sz="1100" dirty="0"/>
          </a:p>
        </p:txBody>
      </p:sp>
      <p:sp>
        <p:nvSpPr>
          <p:cNvPr id="28" name="Shape 24"/>
          <p:cNvSpPr/>
          <p:nvPr/>
        </p:nvSpPr>
        <p:spPr>
          <a:xfrm>
            <a:off x="6364224" y="1335024"/>
            <a:ext cx="5312664" cy="2231092"/>
          </a:xfrm>
          <a:prstGeom prst="rect">
            <a:avLst/>
          </a:prstGeom>
          <a:solidFill>
            <a:srgbClr val="FFFFFF"/>
          </a:solidFill>
          <a:ln w="12700">
            <a:solidFill>
              <a:srgbClr val="C9D3DB"/>
            </a:solidFill>
            <a:prstDash val="solid"/>
          </a:ln>
        </p:spPr>
      </p:sp>
      <p:pic>
        <p:nvPicPr>
          <p:cNvPr id="29" name="Image 1" descr="/home/user/cs5187-term-project/docs/meeting2/deck/A3_upstream_report.png">    </p:cNvPr>
          <p:cNvPicPr>
            <a:picLocks noChangeAspect="1"/>
          </p:cNvPicPr>
          <p:nvPr/>
        </p:nvPicPr>
        <p:blipFill>
          <a:blip r:embed="rId2"/>
          <a:stretch>
            <a:fillRect/>
          </a:stretch>
        </p:blipFill>
        <p:spPr>
          <a:xfrm>
            <a:off x="6400800" y="1371600"/>
            <a:ext cx="5239512" cy="2157940"/>
          </a:xfrm>
          <a:prstGeom prst="rect">
            <a:avLst/>
          </a:prstGeom>
        </p:spPr>
      </p:pic>
      <p:sp>
        <p:nvSpPr>
          <p:cNvPr id="30" name="Text 25"/>
          <p:cNvSpPr/>
          <p:nvPr/>
        </p:nvSpPr>
        <p:spPr>
          <a:xfrm>
            <a:off x="6400800" y="3602692"/>
            <a:ext cx="5239512"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generated upstream report draft</a:t>
            </a:r>
            <a:endParaRPr lang="en-US" sz="1100" dirty="0"/>
          </a:p>
        </p:txBody>
      </p:sp>
      <p:sp>
        <p:nvSpPr>
          <p:cNvPr id="31" name="Text 26"/>
          <p:cNvSpPr/>
          <p:nvPr/>
        </p:nvSpPr>
        <p:spPr>
          <a:xfrm>
            <a:off x="548640" y="4572000"/>
            <a:ext cx="3291840" cy="777240"/>
          </a:xfrm>
          <a:prstGeom prst="rect">
            <a:avLst/>
          </a:prstGeom>
          <a:noFill/>
          <a:ln/>
        </p:spPr>
        <p:txBody>
          <a:bodyPr wrap="square" lIns="0" tIns="0" rIns="0" bIns="0" rtlCol="0" anchor="ctr"/>
          <a:lstStyle/>
          <a:p>
            <a:pPr indent="0" marL="0">
              <a:buNone/>
            </a:pPr>
            <a:r>
              <a:rPr lang="en-US" sz="4000" b="1" dirty="0">
                <a:solidFill>
                  <a:srgbClr val="2E7D32"/>
                </a:solidFill>
                <a:latin typeface="Calibri" pitchFamily="34" charset="0"/>
                <a:ea typeface="Calibri" pitchFamily="34" charset="-122"/>
                <a:cs typeface="Calibri" pitchFamily="34" charset="-120"/>
              </a:rPr>
              <a:t>590 → 79</a:t>
            </a:r>
            <a:endParaRPr lang="en-US" sz="4000" dirty="0"/>
          </a:p>
        </p:txBody>
      </p:sp>
      <p:sp>
        <p:nvSpPr>
          <p:cNvPr id="32" name="Text 27"/>
          <p:cNvSpPr/>
          <p:nvPr/>
        </p:nvSpPr>
        <p:spPr>
          <a:xfrm>
            <a:off x="548640" y="5349240"/>
            <a:ext cx="329184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tokens after tree + token reduction of the BUG-01 case (tokens alone: 116)</a:t>
            </a:r>
            <a:endParaRPr lang="en-US" sz="1300" dirty="0"/>
          </a:p>
        </p:txBody>
      </p:sp>
      <p:sp>
        <p:nvSpPr>
          <p:cNvPr id="33" name="Text 28"/>
          <p:cNvSpPr/>
          <p:nvPr/>
        </p:nvSpPr>
        <p:spPr>
          <a:xfrm>
            <a:off x="4389120" y="4572000"/>
            <a:ext cx="3291840" cy="777240"/>
          </a:xfrm>
          <a:prstGeom prst="rect">
            <a:avLst/>
          </a:prstGeom>
          <a:noFill/>
          <a:ln/>
        </p:spPr>
        <p:txBody>
          <a:bodyPr wrap="square" lIns="0" tIns="0" rIns="0" bIns="0" rtlCol="0" anchor="ctr"/>
          <a:lstStyle/>
          <a:p>
            <a:pPr indent="0" marL="0">
              <a:buNone/>
            </a:pPr>
            <a:r>
              <a:rPr lang="en-US" sz="4000" b="1" dirty="0">
                <a:solidFill>
                  <a:srgbClr val="1F5FAD"/>
                </a:solidFill>
                <a:latin typeface="Calibri" pitchFamily="34" charset="0"/>
                <a:ea typeface="Calibri" pitchFamily="34" charset="-122"/>
                <a:cs typeface="Calibri" pitchFamily="34" charset="-120"/>
              </a:rPr>
              <a:t>x3</a:t>
            </a:r>
            <a:endParaRPr lang="en-US" sz="4000" dirty="0"/>
          </a:p>
        </p:txBody>
      </p:sp>
      <p:sp>
        <p:nvSpPr>
          <p:cNvPr id="34" name="Text 29"/>
          <p:cNvSpPr/>
          <p:nvPr/>
        </p:nvSpPr>
        <p:spPr>
          <a:xfrm>
            <a:off x="4389120" y="5349240"/>
            <a:ext cx="329184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reproduced three times on a fresh connection</a:t>
            </a:r>
            <a:endParaRPr lang="en-US" sz="1300" dirty="0"/>
          </a:p>
        </p:txBody>
      </p:sp>
      <p:sp>
        <p:nvSpPr>
          <p:cNvPr id="35" name="Text 30"/>
          <p:cNvSpPr/>
          <p:nvPr/>
        </p:nvSpPr>
        <p:spPr>
          <a:xfrm>
            <a:off x="8229600" y="4572000"/>
            <a:ext cx="3291840" cy="777240"/>
          </a:xfrm>
          <a:prstGeom prst="rect">
            <a:avLst/>
          </a:prstGeom>
          <a:noFill/>
          <a:ln/>
        </p:spPr>
        <p:txBody>
          <a:bodyPr wrap="square" lIns="0" tIns="0" rIns="0" bIns="0" rtlCol="0" anchor="ctr"/>
          <a:lstStyle/>
          <a:p>
            <a:pPr indent="0" marL="0">
              <a:buNone/>
            </a:pPr>
            <a:r>
              <a:rPr lang="en-US" sz="4000" b="1" dirty="0">
                <a:solidFill>
                  <a:srgbClr val="D9822B"/>
                </a:solidFill>
                <a:latin typeface="Calibri" pitchFamily="34" charset="0"/>
                <a:ea typeface="Calibri" pitchFamily="34" charset="-122"/>
                <a:cs typeface="Calibri" pitchFamily="34" charset="-120"/>
              </a:rPr>
              <a:t>localized</a:t>
            </a:r>
            <a:endParaRPr lang="en-US" sz="4000" dirty="0"/>
          </a:p>
        </p:txBody>
      </p:sp>
      <p:sp>
        <p:nvSpPr>
          <p:cNvPr id="36" name="Text 31"/>
          <p:cNvSpPr/>
          <p:nvPr/>
        </p:nvSpPr>
        <p:spPr>
          <a:xfrm>
            <a:off x="8229600" y="5349240"/>
            <a:ext cx="329184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variant removes it: planner path; none: always-applied rewrite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1F5FAD"/>
          </a:solidFill>
          <a:ln w="6350">
            <a:solidFill>
              <a:srgbClr val="1F5FAD"/>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Triage 2: the price of strong oracles is false positives</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Precision turned out to be the limiting factor, not generator power. This shaped the rest of the work.</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3840480"/>
                <a:gridCol w="1097280"/>
              </a:tblGrid>
              <a:tr h="42062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Count</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420624">
                <a:tc>
                  <a:txBody>
                    <a:bodyPr/>
                    <a:lstStyle/>
                    <a:p>
                      <a:pPr indent="0" marL="0">
                        <a:buNone/>
                      </a:pPr>
                      <a:r>
                        <a:rPr lang="en-US" sz="1400" b="1" dirty="0">
                          <a:solidFill>
                            <a:srgbClr val="2E7D32"/>
                          </a:solidFill>
                          <a:latin typeface="Calibri" pitchFamily="34" charset="0"/>
                          <a:ea typeface="Calibri" pitchFamily="34" charset="-122"/>
                          <a:cs typeface="Calibri" pitchFamily="34" charset="-120"/>
                        </a:rPr>
                        <a:t>real, new</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duplicate of a real upstream bug</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420624">
                <a:tc>
                  <a:txBody>
                    <a:bodyPr/>
                    <a:lstStyle/>
                    <a:p>
                      <a:pPr indent="0" marL="0">
                        <a:buNone/>
                      </a:pPr>
                      <a:r>
                        <a:rPr lang="en-US" sz="1400" b="1" dirty="0">
                          <a:solidFill>
                            <a:srgbClr val="C62828"/>
                          </a:solidFill>
                          <a:latin typeface="Calibri" pitchFamily="34" charset="0"/>
                          <a:ea typeface="Calibri" pitchFamily="34" charset="-122"/>
                          <a:cs typeface="Calibri" pitchFamily="34" charset="-120"/>
                        </a:rPr>
                        <a:t>false positive</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flaky (not reproducible x3)</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420624">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open, to verify</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bl>
          </a:graphicData>
        </a:graphic>
      </p:graphicFrame>
      <p:sp>
        <p:nvSpPr>
          <p:cNvPr id="26" name="Text 22"/>
          <p:cNvSpPr/>
          <p:nvPr/>
        </p:nvSpPr>
        <p:spPr>
          <a:xfrm>
            <a:off x="548640" y="4114800"/>
            <a:ext cx="2377440" cy="777240"/>
          </a:xfrm>
          <a:prstGeom prst="rect">
            <a:avLst/>
          </a:prstGeom>
          <a:noFill/>
          <a:ln/>
        </p:spPr>
        <p:txBody>
          <a:bodyPr wrap="square" lIns="0" tIns="0" rIns="0" bIns="0" rtlCol="0" anchor="ctr"/>
          <a:lstStyle/>
          <a:p>
            <a:pPr indent="0" marL="0">
              <a:buNone/>
            </a:pPr>
            <a:r>
              <a:rPr lang="en-US" sz="4000" b="1" dirty="0">
                <a:solidFill>
                  <a:srgbClr val="1F5FAD"/>
                </a:solidFill>
                <a:latin typeface="Calibri" pitchFamily="34" charset="0"/>
                <a:ea typeface="Calibri" pitchFamily="34" charset="-122"/>
                <a:cs typeface="Calibri" pitchFamily="34" charset="-120"/>
              </a:rPr>
              <a:t>0.16</a:t>
            </a:r>
            <a:endParaRPr lang="en-US" sz="4000" dirty="0"/>
          </a:p>
        </p:txBody>
      </p:sp>
      <p:sp>
        <p:nvSpPr>
          <p:cNvPr id="27" name="Text 23"/>
          <p:cNvSpPr/>
          <p:nvPr/>
        </p:nvSpPr>
        <p:spPr>
          <a:xfrm>
            <a:off x="548640" y="4892040"/>
            <a:ext cx="237744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precision, duplicates not counted</a:t>
            </a:r>
            <a:endParaRPr lang="en-US" sz="1300" dirty="0"/>
          </a:p>
        </p:txBody>
      </p:sp>
      <p:sp>
        <p:nvSpPr>
          <p:cNvPr id="28" name="Text 24"/>
          <p:cNvSpPr/>
          <p:nvPr/>
        </p:nvSpPr>
        <p:spPr>
          <a:xfrm>
            <a:off x="3200400" y="4114800"/>
            <a:ext cx="2377440" cy="777240"/>
          </a:xfrm>
          <a:prstGeom prst="rect">
            <a:avLst/>
          </a:prstGeom>
          <a:noFill/>
          <a:ln/>
        </p:spPr>
        <p:txBody>
          <a:bodyPr wrap="square" lIns="0" tIns="0" rIns="0" bIns="0" rtlCol="0" anchor="ctr"/>
          <a:lstStyle/>
          <a:p>
            <a:pPr indent="0" marL="0">
              <a:buNone/>
            </a:pPr>
            <a:r>
              <a:rPr lang="en-US" sz="4000" b="1" dirty="0">
                <a:solidFill>
                  <a:srgbClr val="2E7D32"/>
                </a:solidFill>
                <a:latin typeface="Calibri" pitchFamily="34" charset="0"/>
                <a:ea typeface="Calibri" pitchFamily="34" charset="-122"/>
                <a:cs typeface="Calibri" pitchFamily="34" charset="-120"/>
              </a:rPr>
              <a:t>0.37</a:t>
            </a:r>
            <a:endParaRPr lang="en-US" sz="4000" dirty="0"/>
          </a:p>
        </p:txBody>
      </p:sp>
      <p:sp>
        <p:nvSpPr>
          <p:cNvPr id="29" name="Text 25"/>
          <p:cNvSpPr/>
          <p:nvPr/>
        </p:nvSpPr>
        <p:spPr>
          <a:xfrm>
            <a:off x="3200400" y="4892040"/>
            <a:ext cx="237744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if duplicates count</a:t>
            </a:r>
            <a:endParaRPr lang="en-US" sz="1300" dirty="0"/>
          </a:p>
        </p:txBody>
      </p:sp>
      <p:sp>
        <p:nvSpPr>
          <p:cNvPr id="30" name="Shape 26"/>
          <p:cNvSpPr/>
          <p:nvPr/>
        </p:nvSpPr>
        <p:spPr>
          <a:xfrm>
            <a:off x="6400800" y="1371600"/>
            <a:ext cx="5239512" cy="4297680"/>
          </a:xfrm>
          <a:prstGeom prst="rect">
            <a:avLst/>
          </a:prstGeom>
          <a:solidFill>
            <a:srgbClr val="EEF3F8"/>
          </a:solidFill>
          <a:ln w="12700">
            <a:solidFill>
              <a:srgbClr val="EEF3F8"/>
            </a:solidFill>
            <a:prstDash val="solid"/>
          </a:ln>
        </p:spPr>
      </p:sp>
      <p:sp>
        <p:nvSpPr>
          <p:cNvPr id="31" name="Shape 27"/>
          <p:cNvSpPr/>
          <p:nvPr/>
        </p:nvSpPr>
        <p:spPr>
          <a:xfrm>
            <a:off x="6400800" y="1371600"/>
            <a:ext cx="64008" cy="4297680"/>
          </a:xfrm>
          <a:prstGeom prst="rect">
            <a:avLst/>
          </a:prstGeom>
          <a:solidFill>
            <a:srgbClr val="1F5FAD"/>
          </a:solidFill>
          <a:ln w="12700">
            <a:solidFill>
              <a:srgbClr val="1F5FAD"/>
            </a:solidFill>
            <a:prstDash val="solid"/>
          </a:ln>
        </p:spPr>
      </p:sp>
      <p:sp>
        <p:nvSpPr>
          <p:cNvPr id="32" name="Text 28"/>
          <p:cNvSpPr/>
          <p:nvPr/>
        </p:nvSpPr>
        <p:spPr>
          <a:xfrm>
            <a:off x="6629400" y="1444752"/>
            <a:ext cx="4873752" cy="411480"/>
          </a:xfrm>
          <a:prstGeom prst="rect">
            <a:avLst/>
          </a:prstGeom>
          <a:noFill/>
          <a:ln/>
        </p:spPr>
        <p:txBody>
          <a:bodyPr wrap="square" lIns="0" tIns="0" rIns="0" bIns="0" rtlCol="0" anchor="ctr"/>
          <a:lstStyle/>
          <a:p>
            <a:pPr indent="0" marL="0">
              <a:buNone/>
            </a:pPr>
            <a:r>
              <a:rPr lang="en-US" sz="1700" b="1" dirty="0">
                <a:solidFill>
                  <a:srgbClr val="1F5FAD"/>
                </a:solidFill>
                <a:latin typeface="Calibri" pitchFamily="34" charset="0"/>
                <a:ea typeface="Calibri" pitchFamily="34" charset="-122"/>
                <a:cs typeface="Calibri" pitchFamily="34" charset="-120"/>
              </a:rPr>
              <a:t>10 false-positive classes, all fixed with tests</a:t>
            </a:r>
            <a:endParaRPr lang="en-US" sz="1700" dirty="0"/>
          </a:p>
        </p:txBody>
      </p:sp>
      <p:sp>
        <p:nvSpPr>
          <p:cNvPr id="33" name="Text 29"/>
          <p:cNvSpPr/>
          <p:nvPr/>
        </p:nvSpPr>
        <p:spPr>
          <a:xfrm>
            <a:off x="6629400" y="1874520"/>
            <a:ext cx="4873752" cy="3730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6 during development (ARRAY(SELECT), TLP-HAVING, numeric scale, seed clock, PoC replay, an intended change)</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Equal intervals printed differently: 16 candidates</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ORDER BY NULL in ordered aggregates: 2</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Cross-version state divergence: 5</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LLM rewrite that changed the collation: 1</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1F5FAD"/>
          </a:solidFill>
          <a:ln w="6350">
            <a:solidFill>
              <a:srgbClr val="1F5FAD"/>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LLM: proposals only count if the server agrees</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The gate worked as a filter but the model was modest; the next chapter measures what it added.</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15</a:t>
            </a:r>
            <a:endParaRPr lang="en-US" sz="1000" dirty="0"/>
          </a:p>
        </p:txBody>
      </p:sp>
      <p:sp>
        <p:nvSpPr>
          <p:cNvPr id="25" name="Shape 22"/>
          <p:cNvSpPr/>
          <p:nvPr/>
        </p:nvSpPr>
        <p:spPr>
          <a:xfrm>
            <a:off x="548640" y="1371600"/>
            <a:ext cx="1874520" cy="685800"/>
          </a:xfrm>
          <a:prstGeom prst="roundRect">
            <a:avLst>
              <a:gd name="adj" fmla="val 10667"/>
            </a:avLst>
          </a:prstGeom>
          <a:solidFill>
            <a:srgbClr val="EEF3F8"/>
          </a:solidFill>
          <a:ln w="12700">
            <a:solidFill>
              <a:srgbClr val="1F5FAD"/>
            </a:solidFill>
            <a:prstDash val="solid"/>
          </a:ln>
        </p:spPr>
      </p:sp>
      <p:sp>
        <p:nvSpPr>
          <p:cNvPr id="26" name="Text 23"/>
          <p:cNvSpPr/>
          <p:nvPr/>
        </p:nvSpPr>
        <p:spPr>
          <a:xfrm>
            <a:off x="548640" y="1371600"/>
            <a:ext cx="1874520" cy="685800"/>
          </a:xfrm>
          <a:prstGeom prst="rect">
            <a:avLst/>
          </a:prstGeom>
          <a:noFill/>
          <a:ln/>
        </p:spPr>
        <p:txBody>
          <a:bodyPr wrap="square" rtlCol="0" anchor="ctr"/>
          <a:lstStyle/>
          <a:p>
            <a:pPr algn="ctr" indent="0" marL="0">
              <a:buNone/>
            </a:pPr>
            <a:r>
              <a:rPr lang="en-US" sz="1400" b="1" dirty="0">
                <a:solidFill>
                  <a:srgbClr val="1F5FAD"/>
                </a:solidFill>
                <a:latin typeface="Calibri" pitchFamily="34" charset="0"/>
                <a:ea typeface="Calibri" pitchFamily="34" charset="-122"/>
                <a:cs typeface="Calibri" pitchFamily="34" charset="-120"/>
              </a:rPr>
              <a:t>Mine commits</a:t>
            </a:r>
            <a:endParaRPr lang="en-US" sz="1400" dirty="0"/>
          </a:p>
        </p:txBody>
      </p:sp>
      <p:sp>
        <p:nvSpPr>
          <p:cNvPr id="27" name="Shape 24"/>
          <p:cNvSpPr/>
          <p:nvPr/>
        </p:nvSpPr>
        <p:spPr>
          <a:xfrm>
            <a:off x="2441448" y="1714500"/>
            <a:ext cx="393878" cy="0"/>
          </a:xfrm>
          <a:prstGeom prst="line">
            <a:avLst/>
          </a:prstGeom>
          <a:noFill/>
          <a:ln w="19050">
            <a:solidFill>
              <a:srgbClr val="1F5FAD"/>
            </a:solidFill>
            <a:prstDash val="solid"/>
            <a:tailEnd type="triangle"/>
          </a:ln>
        </p:spPr>
      </p:sp>
      <p:sp>
        <p:nvSpPr>
          <p:cNvPr id="28" name="Shape 25"/>
          <p:cNvSpPr/>
          <p:nvPr/>
        </p:nvSpPr>
        <p:spPr>
          <a:xfrm>
            <a:off x="2853614" y="1371600"/>
            <a:ext cx="1874520" cy="685800"/>
          </a:xfrm>
          <a:prstGeom prst="roundRect">
            <a:avLst>
              <a:gd name="adj" fmla="val 10667"/>
            </a:avLst>
          </a:prstGeom>
          <a:solidFill>
            <a:srgbClr val="EEF3F8"/>
          </a:solidFill>
          <a:ln w="12700">
            <a:solidFill>
              <a:srgbClr val="1F5FAD"/>
            </a:solidFill>
            <a:prstDash val="solid"/>
          </a:ln>
        </p:spPr>
      </p:sp>
      <p:sp>
        <p:nvSpPr>
          <p:cNvPr id="29" name="Text 26"/>
          <p:cNvSpPr/>
          <p:nvPr/>
        </p:nvSpPr>
        <p:spPr>
          <a:xfrm>
            <a:off x="2853614" y="1371600"/>
            <a:ext cx="1874520" cy="685800"/>
          </a:xfrm>
          <a:prstGeom prst="rect">
            <a:avLst/>
          </a:prstGeom>
          <a:noFill/>
          <a:ln/>
        </p:spPr>
        <p:txBody>
          <a:bodyPr wrap="square" rtlCol="0" anchor="ctr"/>
          <a:lstStyle/>
          <a:p>
            <a:pPr algn="ctr" indent="0" marL="0">
              <a:buNone/>
            </a:pPr>
            <a:r>
              <a:rPr lang="en-US" sz="1400" b="1" dirty="0">
                <a:solidFill>
                  <a:srgbClr val="1F5FAD"/>
                </a:solidFill>
                <a:latin typeface="Calibri" pitchFamily="34" charset="0"/>
                <a:ea typeface="Calibri" pitchFamily="34" charset="-122"/>
                <a:cs typeface="Calibri" pitchFamily="34" charset="-120"/>
              </a:rPr>
              <a:t>LLM proposes</a:t>
            </a:r>
            <a:endParaRPr lang="en-US" sz="1400" dirty="0"/>
          </a:p>
        </p:txBody>
      </p:sp>
      <p:sp>
        <p:nvSpPr>
          <p:cNvPr id="30" name="Shape 27"/>
          <p:cNvSpPr/>
          <p:nvPr/>
        </p:nvSpPr>
        <p:spPr>
          <a:xfrm>
            <a:off x="4746422" y="1714500"/>
            <a:ext cx="393878" cy="0"/>
          </a:xfrm>
          <a:prstGeom prst="line">
            <a:avLst/>
          </a:prstGeom>
          <a:noFill/>
          <a:ln w="19050">
            <a:solidFill>
              <a:srgbClr val="1F5FAD"/>
            </a:solidFill>
            <a:prstDash val="solid"/>
            <a:tailEnd type="triangle"/>
          </a:ln>
        </p:spPr>
      </p:sp>
      <p:sp>
        <p:nvSpPr>
          <p:cNvPr id="31" name="Shape 28"/>
          <p:cNvSpPr/>
          <p:nvPr/>
        </p:nvSpPr>
        <p:spPr>
          <a:xfrm>
            <a:off x="5158588" y="1371600"/>
            <a:ext cx="1874520" cy="685800"/>
          </a:xfrm>
          <a:prstGeom prst="roundRect">
            <a:avLst>
              <a:gd name="adj" fmla="val 10667"/>
            </a:avLst>
          </a:prstGeom>
          <a:solidFill>
            <a:srgbClr val="2E7D32"/>
          </a:solidFill>
          <a:ln w="12700">
            <a:solidFill>
              <a:srgbClr val="1F5FAD"/>
            </a:solidFill>
            <a:prstDash val="solid"/>
          </a:ln>
        </p:spPr>
      </p:sp>
      <p:sp>
        <p:nvSpPr>
          <p:cNvPr id="32" name="Text 29"/>
          <p:cNvSpPr/>
          <p:nvPr/>
        </p:nvSpPr>
        <p:spPr>
          <a:xfrm>
            <a:off x="5158588" y="1371600"/>
            <a:ext cx="1874520" cy="6858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Gate on server</a:t>
            </a:r>
            <a:endParaRPr lang="en-US" sz="1400" dirty="0"/>
          </a:p>
        </p:txBody>
      </p:sp>
      <p:sp>
        <p:nvSpPr>
          <p:cNvPr id="33" name="Shape 30"/>
          <p:cNvSpPr/>
          <p:nvPr/>
        </p:nvSpPr>
        <p:spPr>
          <a:xfrm>
            <a:off x="7051396" y="1714500"/>
            <a:ext cx="393878" cy="0"/>
          </a:xfrm>
          <a:prstGeom prst="line">
            <a:avLst/>
          </a:prstGeom>
          <a:noFill/>
          <a:ln w="19050">
            <a:solidFill>
              <a:srgbClr val="1F5FAD"/>
            </a:solidFill>
            <a:prstDash val="solid"/>
            <a:tailEnd type="triangle"/>
          </a:ln>
        </p:spPr>
      </p:sp>
      <p:sp>
        <p:nvSpPr>
          <p:cNvPr id="34" name="Shape 31"/>
          <p:cNvSpPr/>
          <p:nvPr/>
        </p:nvSpPr>
        <p:spPr>
          <a:xfrm>
            <a:off x="7463561" y="1371600"/>
            <a:ext cx="1874520" cy="685800"/>
          </a:xfrm>
          <a:prstGeom prst="roundRect">
            <a:avLst>
              <a:gd name="adj" fmla="val 10667"/>
            </a:avLst>
          </a:prstGeom>
          <a:solidFill>
            <a:srgbClr val="EEF3F8"/>
          </a:solidFill>
          <a:ln w="12700">
            <a:solidFill>
              <a:srgbClr val="1F5FAD"/>
            </a:solidFill>
            <a:prstDash val="solid"/>
          </a:ln>
        </p:spPr>
      </p:sp>
      <p:sp>
        <p:nvSpPr>
          <p:cNvPr id="35" name="Text 32"/>
          <p:cNvSpPr/>
          <p:nvPr/>
        </p:nvSpPr>
        <p:spPr>
          <a:xfrm>
            <a:off x="7463561" y="1371600"/>
            <a:ext cx="1874520" cy="685800"/>
          </a:xfrm>
          <a:prstGeom prst="rect">
            <a:avLst/>
          </a:prstGeom>
          <a:noFill/>
          <a:ln/>
        </p:spPr>
        <p:txBody>
          <a:bodyPr wrap="square" rtlCol="0" anchor="ctr"/>
          <a:lstStyle/>
          <a:p>
            <a:pPr algn="ctr" indent="0" marL="0">
              <a:buNone/>
            </a:pPr>
            <a:r>
              <a:rPr lang="en-US" sz="1400" b="1" dirty="0">
                <a:solidFill>
                  <a:srgbClr val="1F5FAD"/>
                </a:solidFill>
                <a:latin typeface="Calibri" pitchFamily="34" charset="0"/>
                <a:ea typeface="Calibri" pitchFamily="34" charset="-122"/>
                <a:cs typeface="Calibri" pitchFamily="34" charset="-120"/>
              </a:rPr>
              <a:t>Repair (max 3)</a:t>
            </a:r>
            <a:endParaRPr lang="en-US" sz="1400" dirty="0"/>
          </a:p>
        </p:txBody>
      </p:sp>
      <p:sp>
        <p:nvSpPr>
          <p:cNvPr id="36" name="Shape 33"/>
          <p:cNvSpPr/>
          <p:nvPr/>
        </p:nvSpPr>
        <p:spPr>
          <a:xfrm>
            <a:off x="9356369" y="1714500"/>
            <a:ext cx="393878" cy="0"/>
          </a:xfrm>
          <a:prstGeom prst="line">
            <a:avLst/>
          </a:prstGeom>
          <a:noFill/>
          <a:ln w="19050">
            <a:solidFill>
              <a:srgbClr val="1F5FAD"/>
            </a:solidFill>
            <a:prstDash val="solid"/>
            <a:tailEnd type="triangle"/>
          </a:ln>
        </p:spPr>
      </p:sp>
      <p:sp>
        <p:nvSpPr>
          <p:cNvPr id="37" name="Shape 34"/>
          <p:cNvSpPr/>
          <p:nvPr/>
        </p:nvSpPr>
        <p:spPr>
          <a:xfrm>
            <a:off x="9768535" y="1371600"/>
            <a:ext cx="1874520" cy="685800"/>
          </a:xfrm>
          <a:prstGeom prst="roundRect">
            <a:avLst>
              <a:gd name="adj" fmla="val 10667"/>
            </a:avLst>
          </a:prstGeom>
          <a:solidFill>
            <a:srgbClr val="EEF3F8"/>
          </a:solidFill>
          <a:ln w="12700">
            <a:solidFill>
              <a:srgbClr val="1F5FAD"/>
            </a:solidFill>
            <a:prstDash val="solid"/>
          </a:ln>
        </p:spPr>
      </p:sp>
      <p:sp>
        <p:nvSpPr>
          <p:cNvPr id="38" name="Text 35"/>
          <p:cNvSpPr/>
          <p:nvPr/>
        </p:nvSpPr>
        <p:spPr>
          <a:xfrm>
            <a:off x="9768535" y="1371600"/>
            <a:ext cx="1874520" cy="685800"/>
          </a:xfrm>
          <a:prstGeom prst="rect">
            <a:avLst/>
          </a:prstGeom>
          <a:noFill/>
          <a:ln/>
        </p:spPr>
        <p:txBody>
          <a:bodyPr wrap="square" rtlCol="0" anchor="ctr"/>
          <a:lstStyle/>
          <a:p>
            <a:pPr algn="ctr" indent="0" marL="0">
              <a:buNone/>
            </a:pPr>
            <a:r>
              <a:rPr lang="en-US" sz="1400" b="1" dirty="0">
                <a:solidFill>
                  <a:srgbClr val="1F5FAD"/>
                </a:solidFill>
                <a:latin typeface="Calibri" pitchFamily="34" charset="0"/>
                <a:ea typeface="Calibri" pitchFamily="34" charset="-122"/>
                <a:cs typeface="Calibri" pitchFamily="34" charset="-120"/>
              </a:rPr>
              <a:t>Enters the campaign</a:t>
            </a:r>
            <a:endParaRPr lang="en-US" sz="1400" dirty="0"/>
          </a:p>
        </p:txBody>
      </p:sp>
      <p:sp>
        <p:nvSpPr>
          <p:cNvPr id="39" name="Shape 36"/>
          <p:cNvSpPr/>
          <p:nvPr/>
        </p:nvSpPr>
        <p:spPr>
          <a:xfrm>
            <a:off x="512064" y="2295144"/>
            <a:ext cx="4096512" cy="2826327"/>
          </a:xfrm>
          <a:prstGeom prst="rect">
            <a:avLst/>
          </a:prstGeom>
          <a:solidFill>
            <a:srgbClr val="FFFFFF"/>
          </a:solidFill>
          <a:ln w="12700">
            <a:solidFill>
              <a:srgbClr val="C9D3DB"/>
            </a:solidFill>
            <a:prstDash val="solid"/>
          </a:ln>
        </p:spPr>
      </p:sp>
      <p:pic>
        <p:nvPicPr>
          <p:cNvPr id="40" name="Image 0" descr="/home/user/cs5187-term-project/docs/meeting2/deck/B2_extend_tail.png">    </p:cNvPr>
          <p:cNvPicPr>
            <a:picLocks noChangeAspect="1"/>
          </p:cNvPicPr>
          <p:nvPr/>
        </p:nvPicPr>
        <p:blipFill>
          <a:blip r:embed="rId1"/>
          <a:stretch>
            <a:fillRect/>
          </a:stretch>
        </p:blipFill>
        <p:spPr>
          <a:xfrm>
            <a:off x="548640" y="2331720"/>
            <a:ext cx="4023360" cy="2753175"/>
          </a:xfrm>
          <a:prstGeom prst="rect">
            <a:avLst/>
          </a:prstGeom>
        </p:spPr>
      </p:pic>
      <p:sp>
        <p:nvSpPr>
          <p:cNvPr id="41" name="Text 37"/>
          <p:cNvSpPr/>
          <p:nvPr/>
        </p:nvSpPr>
        <p:spPr>
          <a:xfrm>
            <a:off x="548640" y="5158047"/>
            <a:ext cx="4023360"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commit-directed run (Gemini Flash)</a:t>
            </a:r>
            <a:endParaRPr lang="en-US" sz="1100" dirty="0"/>
          </a:p>
        </p:txBody>
      </p:sp>
      <p:sp>
        <p:nvSpPr>
          <p:cNvPr id="42" name="Shape 38"/>
          <p:cNvSpPr/>
          <p:nvPr/>
        </p:nvSpPr>
        <p:spPr>
          <a:xfrm>
            <a:off x="4846320" y="2331720"/>
            <a:ext cx="3383280" cy="3337560"/>
          </a:xfrm>
          <a:prstGeom prst="rect">
            <a:avLst/>
          </a:prstGeom>
          <a:solidFill>
            <a:srgbClr val="EEF3F8"/>
          </a:solidFill>
          <a:ln w="12700">
            <a:solidFill>
              <a:srgbClr val="EEF3F8"/>
            </a:solidFill>
            <a:prstDash val="solid"/>
          </a:ln>
        </p:spPr>
      </p:sp>
      <p:sp>
        <p:nvSpPr>
          <p:cNvPr id="43" name="Shape 39"/>
          <p:cNvSpPr/>
          <p:nvPr/>
        </p:nvSpPr>
        <p:spPr>
          <a:xfrm>
            <a:off x="4846320" y="2331720"/>
            <a:ext cx="64008" cy="3337560"/>
          </a:xfrm>
          <a:prstGeom prst="rect">
            <a:avLst/>
          </a:prstGeom>
          <a:solidFill>
            <a:srgbClr val="1F5FAD"/>
          </a:solidFill>
          <a:ln w="12700">
            <a:solidFill>
              <a:srgbClr val="1F5FAD"/>
            </a:solidFill>
            <a:prstDash val="solid"/>
          </a:ln>
        </p:spPr>
      </p:sp>
      <p:sp>
        <p:nvSpPr>
          <p:cNvPr id="44" name="Text 40"/>
          <p:cNvSpPr/>
          <p:nvPr/>
        </p:nvSpPr>
        <p:spPr>
          <a:xfrm>
            <a:off x="5074920" y="2404872"/>
            <a:ext cx="3017520" cy="411480"/>
          </a:xfrm>
          <a:prstGeom prst="rect">
            <a:avLst/>
          </a:prstGeom>
          <a:noFill/>
          <a:ln/>
        </p:spPr>
        <p:txBody>
          <a:bodyPr wrap="square" lIns="0" tIns="0" rIns="0" bIns="0" rtlCol="0" anchor="ctr"/>
          <a:lstStyle/>
          <a:p>
            <a:pPr indent="0" marL="0">
              <a:buNone/>
            </a:pPr>
            <a:r>
              <a:rPr lang="en-US" sz="1700" b="1" dirty="0">
                <a:solidFill>
                  <a:srgbClr val="1F5FAD"/>
                </a:solidFill>
                <a:latin typeface="Calibri" pitchFamily="34" charset="0"/>
                <a:ea typeface="Calibri" pitchFamily="34" charset="-122"/>
                <a:cs typeface="Calibri" pitchFamily="34" charset="-120"/>
              </a:rPr>
              <a:t>Gate checks</a:t>
            </a:r>
            <a:endParaRPr lang="en-US" sz="1700" dirty="0"/>
          </a:p>
        </p:txBody>
      </p:sp>
      <p:sp>
        <p:nvSpPr>
          <p:cNvPr id="45" name="Text 41"/>
          <p:cNvSpPr/>
          <p:nvPr/>
        </p:nvSpPr>
        <p:spPr>
          <a:xfrm>
            <a:off x="5074920" y="2834640"/>
            <a:ext cx="3017520" cy="27706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Fragment parses</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Used &gt;= 5 times in 150 cases</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&gt;= 60% of statements run</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Seeds run</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More changed lines covered</a:t>
            </a:r>
            <a:endParaRPr lang="en-US" sz="1300" dirty="0"/>
          </a:p>
        </p:txBody>
      </p:sp>
      <p:sp>
        <p:nvSpPr>
          <p:cNvPr id="46" name="Shape 42"/>
          <p:cNvSpPr/>
          <p:nvPr/>
        </p:nvSpPr>
        <p:spPr>
          <a:xfrm>
            <a:off x="8412480" y="2331720"/>
            <a:ext cx="3227832" cy="3337560"/>
          </a:xfrm>
          <a:prstGeom prst="rect">
            <a:avLst/>
          </a:prstGeom>
          <a:solidFill>
            <a:srgbClr val="EEF3F8"/>
          </a:solidFill>
          <a:ln w="12700">
            <a:solidFill>
              <a:srgbClr val="EEF3F8"/>
            </a:solidFill>
            <a:prstDash val="solid"/>
          </a:ln>
        </p:spPr>
      </p:sp>
      <p:sp>
        <p:nvSpPr>
          <p:cNvPr id="47" name="Shape 43"/>
          <p:cNvSpPr/>
          <p:nvPr/>
        </p:nvSpPr>
        <p:spPr>
          <a:xfrm>
            <a:off x="8412480" y="2331720"/>
            <a:ext cx="64008" cy="3337560"/>
          </a:xfrm>
          <a:prstGeom prst="rect">
            <a:avLst/>
          </a:prstGeom>
          <a:solidFill>
            <a:srgbClr val="D9822B"/>
          </a:solidFill>
          <a:ln w="12700">
            <a:solidFill>
              <a:srgbClr val="D9822B"/>
            </a:solidFill>
            <a:prstDash val="solid"/>
          </a:ln>
        </p:spPr>
      </p:sp>
      <p:sp>
        <p:nvSpPr>
          <p:cNvPr id="48" name="Text 44"/>
          <p:cNvSpPr/>
          <p:nvPr/>
        </p:nvSpPr>
        <p:spPr>
          <a:xfrm>
            <a:off x="8641080" y="2404872"/>
            <a:ext cx="2862072" cy="411480"/>
          </a:xfrm>
          <a:prstGeom prst="rect">
            <a:avLst/>
          </a:prstGeom>
          <a:noFill/>
          <a:ln/>
        </p:spPr>
        <p:txBody>
          <a:bodyPr wrap="square" lIns="0" tIns="0" rIns="0" bIns="0" rtlCol="0" anchor="ctr"/>
          <a:lstStyle/>
          <a:p>
            <a:pPr indent="0" marL="0">
              <a:buNone/>
            </a:pPr>
            <a:r>
              <a:rPr lang="en-US" sz="1700" b="1" dirty="0">
                <a:solidFill>
                  <a:srgbClr val="D9822B"/>
                </a:solidFill>
                <a:latin typeface="Calibri" pitchFamily="34" charset="0"/>
                <a:ea typeface="Calibri" pitchFamily="34" charset="-122"/>
                <a:cs typeface="Calibri" pitchFamily="34" charset="-120"/>
              </a:rPr>
              <a:t>Outcome</a:t>
            </a:r>
            <a:endParaRPr lang="en-US" sz="1700" dirty="0"/>
          </a:p>
        </p:txBody>
      </p:sp>
      <p:sp>
        <p:nvSpPr>
          <p:cNvPr id="49" name="Text 45"/>
          <p:cNvSpPr/>
          <p:nvPr/>
        </p:nvSpPr>
        <p:spPr>
          <a:xfrm>
            <a:off x="8641080" y="2834640"/>
            <a:ext cx="2862072" cy="27706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7262B"/>
                </a:solidFill>
                <a:latin typeface="Calibri" pitchFamily="34" charset="0"/>
                <a:ea typeface="Calibri" pitchFamily="34" charset="-122"/>
                <a:cs typeface="Calibri" pitchFamily="34" charset="-120"/>
              </a:rPr>
              <a:t>10 commits, 4 accepted</a:t>
            </a:r>
            <a:endParaRPr lang="en-US" sz="1200" dirty="0"/>
          </a:p>
          <a:p>
            <a:pPr marL="342900" indent="-342900">
              <a:spcAft>
                <a:spcPts val="400"/>
              </a:spcAft>
              <a:buSzPct val="100000"/>
              <a:buChar char="•"/>
            </a:pPr>
            <a:r>
              <a:rPr lang="en-US" sz="1200" dirty="0">
                <a:solidFill>
                  <a:srgbClr val="17262B"/>
                </a:solidFill>
                <a:latin typeface="Calibri" pitchFamily="34" charset="0"/>
                <a:ea typeface="Calibri" pitchFamily="34" charset="-122"/>
                <a:cs typeface="Calibri" pitchFamily="34" charset="-120"/>
              </a:rPr>
              <a:t>16 of 25 rounds failed on validity</a:t>
            </a:r>
            <a:endParaRPr lang="en-US" sz="1200" dirty="0"/>
          </a:p>
          <a:p>
            <a:pPr marL="342900" indent="-342900">
              <a:spcAft>
                <a:spcPts val="400"/>
              </a:spcAft>
              <a:buSzPct val="100000"/>
              <a:buChar char="•"/>
            </a:pPr>
            <a:r>
              <a:rPr lang="en-US" sz="1200" dirty="0">
                <a:solidFill>
                  <a:srgbClr val="17262B"/>
                </a:solidFill>
                <a:latin typeface="Calibri" pitchFamily="34" charset="0"/>
                <a:ea typeface="Calibri" pitchFamily="34" charset="-122"/>
                <a:cs typeface="Calibri" pitchFamily="34" charset="-120"/>
              </a:rPr>
              <a:t>7 rewrites passed; 1 changed the collation, gate now rejects COLLATE</a:t>
            </a:r>
            <a:endParaRPr lang="en-US" sz="1200" dirty="0"/>
          </a:p>
          <a:p>
            <a:pPr marL="342900" indent="-342900">
              <a:spcAft>
                <a:spcPts val="400"/>
              </a:spcAft>
              <a:buSzPct val="100000"/>
              <a:buChar char="•"/>
            </a:pPr>
            <a:r>
              <a:rPr lang="en-US" sz="1200" dirty="0">
                <a:solidFill>
                  <a:srgbClr val="17262B"/>
                </a:solidFill>
                <a:latin typeface="Calibri" pitchFamily="34" charset="0"/>
                <a:ea typeface="Calibri" pitchFamily="34" charset="-122"/>
                <a:cs typeface="Calibri" pitchFamily="34" charset="-120"/>
              </a:rPr>
              <a:t>0 USD (free tier)</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1F5FAD"/>
          </a:solidFill>
          <a:ln w="6350">
            <a:solidFill>
              <a:srgbClr val="1F5FAD"/>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Measure 1: ground truth from 23 real, recently fixed bugs</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With known bugs we can ask which configuration finds how many, and how fast.</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16</a:t>
            </a:r>
            <a:endParaRPr lang="en-US" sz="1000" dirty="0"/>
          </a:p>
        </p:txBody>
      </p:sp>
      <p:sp>
        <p:nvSpPr>
          <p:cNvPr id="25" name="Shape 22"/>
          <p:cNvSpPr/>
          <p:nvPr/>
        </p:nvSpPr>
        <p:spPr>
          <a:xfrm>
            <a:off x="512064" y="1335024"/>
            <a:ext cx="6382512" cy="3016476"/>
          </a:xfrm>
          <a:prstGeom prst="rect">
            <a:avLst/>
          </a:prstGeom>
          <a:solidFill>
            <a:srgbClr val="FFFFFF"/>
          </a:solidFill>
          <a:ln w="12700">
            <a:solidFill>
              <a:srgbClr val="C9D3DB"/>
            </a:solidFill>
            <a:prstDash val="solid"/>
          </a:ln>
        </p:spPr>
      </p:sp>
      <p:pic>
        <p:nvPicPr>
          <p:cNvPr id="26" name="Image 0" descr="/home/user/cs5187-term-project/docs/meeting2/deck/A2_bench_verify.png">    </p:cNvPr>
          <p:cNvPicPr>
            <a:picLocks noChangeAspect="1"/>
          </p:cNvPicPr>
          <p:nvPr/>
        </p:nvPicPr>
        <p:blipFill>
          <a:blip r:embed="rId1"/>
          <a:stretch>
            <a:fillRect/>
          </a:stretch>
        </p:blipFill>
        <p:spPr>
          <a:xfrm>
            <a:off x="548640" y="1371600"/>
            <a:ext cx="6309360" cy="2943324"/>
          </a:xfrm>
          <a:prstGeom prst="rect">
            <a:avLst/>
          </a:prstGeom>
        </p:spPr>
      </p:pic>
      <p:sp>
        <p:nvSpPr>
          <p:cNvPr id="27" name="Text 23"/>
          <p:cNvSpPr/>
          <p:nvPr/>
        </p:nvSpPr>
        <p:spPr>
          <a:xfrm>
            <a:off x="548640" y="4388076"/>
            <a:ext cx="6309360"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bench verify: fixed vs solo vs injected</a:t>
            </a:r>
            <a:endParaRPr lang="en-US" sz="1100" dirty="0"/>
          </a:p>
        </p:txBody>
      </p:sp>
      <p:sp>
        <p:nvSpPr>
          <p:cNvPr id="28" name="Shape 24"/>
          <p:cNvSpPr/>
          <p:nvPr/>
        </p:nvSpPr>
        <p:spPr>
          <a:xfrm>
            <a:off x="7040880" y="1371600"/>
            <a:ext cx="4599432" cy="3108960"/>
          </a:xfrm>
          <a:prstGeom prst="rect">
            <a:avLst/>
          </a:prstGeom>
          <a:solidFill>
            <a:srgbClr val="EEF3F8"/>
          </a:solidFill>
          <a:ln w="12700">
            <a:solidFill>
              <a:srgbClr val="EEF3F8"/>
            </a:solidFill>
            <a:prstDash val="solid"/>
          </a:ln>
        </p:spPr>
      </p:sp>
      <p:sp>
        <p:nvSpPr>
          <p:cNvPr id="29" name="Shape 25"/>
          <p:cNvSpPr/>
          <p:nvPr/>
        </p:nvSpPr>
        <p:spPr>
          <a:xfrm>
            <a:off x="7040880" y="1371600"/>
            <a:ext cx="64008" cy="3108960"/>
          </a:xfrm>
          <a:prstGeom prst="rect">
            <a:avLst/>
          </a:prstGeom>
          <a:solidFill>
            <a:srgbClr val="1F5FAD"/>
          </a:solidFill>
          <a:ln w="12700">
            <a:solidFill>
              <a:srgbClr val="1F5FAD"/>
            </a:solidFill>
            <a:prstDash val="solid"/>
          </a:ln>
        </p:spPr>
      </p:sp>
      <p:sp>
        <p:nvSpPr>
          <p:cNvPr id="30" name="Text 26"/>
          <p:cNvSpPr/>
          <p:nvPr/>
        </p:nvSpPr>
        <p:spPr>
          <a:xfrm>
            <a:off x="7269480" y="1444752"/>
            <a:ext cx="4233672" cy="411480"/>
          </a:xfrm>
          <a:prstGeom prst="rect">
            <a:avLst/>
          </a:prstGeom>
          <a:noFill/>
          <a:ln/>
        </p:spPr>
        <p:txBody>
          <a:bodyPr wrap="square" lIns="0" tIns="0" rIns="0" bIns="0" rtlCol="0" anchor="ctr"/>
          <a:lstStyle/>
          <a:p>
            <a:pPr indent="0" marL="0">
              <a:buNone/>
            </a:pPr>
            <a:r>
              <a:rPr lang="en-US" sz="1700" b="1" dirty="0">
                <a:solidFill>
                  <a:srgbClr val="1F5FAD"/>
                </a:solidFill>
                <a:latin typeface="Calibri" pitchFamily="34" charset="0"/>
                <a:ea typeface="Calibri" pitchFamily="34" charset="-122"/>
                <a:cs typeface="Calibri" pitchFamily="34" charset="-120"/>
              </a:rPr>
              <a:t>In words</a:t>
            </a:r>
            <a:endParaRPr lang="en-US" sz="1700" dirty="0"/>
          </a:p>
        </p:txBody>
      </p:sp>
      <p:sp>
        <p:nvSpPr>
          <p:cNvPr id="31" name="Text 27"/>
          <p:cNvSpPr/>
          <p:nvPr/>
        </p:nvSpPr>
        <p:spPr>
          <a:xfrm>
            <a:off x="7269480" y="1874520"/>
            <a:ext cx="4233672" cy="2542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Real bugs, not synthetic mutants</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Three server variants isolate each bug</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8 wrong results, 5 internal errors, 4 assertions, 3 raised or dropped errors</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Only 9 of 20 visible to a crash-only fuzzer</a:t>
            </a:r>
            <a:endParaRPr lang="en-US" sz="1300" dirty="0"/>
          </a:p>
        </p:txBody>
      </p:sp>
      <p:sp>
        <p:nvSpPr>
          <p:cNvPr id="32" name="Text 28"/>
          <p:cNvSpPr/>
          <p:nvPr/>
        </p:nvSpPr>
        <p:spPr>
          <a:xfrm>
            <a:off x="548640" y="4709160"/>
            <a:ext cx="3200400" cy="777240"/>
          </a:xfrm>
          <a:prstGeom prst="rect">
            <a:avLst/>
          </a:prstGeom>
          <a:noFill/>
          <a:ln/>
        </p:spPr>
        <p:txBody>
          <a:bodyPr wrap="square" lIns="0" tIns="0" rIns="0" bIns="0" rtlCol="0" anchor="ctr"/>
          <a:lstStyle/>
          <a:p>
            <a:pPr indent="0" marL="0">
              <a:buNone/>
            </a:pPr>
            <a:r>
              <a:rPr lang="en-US" sz="4000" b="1" dirty="0">
                <a:solidFill>
                  <a:srgbClr val="1F5FAD"/>
                </a:solidFill>
                <a:latin typeface="Calibri" pitchFamily="34" charset="0"/>
                <a:ea typeface="Calibri" pitchFamily="34" charset="-122"/>
                <a:cs typeface="Calibri" pitchFamily="34" charset="-120"/>
              </a:rPr>
              <a:t>23 → 20</a:t>
            </a:r>
            <a:endParaRPr lang="en-US" sz="4000" dirty="0"/>
          </a:p>
        </p:txBody>
      </p:sp>
      <p:sp>
        <p:nvSpPr>
          <p:cNvPr id="33" name="Text 29"/>
          <p:cNvSpPr/>
          <p:nvPr/>
        </p:nvSpPr>
        <p:spPr>
          <a:xfrm>
            <a:off x="548640" y="5486400"/>
            <a:ext cx="320040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fixes reverted → observable</a:t>
            </a:r>
            <a:endParaRPr lang="en-US" sz="1300" dirty="0"/>
          </a:p>
        </p:txBody>
      </p:sp>
      <p:sp>
        <p:nvSpPr>
          <p:cNvPr id="34" name="Text 30"/>
          <p:cNvSpPr/>
          <p:nvPr/>
        </p:nvSpPr>
        <p:spPr>
          <a:xfrm>
            <a:off x="4389120" y="4709160"/>
            <a:ext cx="3200400" cy="777240"/>
          </a:xfrm>
          <a:prstGeom prst="rect">
            <a:avLst/>
          </a:prstGeom>
          <a:noFill/>
          <a:ln/>
        </p:spPr>
        <p:txBody>
          <a:bodyPr wrap="square" lIns="0" tIns="0" rIns="0" bIns="0" rtlCol="0" anchor="ctr"/>
          <a:lstStyle/>
          <a:p>
            <a:pPr indent="0" marL="0">
              <a:buNone/>
            </a:pPr>
            <a:r>
              <a:rPr lang="en-US" sz="4000" b="1" dirty="0">
                <a:solidFill>
                  <a:srgbClr val="D9822B"/>
                </a:solidFill>
                <a:latin typeface="Calibri" pitchFamily="34" charset="0"/>
                <a:ea typeface="Calibri" pitchFamily="34" charset="-122"/>
                <a:cs typeface="Calibri" pitchFamily="34" charset="-120"/>
              </a:rPr>
              <a:t>9 of 20</a:t>
            </a:r>
            <a:endParaRPr lang="en-US" sz="4000" dirty="0"/>
          </a:p>
        </p:txBody>
      </p:sp>
      <p:sp>
        <p:nvSpPr>
          <p:cNvPr id="35" name="Text 31"/>
          <p:cNvSpPr/>
          <p:nvPr/>
        </p:nvSpPr>
        <p:spPr>
          <a:xfrm>
            <a:off x="4389120" y="5486400"/>
            <a:ext cx="320040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visible without an oracle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1F5FAD"/>
          </a:solidFill>
          <a:ln w="6350">
            <a:solidFill>
              <a:srgbClr val="1F5FAD"/>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Measure 2: how the campaigns were run</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The results follow: reach (RQ1), bugs (RQ2), ground truth (RQ3), LLM (RQ4).</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17</a:t>
            </a:r>
            <a:endParaRPr lang="en-US" sz="1000" dirty="0"/>
          </a:p>
        </p:txBody>
      </p:sp>
      <p:sp>
        <p:nvSpPr>
          <p:cNvPr id="25" name="Text 22"/>
          <p:cNvSpPr/>
          <p:nvPr/>
        </p:nvSpPr>
        <p:spPr>
          <a:xfrm>
            <a:off x="548640" y="1371600"/>
            <a:ext cx="2651760" cy="777240"/>
          </a:xfrm>
          <a:prstGeom prst="rect">
            <a:avLst/>
          </a:prstGeom>
          <a:noFill/>
          <a:ln/>
        </p:spPr>
        <p:txBody>
          <a:bodyPr wrap="square" lIns="0" tIns="0" rIns="0" bIns="0" rtlCol="0" anchor="ctr"/>
          <a:lstStyle/>
          <a:p>
            <a:pPr indent="0" marL="0">
              <a:buNone/>
            </a:pPr>
            <a:r>
              <a:rPr lang="en-US" sz="4000" b="1" dirty="0">
                <a:solidFill>
                  <a:srgbClr val="1F5FAD"/>
                </a:solidFill>
                <a:latin typeface="Calibri" pitchFamily="34" charset="0"/>
                <a:ea typeface="Calibri" pitchFamily="34" charset="-122"/>
                <a:cs typeface="Calibri" pitchFamily="34" charset="-120"/>
              </a:rPr>
              <a:t>7 arms</a:t>
            </a:r>
            <a:endParaRPr lang="en-US" sz="4000" dirty="0"/>
          </a:p>
        </p:txBody>
      </p:sp>
      <p:sp>
        <p:nvSpPr>
          <p:cNvPr id="26" name="Text 23"/>
          <p:cNvSpPr/>
          <p:nvPr/>
        </p:nvSpPr>
        <p:spPr>
          <a:xfrm>
            <a:off x="548640" y="2148840"/>
            <a:ext cx="265176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Random, Grammar, +Oracles, no-bandit, +LLM fragments, +LLM seeds, +LLM both</a:t>
            </a:r>
            <a:endParaRPr lang="en-US" sz="1300" dirty="0"/>
          </a:p>
        </p:txBody>
      </p:sp>
      <p:sp>
        <p:nvSpPr>
          <p:cNvPr id="27" name="Text 24"/>
          <p:cNvSpPr/>
          <p:nvPr/>
        </p:nvSpPr>
        <p:spPr>
          <a:xfrm>
            <a:off x="3474720" y="1371600"/>
            <a:ext cx="2651760" cy="777240"/>
          </a:xfrm>
          <a:prstGeom prst="rect">
            <a:avLst/>
          </a:prstGeom>
          <a:noFill/>
          <a:ln/>
        </p:spPr>
        <p:txBody>
          <a:bodyPr wrap="square" lIns="0" tIns="0" rIns="0" bIns="0" rtlCol="0" anchor="ctr"/>
          <a:lstStyle/>
          <a:p>
            <a:pPr indent="0" marL="0">
              <a:buNone/>
            </a:pPr>
            <a:r>
              <a:rPr lang="en-US" sz="4000" b="1" dirty="0">
                <a:solidFill>
                  <a:srgbClr val="2E7D32"/>
                </a:solidFill>
                <a:latin typeface="Calibri" pitchFamily="34" charset="0"/>
                <a:ea typeface="Calibri" pitchFamily="34" charset="-122"/>
                <a:cs typeface="Calibri" pitchFamily="34" charset="-120"/>
              </a:rPr>
              <a:t>5 x 1 h</a:t>
            </a:r>
            <a:endParaRPr lang="en-US" sz="4000" dirty="0"/>
          </a:p>
        </p:txBody>
      </p:sp>
      <p:sp>
        <p:nvSpPr>
          <p:cNvPr id="28" name="Text 25"/>
          <p:cNvSpPr/>
          <p:nvPr/>
        </p:nvSpPr>
        <p:spPr>
          <a:xfrm>
            <a:off x="3474720" y="2148840"/>
            <a:ext cx="265176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trials per arm, same seeds, 4 workers, assertions on</a:t>
            </a:r>
            <a:endParaRPr lang="en-US" sz="1300" dirty="0"/>
          </a:p>
        </p:txBody>
      </p:sp>
      <p:sp>
        <p:nvSpPr>
          <p:cNvPr id="29" name="Text 26"/>
          <p:cNvSpPr/>
          <p:nvPr/>
        </p:nvSpPr>
        <p:spPr>
          <a:xfrm>
            <a:off x="6400800" y="1371600"/>
            <a:ext cx="2651760" cy="777240"/>
          </a:xfrm>
          <a:prstGeom prst="rect">
            <a:avLst/>
          </a:prstGeom>
          <a:noFill/>
          <a:ln/>
        </p:spPr>
        <p:txBody>
          <a:bodyPr wrap="square" lIns="0" tIns="0" rIns="0" bIns="0" rtlCol="0" anchor="ctr"/>
          <a:lstStyle/>
          <a:p>
            <a:pPr indent="0" marL="0">
              <a:buNone/>
            </a:pPr>
            <a:r>
              <a:rPr lang="en-US" sz="4000" b="1" dirty="0">
                <a:solidFill>
                  <a:srgbClr val="D9822B"/>
                </a:solidFill>
                <a:latin typeface="Calibri" pitchFamily="34" charset="0"/>
                <a:ea typeface="Calibri" pitchFamily="34" charset="-122"/>
                <a:cs typeface="Calibri" pitchFamily="34" charset="-120"/>
              </a:rPr>
              <a:t>2 laptops</a:t>
            </a:r>
            <a:endParaRPr lang="en-US" sz="4000" dirty="0"/>
          </a:p>
        </p:txBody>
      </p:sp>
      <p:sp>
        <p:nvSpPr>
          <p:cNvPr id="30" name="Text 27"/>
          <p:cNvSpPr/>
          <p:nvPr/>
        </p:nvSpPr>
        <p:spPr>
          <a:xfrm>
            <a:off x="6400800" y="2148840"/>
            <a:ext cx="265176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RQ1/2/4 on one, RQ3 on the other</a:t>
            </a:r>
            <a:endParaRPr lang="en-US" sz="1300" dirty="0"/>
          </a:p>
        </p:txBody>
      </p:sp>
      <p:sp>
        <p:nvSpPr>
          <p:cNvPr id="31" name="Text 28"/>
          <p:cNvSpPr/>
          <p:nvPr/>
        </p:nvSpPr>
        <p:spPr>
          <a:xfrm>
            <a:off x="9326880" y="1371600"/>
            <a:ext cx="2651760" cy="777240"/>
          </a:xfrm>
          <a:prstGeom prst="rect">
            <a:avLst/>
          </a:prstGeom>
          <a:noFill/>
          <a:ln/>
        </p:spPr>
        <p:txBody>
          <a:bodyPr wrap="square" lIns="0" tIns="0" rIns="0" bIns="0" rtlCol="0" anchor="ctr"/>
          <a:lstStyle/>
          <a:p>
            <a:pPr indent="0" marL="0">
              <a:buNone/>
            </a:pPr>
            <a:r>
              <a:rPr lang="en-US" sz="4000" b="1" dirty="0">
                <a:solidFill>
                  <a:srgbClr val="1F5FAD"/>
                </a:solidFill>
                <a:latin typeface="Calibri" pitchFamily="34" charset="0"/>
                <a:ea typeface="Calibri" pitchFamily="34" charset="-122"/>
                <a:cs typeface="Calibri" pitchFamily="34" charset="-120"/>
              </a:rPr>
              <a:t>26bd08fb</a:t>
            </a:r>
            <a:endParaRPr lang="en-US" sz="4000" dirty="0"/>
          </a:p>
        </p:txBody>
      </p:sp>
      <p:sp>
        <p:nvSpPr>
          <p:cNvPr id="32" name="Text 29"/>
          <p:cNvSpPr/>
          <p:nvPr/>
        </p:nvSpPr>
        <p:spPr>
          <a:xfrm>
            <a:off x="9326880" y="2148840"/>
            <a:ext cx="265176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one PostgreSQL master commit for all</a:t>
            </a:r>
            <a:endParaRPr lang="en-US" sz="1300" dirty="0"/>
          </a:p>
        </p:txBody>
      </p:sp>
      <p:sp>
        <p:nvSpPr>
          <p:cNvPr id="33" name="Shape 30"/>
          <p:cNvSpPr/>
          <p:nvPr/>
        </p:nvSpPr>
        <p:spPr>
          <a:xfrm>
            <a:off x="1991416" y="3255264"/>
            <a:ext cx="8208863" cy="1901952"/>
          </a:xfrm>
          <a:prstGeom prst="rect">
            <a:avLst/>
          </a:prstGeom>
          <a:solidFill>
            <a:srgbClr val="FFFFFF"/>
          </a:solidFill>
          <a:ln w="12700">
            <a:solidFill>
              <a:srgbClr val="C9D3DB"/>
            </a:solidFill>
            <a:prstDash val="solid"/>
          </a:ln>
        </p:spPr>
      </p:sp>
      <p:pic>
        <p:nvPicPr>
          <p:cNvPr id="34" name="Image 0" descr="/home/user/cs5187-term-project/docs/meeting2/deck/B4_summary_table.png">    </p:cNvPr>
          <p:cNvPicPr>
            <a:picLocks noChangeAspect="1"/>
          </p:cNvPicPr>
          <p:nvPr/>
        </p:nvPicPr>
        <p:blipFill>
          <a:blip r:embed="rId1"/>
          <a:stretch>
            <a:fillRect/>
          </a:stretch>
        </p:blipFill>
        <p:spPr>
          <a:xfrm>
            <a:off x="2027992" y="3291840"/>
            <a:ext cx="8135711" cy="1828800"/>
          </a:xfrm>
          <a:prstGeom prst="rect">
            <a:avLst/>
          </a:prstGeom>
        </p:spPr>
      </p:pic>
      <p:sp>
        <p:nvSpPr>
          <p:cNvPr id="35" name="Text 31"/>
          <p:cNvSpPr/>
          <p:nvPr/>
        </p:nvSpPr>
        <p:spPr>
          <a:xfrm>
            <a:off x="548640" y="5193792"/>
            <a:ext cx="11094415"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report tool output over all trials</a:t>
            </a:r>
            <a:endParaRPr lang="en-US" sz="1100" dirty="0"/>
          </a:p>
        </p:txBody>
      </p:sp>
      <p:sp>
        <p:nvSpPr>
          <p:cNvPr id="36" name="Text 32"/>
          <p:cNvSpPr/>
          <p:nvPr/>
        </p:nvSpPr>
        <p:spPr>
          <a:xfrm>
            <a:off x="548640" y="5440680"/>
            <a:ext cx="11094415" cy="274320"/>
          </a:xfrm>
          <a:prstGeom prst="rect">
            <a:avLst/>
          </a:prstGeom>
          <a:noFill/>
          <a:ln/>
        </p:spPr>
        <p:txBody>
          <a:bodyPr wrap="square" lIns="0" tIns="0" rIns="0" bIns="0" rtlCol="0" anchor="ctr"/>
          <a:lstStyle/>
          <a:p>
            <a:pPr indent="0" marL="0">
              <a:buNone/>
            </a:pPr>
            <a:r>
              <a:rPr lang="en-US" sz="1200" i="1" dirty="0">
                <a:solidFill>
                  <a:srgbClr val="5B7083"/>
                </a:solidFill>
                <a:latin typeface="Calibri" pitchFamily="34" charset="0"/>
                <a:ea typeface="Calibri" pitchFamily="34" charset="-122"/>
                <a:cs typeface="Calibri" pitchFamily="34" charset="-120"/>
              </a:rPr>
              <a:t>Medians, Mann-Whitney U, Vargha-Delaney A12. With 5 trials the smallest possible p is 0.008.</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1F5FAD"/>
          </a:solidFill>
          <a:ln w="6350">
            <a:solidFill>
              <a:srgbClr val="1F5FAD"/>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Results 1 (RQ1): the grammar reaches far more of PostgreSQL</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Reach is not bugs: RQ3 and RQ2 ask whether the extra reach finds anything.</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468880"/>
                <a:gridCol w="1005840"/>
                <a:gridCol w="1005840"/>
                <a:gridCol w="1005840"/>
                <a:gridCol w="1280160"/>
                <a:gridCol w="1005840"/>
              </a:tblGrid>
              <a:tr h="43891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Arm</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Valid</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Lines</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Features</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Plan shapes</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Tests</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438912">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Random / mutation</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b="1" dirty="0">
                          <a:solidFill>
                            <a:srgbClr val="C62828"/>
                          </a:solidFill>
                          <a:latin typeface="Calibri" pitchFamily="34" charset="0"/>
                          <a:ea typeface="Calibri" pitchFamily="34" charset="-122"/>
                          <a:cs typeface="Calibri" pitchFamily="34" charset="-120"/>
                        </a:rPr>
                        <a:t>26.0%</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43</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1,074k</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Grammar</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b="1" dirty="0">
                          <a:solidFill>
                            <a:srgbClr val="2E7D32"/>
                          </a:solidFill>
                          <a:latin typeface="Calibri" pitchFamily="34" charset="0"/>
                          <a:ea typeface="Calibri" pitchFamily="34" charset="-122"/>
                          <a:cs typeface="Calibri" pitchFamily="34" charset="-120"/>
                        </a:rPr>
                        <a:t>99.3%</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b="1" dirty="0">
                          <a:solidFill>
                            <a:srgbClr val="2E7D32"/>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101</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20,279</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71k</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438912">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Grammar + oracles</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96.3%</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36.2%</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101</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b="1" dirty="0">
                          <a:solidFill>
                            <a:srgbClr val="2E7D32"/>
                          </a:solidFill>
                          <a:latin typeface="Calibri" pitchFamily="34" charset="0"/>
                          <a:ea typeface="Calibri" pitchFamily="34" charset="-122"/>
                          <a:cs typeface="Calibri" pitchFamily="34" charset="-120"/>
                        </a:rPr>
                        <a:t>34,313</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59k</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438912">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 LLM (both)</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95.3%</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106</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26,375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47k</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bl>
          </a:graphicData>
        </a:graphic>
      </p:graphicFrame>
      <p:sp>
        <p:nvSpPr>
          <p:cNvPr id="26" name="Shape 22"/>
          <p:cNvSpPr/>
          <p:nvPr/>
        </p:nvSpPr>
        <p:spPr>
          <a:xfrm>
            <a:off x="873538" y="3758184"/>
            <a:ext cx="3373565" cy="1993392"/>
          </a:xfrm>
          <a:prstGeom prst="rect">
            <a:avLst/>
          </a:prstGeom>
          <a:solidFill>
            <a:srgbClr val="FFFFFF"/>
          </a:solidFill>
          <a:ln w="12700">
            <a:solidFill>
              <a:srgbClr val="C9D3DB"/>
            </a:solidFill>
            <a:prstDash val="solid"/>
          </a:ln>
        </p:spPr>
      </p:sp>
      <p:pic>
        <p:nvPicPr>
          <p:cNvPr id="27" name="Image 0" descr="/home/user/cs5187-term-project/docs/meeting2/deck/rq1_lines.png">    </p:cNvPr>
          <p:cNvPicPr>
            <a:picLocks noChangeAspect="1"/>
          </p:cNvPicPr>
          <p:nvPr/>
        </p:nvPicPr>
        <p:blipFill>
          <a:blip r:embed="rId1"/>
          <a:stretch>
            <a:fillRect/>
          </a:stretch>
        </p:blipFill>
        <p:spPr>
          <a:xfrm>
            <a:off x="910114" y="3794760"/>
            <a:ext cx="3300413" cy="1920240"/>
          </a:xfrm>
          <a:prstGeom prst="rect">
            <a:avLst/>
          </a:prstGeom>
        </p:spPr>
      </p:pic>
      <p:sp>
        <p:nvSpPr>
          <p:cNvPr id="28" name="Text 23"/>
          <p:cNvSpPr/>
          <p:nvPr/>
        </p:nvSpPr>
        <p:spPr>
          <a:xfrm>
            <a:off x="548640" y="5788152"/>
            <a:ext cx="4023360"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line coverage over time</a:t>
            </a:r>
            <a:endParaRPr lang="en-US" sz="1100" dirty="0"/>
          </a:p>
        </p:txBody>
      </p:sp>
      <p:sp>
        <p:nvSpPr>
          <p:cNvPr id="29" name="Shape 24"/>
          <p:cNvSpPr/>
          <p:nvPr/>
        </p:nvSpPr>
        <p:spPr>
          <a:xfrm>
            <a:off x="5079778" y="3758184"/>
            <a:ext cx="3373565" cy="1993392"/>
          </a:xfrm>
          <a:prstGeom prst="rect">
            <a:avLst/>
          </a:prstGeom>
          <a:solidFill>
            <a:srgbClr val="FFFFFF"/>
          </a:solidFill>
          <a:ln w="12700">
            <a:solidFill>
              <a:srgbClr val="C9D3DB"/>
            </a:solidFill>
            <a:prstDash val="solid"/>
          </a:ln>
        </p:spPr>
      </p:sp>
      <p:pic>
        <p:nvPicPr>
          <p:cNvPr id="30" name="Image 1" descr="/home/user/cs5187-term-project/docs/meeting2/deck/rq1_plans.png">    </p:cNvPr>
          <p:cNvPicPr>
            <a:picLocks noChangeAspect="1"/>
          </p:cNvPicPr>
          <p:nvPr/>
        </p:nvPicPr>
        <p:blipFill>
          <a:blip r:embed="rId2"/>
          <a:stretch>
            <a:fillRect/>
          </a:stretch>
        </p:blipFill>
        <p:spPr>
          <a:xfrm>
            <a:off x="5116354" y="3794760"/>
            <a:ext cx="3300413" cy="1920240"/>
          </a:xfrm>
          <a:prstGeom prst="rect">
            <a:avLst/>
          </a:prstGeom>
        </p:spPr>
      </p:pic>
      <p:sp>
        <p:nvSpPr>
          <p:cNvPr id="31" name="Text 25"/>
          <p:cNvSpPr/>
          <p:nvPr/>
        </p:nvSpPr>
        <p:spPr>
          <a:xfrm>
            <a:off x="4754880" y="5788152"/>
            <a:ext cx="4023360"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distinct plan shapes over time</a:t>
            </a:r>
            <a:endParaRPr lang="en-US" sz="1100" dirty="0"/>
          </a:p>
        </p:txBody>
      </p:sp>
      <p:sp>
        <p:nvSpPr>
          <p:cNvPr id="32" name="Shape 26"/>
          <p:cNvSpPr/>
          <p:nvPr/>
        </p:nvSpPr>
        <p:spPr>
          <a:xfrm>
            <a:off x="8412480" y="1371600"/>
            <a:ext cx="3227832" cy="2286000"/>
          </a:xfrm>
          <a:prstGeom prst="rect">
            <a:avLst/>
          </a:prstGeom>
          <a:solidFill>
            <a:srgbClr val="EEF3F8"/>
          </a:solidFill>
          <a:ln w="12700">
            <a:solidFill>
              <a:srgbClr val="EEF3F8"/>
            </a:solidFill>
            <a:prstDash val="solid"/>
          </a:ln>
        </p:spPr>
      </p:sp>
      <p:sp>
        <p:nvSpPr>
          <p:cNvPr id="33" name="Shape 27"/>
          <p:cNvSpPr/>
          <p:nvPr/>
        </p:nvSpPr>
        <p:spPr>
          <a:xfrm>
            <a:off x="8412480" y="1371600"/>
            <a:ext cx="64008" cy="2286000"/>
          </a:xfrm>
          <a:prstGeom prst="rect">
            <a:avLst/>
          </a:prstGeom>
          <a:solidFill>
            <a:srgbClr val="1F5FAD"/>
          </a:solidFill>
          <a:ln w="12700">
            <a:solidFill>
              <a:srgbClr val="1F5FAD"/>
            </a:solidFill>
            <a:prstDash val="solid"/>
          </a:ln>
        </p:spPr>
      </p:sp>
      <p:sp>
        <p:nvSpPr>
          <p:cNvPr id="34" name="Text 28"/>
          <p:cNvSpPr/>
          <p:nvPr/>
        </p:nvSpPr>
        <p:spPr>
          <a:xfrm>
            <a:off x="8641080" y="1444752"/>
            <a:ext cx="2862072" cy="411480"/>
          </a:xfrm>
          <a:prstGeom prst="rect">
            <a:avLst/>
          </a:prstGeom>
          <a:noFill/>
          <a:ln/>
        </p:spPr>
        <p:txBody>
          <a:bodyPr wrap="square" lIns="0" tIns="0" rIns="0" bIns="0" rtlCol="0" anchor="ctr"/>
          <a:lstStyle/>
          <a:p>
            <a:pPr indent="0" marL="0">
              <a:buNone/>
            </a:pPr>
            <a:r>
              <a:rPr lang="en-US" sz="1500" b="1" dirty="0">
                <a:solidFill>
                  <a:srgbClr val="1F5FAD"/>
                </a:solidFill>
                <a:latin typeface="Calibri" pitchFamily="34" charset="0"/>
                <a:ea typeface="Calibri" pitchFamily="34" charset="-122"/>
                <a:cs typeface="Calibri" pitchFamily="34" charset="-120"/>
              </a:rPr>
              <a:t>Reading</a:t>
            </a:r>
            <a:endParaRPr lang="en-US" sz="1500" dirty="0"/>
          </a:p>
        </p:txBody>
      </p:sp>
      <p:sp>
        <p:nvSpPr>
          <p:cNvPr id="35" name="Text 29"/>
          <p:cNvSpPr/>
          <p:nvPr/>
        </p:nvSpPr>
        <p:spPr>
          <a:xfrm>
            <a:off x="8641080" y="1874520"/>
            <a:ext cx="2862072" cy="171907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7262B"/>
                </a:solidFill>
                <a:latin typeface="Calibri" pitchFamily="34" charset="0"/>
                <a:ea typeface="Calibri" pitchFamily="34" charset="-122"/>
                <a:cs typeface="Calibri" pitchFamily="34" charset="-120"/>
              </a:rPr>
              <a:t>Grammar vs random: A12 = 1.00, p = 0.008</a:t>
            </a:r>
            <a:endParaRPr lang="en-US" sz="1200" dirty="0"/>
          </a:p>
          <a:p>
            <a:pPr marL="342900" indent="-342900">
              <a:spcAft>
                <a:spcPts val="400"/>
              </a:spcAft>
              <a:buSzPct val="100000"/>
              <a:buChar char="•"/>
            </a:pPr>
            <a:r>
              <a:rPr lang="en-US" sz="1200" dirty="0">
                <a:solidFill>
                  <a:srgbClr val="17262B"/>
                </a:solidFill>
                <a:latin typeface="Calibri" pitchFamily="34" charset="0"/>
                <a:ea typeface="Calibri" pitchFamily="34" charset="-122"/>
                <a:cs typeface="Calibri" pitchFamily="34" charset="-120"/>
              </a:rPr>
              <a:t>Oracles: plan shapes x1.7, no line gain</a:t>
            </a:r>
            <a:endParaRPr lang="en-US" sz="1200" dirty="0"/>
          </a:p>
          <a:p>
            <a:pPr marL="342900" indent="-342900">
              <a:spcAft>
                <a:spcPts val="400"/>
              </a:spcAft>
              <a:buSzPct val="100000"/>
              <a:buChar char="•"/>
            </a:pPr>
            <a:r>
              <a:rPr lang="en-US" sz="1200" dirty="0">
                <a:solidFill>
                  <a:srgbClr val="17262B"/>
                </a:solidFill>
                <a:latin typeface="Calibri" pitchFamily="34" charset="0"/>
                <a:ea typeface="Calibri" pitchFamily="34" charset="-122"/>
                <a:cs typeface="Calibri" pitchFamily="34" charset="-120"/>
              </a:rPr>
              <a:t>LLM: +5 features (p = 0.004), no lines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1F5FAD"/>
          </a:solidFill>
          <a:ln w="6350">
            <a:solidFill>
              <a:srgbClr val="1F5FAD"/>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Results 2 (RQ3): which arm finds the re-injected bugs</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The benchmark shows reach does not yet translate to wrong-result bugs in 1 h; the oracle value shows in RQ2.</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406640" cy="914400"/>
        </p:xfrm>
        <a:graphic>
          <a:graphicData uri="http://schemas.openxmlformats.org/drawingml/2006/table">
            <a:tbl>
              <a:tblPr/>
              <a:tblGrid>
                <a:gridCol w="3017520"/>
                <a:gridCol w="1097280"/>
                <a:gridCol w="1097280"/>
                <a:gridCol w="1097280"/>
                <a:gridCol w="1097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Bug</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Random</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Grammar</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+Oracles</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+LLM</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457200">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dfcf6fa7 (internal error)</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0/5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11b56ee2 (assertion)</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0/5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0/5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457200">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8 wrong-result bugs</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7262B"/>
                          </a:solidFill>
                          <a:latin typeface="Calibri" pitchFamily="34" charset="0"/>
                          <a:ea typeface="Calibri" pitchFamily="34" charset="-122"/>
                          <a:cs typeface="Calibri" pitchFamily="34" charset="-120"/>
                        </a:rPr>
                        <a:t>Bugs found of 20</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bl>
          </a:graphicData>
        </a:graphic>
      </p:graphicFrame>
      <p:sp>
        <p:nvSpPr>
          <p:cNvPr id="26" name="Shape 22"/>
          <p:cNvSpPr/>
          <p:nvPr/>
        </p:nvSpPr>
        <p:spPr>
          <a:xfrm>
            <a:off x="548812" y="3803904"/>
            <a:ext cx="3200056" cy="1901952"/>
          </a:xfrm>
          <a:prstGeom prst="rect">
            <a:avLst/>
          </a:prstGeom>
          <a:solidFill>
            <a:srgbClr val="FFFFFF"/>
          </a:solidFill>
          <a:ln w="12700">
            <a:solidFill>
              <a:srgbClr val="C9D3DB"/>
            </a:solidFill>
            <a:prstDash val="solid"/>
          </a:ln>
        </p:spPr>
      </p:sp>
      <p:pic>
        <p:nvPicPr>
          <p:cNvPr id="27" name="Image 0" descr="/home/user/cs5187-term-project/docs/meeting2/deck/A5_attribute.png">    </p:cNvPr>
          <p:cNvPicPr>
            <a:picLocks noChangeAspect="1"/>
          </p:cNvPicPr>
          <p:nvPr/>
        </p:nvPicPr>
        <p:blipFill>
          <a:blip r:embed="rId1"/>
          <a:stretch>
            <a:fillRect/>
          </a:stretch>
        </p:blipFill>
        <p:spPr>
          <a:xfrm>
            <a:off x="585388" y="3840480"/>
            <a:ext cx="3126904" cy="1828800"/>
          </a:xfrm>
          <a:prstGeom prst="rect">
            <a:avLst/>
          </a:prstGeom>
        </p:spPr>
      </p:pic>
      <p:sp>
        <p:nvSpPr>
          <p:cNvPr id="28" name="Text 23"/>
          <p:cNvSpPr/>
          <p:nvPr/>
        </p:nvSpPr>
        <p:spPr>
          <a:xfrm>
            <a:off x="548640" y="5742432"/>
            <a:ext cx="3200400"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attribution by replay</a:t>
            </a:r>
            <a:endParaRPr lang="en-US" sz="1100" dirty="0"/>
          </a:p>
        </p:txBody>
      </p:sp>
      <p:sp>
        <p:nvSpPr>
          <p:cNvPr id="29" name="Shape 24"/>
          <p:cNvSpPr/>
          <p:nvPr/>
        </p:nvSpPr>
        <p:spPr>
          <a:xfrm>
            <a:off x="4023360" y="3840480"/>
            <a:ext cx="3383280" cy="1874520"/>
          </a:xfrm>
          <a:prstGeom prst="rect">
            <a:avLst/>
          </a:prstGeom>
          <a:solidFill>
            <a:srgbClr val="EEF3F8"/>
          </a:solidFill>
          <a:ln w="12700">
            <a:solidFill>
              <a:srgbClr val="EEF3F8"/>
            </a:solidFill>
            <a:prstDash val="solid"/>
          </a:ln>
        </p:spPr>
      </p:sp>
      <p:sp>
        <p:nvSpPr>
          <p:cNvPr id="30" name="Shape 25"/>
          <p:cNvSpPr/>
          <p:nvPr/>
        </p:nvSpPr>
        <p:spPr>
          <a:xfrm>
            <a:off x="4023360" y="3840480"/>
            <a:ext cx="64008" cy="1874520"/>
          </a:xfrm>
          <a:prstGeom prst="rect">
            <a:avLst/>
          </a:prstGeom>
          <a:solidFill>
            <a:srgbClr val="1F5FAD"/>
          </a:solidFill>
          <a:ln w="12700">
            <a:solidFill>
              <a:srgbClr val="1F5FAD"/>
            </a:solidFill>
            <a:prstDash val="solid"/>
          </a:ln>
        </p:spPr>
      </p:sp>
      <p:sp>
        <p:nvSpPr>
          <p:cNvPr id="31" name="Text 26"/>
          <p:cNvSpPr/>
          <p:nvPr/>
        </p:nvSpPr>
        <p:spPr>
          <a:xfrm>
            <a:off x="4251960" y="3913632"/>
            <a:ext cx="3017520" cy="411480"/>
          </a:xfrm>
          <a:prstGeom prst="rect">
            <a:avLst/>
          </a:prstGeom>
          <a:noFill/>
          <a:ln/>
        </p:spPr>
        <p:txBody>
          <a:bodyPr wrap="square" lIns="0" tIns="0" rIns="0" bIns="0" rtlCol="0" anchor="ctr"/>
          <a:lstStyle/>
          <a:p>
            <a:pPr indent="0" marL="0">
              <a:buNone/>
            </a:pPr>
            <a:r>
              <a:rPr lang="en-US" sz="1400" b="1" dirty="0">
                <a:solidFill>
                  <a:srgbClr val="1F5FAD"/>
                </a:solidFill>
                <a:latin typeface="Calibri" pitchFamily="34" charset="0"/>
                <a:ea typeface="Calibri" pitchFamily="34" charset="-122"/>
                <a:cs typeface="Calibri" pitchFamily="34" charset="-120"/>
              </a:rPr>
              <a:t>How a bug counts</a:t>
            </a:r>
            <a:endParaRPr lang="en-US" sz="1400" dirty="0"/>
          </a:p>
        </p:txBody>
      </p:sp>
      <p:sp>
        <p:nvSpPr>
          <p:cNvPr id="32" name="Text 27"/>
          <p:cNvSpPr/>
          <p:nvPr/>
        </p:nvSpPr>
        <p:spPr>
          <a:xfrm>
            <a:off x="4251960" y="4343400"/>
            <a:ext cx="3017520" cy="130759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7262B"/>
                </a:solidFill>
                <a:latin typeface="Calibri" pitchFamily="34" charset="0"/>
                <a:ea typeface="Calibri" pitchFamily="34" charset="-122"/>
                <a:cs typeface="Calibri" pitchFamily="34" charset="-120"/>
              </a:rPr>
              <a:t>A finding fails on that bug's solo server and passes on the fixed one</a:t>
            </a:r>
            <a:endParaRPr lang="en-US" sz="1200" dirty="0"/>
          </a:p>
          <a:p>
            <a:pPr marL="342900" indent="-342900">
              <a:spcAft>
                <a:spcPts val="400"/>
              </a:spcAft>
              <a:buSzPct val="100000"/>
              <a:buChar char="•"/>
            </a:pPr>
            <a:r>
              <a:rPr lang="en-US" sz="1200" dirty="0">
                <a:solidFill>
                  <a:srgbClr val="17262B"/>
                </a:solidFill>
                <a:latin typeface="Calibri" pitchFamily="34" charset="0"/>
                <a:ea typeface="Calibri" pitchFamily="34" charset="-122"/>
                <a:cs typeface="Calibri" pitchFamily="34" charset="-120"/>
              </a:rPr>
              <a:t>Otherwise: unattributed</a:t>
            </a:r>
            <a:endParaRPr lang="en-US" sz="1200" dirty="0"/>
          </a:p>
        </p:txBody>
      </p:sp>
      <p:sp>
        <p:nvSpPr>
          <p:cNvPr id="33" name="Shape 28"/>
          <p:cNvSpPr/>
          <p:nvPr/>
        </p:nvSpPr>
        <p:spPr>
          <a:xfrm>
            <a:off x="7589520" y="1371600"/>
            <a:ext cx="4050792" cy="4297680"/>
          </a:xfrm>
          <a:prstGeom prst="rect">
            <a:avLst/>
          </a:prstGeom>
          <a:solidFill>
            <a:srgbClr val="EEF3F8"/>
          </a:solidFill>
          <a:ln w="12700">
            <a:solidFill>
              <a:srgbClr val="EEF3F8"/>
            </a:solidFill>
            <a:prstDash val="solid"/>
          </a:ln>
        </p:spPr>
      </p:sp>
      <p:sp>
        <p:nvSpPr>
          <p:cNvPr id="34" name="Shape 29"/>
          <p:cNvSpPr/>
          <p:nvPr/>
        </p:nvSpPr>
        <p:spPr>
          <a:xfrm>
            <a:off x="7589520" y="1371600"/>
            <a:ext cx="64008" cy="4297680"/>
          </a:xfrm>
          <a:prstGeom prst="rect">
            <a:avLst/>
          </a:prstGeom>
          <a:solidFill>
            <a:srgbClr val="D9822B"/>
          </a:solidFill>
          <a:ln w="12700">
            <a:solidFill>
              <a:srgbClr val="D9822B"/>
            </a:solidFill>
            <a:prstDash val="solid"/>
          </a:ln>
        </p:spPr>
      </p:sp>
      <p:sp>
        <p:nvSpPr>
          <p:cNvPr id="35" name="Text 30"/>
          <p:cNvSpPr/>
          <p:nvPr/>
        </p:nvSpPr>
        <p:spPr>
          <a:xfrm>
            <a:off x="7818120" y="1444752"/>
            <a:ext cx="3685032" cy="411480"/>
          </a:xfrm>
          <a:prstGeom prst="rect">
            <a:avLst/>
          </a:prstGeom>
          <a:noFill/>
          <a:ln/>
        </p:spPr>
        <p:txBody>
          <a:bodyPr wrap="square" lIns="0" tIns="0" rIns="0" bIns="0" rtlCol="0" anchor="ctr"/>
          <a:lstStyle/>
          <a:p>
            <a:pPr indent="0" marL="0">
              <a:buNone/>
            </a:pPr>
            <a:r>
              <a:rPr lang="en-US" sz="1700" b="1" dirty="0">
                <a:solidFill>
                  <a:srgbClr val="D9822B"/>
                </a:solidFill>
                <a:latin typeface="Calibri" pitchFamily="34" charset="0"/>
                <a:ea typeface="Calibri" pitchFamily="34" charset="-122"/>
                <a:cs typeface="Calibri" pitchFamily="34" charset="-120"/>
              </a:rPr>
              <a:t>Why so few</a:t>
            </a:r>
            <a:endParaRPr lang="en-US" sz="1700" dirty="0"/>
          </a:p>
        </p:txBody>
      </p:sp>
      <p:sp>
        <p:nvSpPr>
          <p:cNvPr id="36" name="Text 31"/>
          <p:cNvSpPr/>
          <p:nvPr/>
        </p:nvSpPr>
        <p:spPr>
          <a:xfrm>
            <a:off x="7818120" y="1874520"/>
            <a:ext cx="3685032" cy="3730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One hour is short for bugs needing a specific feature combination</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5 trials cannot separate arms that find a bug once in five</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Attribution is conservative: of 30 wrong-result failures, 11 reproduce on the fixed server, 19 on none</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These limits go into the paper</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1F5FAD"/>
          </a:solidFill>
          <a:ln w="6350">
            <a:solidFill>
              <a:srgbClr val="1F5FAD"/>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Results 3: what the numbers mean</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These findings set the plan for the last two weeks.</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20</a:t>
            </a:r>
            <a:endParaRPr lang="en-US" sz="1000" dirty="0"/>
          </a:p>
        </p:txBody>
      </p:sp>
      <p:sp>
        <p:nvSpPr>
          <p:cNvPr id="25" name="Shape 22"/>
          <p:cNvSpPr/>
          <p:nvPr/>
        </p:nvSpPr>
        <p:spPr>
          <a:xfrm>
            <a:off x="548640" y="1371600"/>
            <a:ext cx="3566160" cy="4297680"/>
          </a:xfrm>
          <a:prstGeom prst="rect">
            <a:avLst/>
          </a:prstGeom>
          <a:solidFill>
            <a:srgbClr val="EEF3F8"/>
          </a:solidFill>
          <a:ln w="12700">
            <a:solidFill>
              <a:srgbClr val="EEF3F8"/>
            </a:solidFill>
            <a:prstDash val="solid"/>
          </a:ln>
        </p:spPr>
      </p:sp>
      <p:sp>
        <p:nvSpPr>
          <p:cNvPr id="26" name="Shape 23"/>
          <p:cNvSpPr/>
          <p:nvPr/>
        </p:nvSpPr>
        <p:spPr>
          <a:xfrm>
            <a:off x="548640" y="1371600"/>
            <a:ext cx="64008" cy="4297680"/>
          </a:xfrm>
          <a:prstGeom prst="rect">
            <a:avLst/>
          </a:prstGeom>
          <a:solidFill>
            <a:srgbClr val="2E7D32"/>
          </a:solidFill>
          <a:ln w="12700">
            <a:solidFill>
              <a:srgbClr val="2E7D32"/>
            </a:solidFill>
            <a:prstDash val="solid"/>
          </a:ln>
        </p:spPr>
      </p:sp>
      <p:sp>
        <p:nvSpPr>
          <p:cNvPr id="27" name="Text 24"/>
          <p:cNvSpPr/>
          <p:nvPr/>
        </p:nvSpPr>
        <p:spPr>
          <a:xfrm>
            <a:off x="777240" y="1444752"/>
            <a:ext cx="3200400" cy="411480"/>
          </a:xfrm>
          <a:prstGeom prst="rect">
            <a:avLst/>
          </a:prstGeom>
          <a:noFill/>
          <a:ln/>
        </p:spPr>
        <p:txBody>
          <a:bodyPr wrap="square" lIns="0" tIns="0" rIns="0" bIns="0" rtlCol="0" anchor="ctr"/>
          <a:lstStyle/>
          <a:p>
            <a:pPr indent="0" marL="0">
              <a:buNone/>
            </a:pPr>
            <a:r>
              <a:rPr lang="en-US" sz="1700" b="1" dirty="0">
                <a:solidFill>
                  <a:srgbClr val="2E7D32"/>
                </a:solidFill>
                <a:latin typeface="Calibri" pitchFamily="34" charset="0"/>
                <a:ea typeface="Calibri" pitchFamily="34" charset="-122"/>
                <a:cs typeface="Calibri" pitchFamily="34" charset="-120"/>
              </a:rPr>
              <a:t>1. Typing pays</a:t>
            </a:r>
            <a:endParaRPr lang="en-US" sz="1700" dirty="0"/>
          </a:p>
        </p:txBody>
      </p:sp>
      <p:sp>
        <p:nvSpPr>
          <p:cNvPr id="28" name="Text 25"/>
          <p:cNvSpPr/>
          <p:nvPr/>
        </p:nvSpPr>
        <p:spPr>
          <a:xfrm>
            <a:off x="777240" y="1874520"/>
            <a:ext cx="3200400" cy="373075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99% vs 26% valid statements</a:t>
            </a:r>
            <a:endParaRPr lang="en-US" sz="1400" dirty="0"/>
          </a:p>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36.7% vs 22.2% of backend lines</a:t>
            </a:r>
            <a:endParaRPr lang="en-US" sz="1400" dirty="0"/>
          </a:p>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Random runs 15x more tests</a:t>
            </a:r>
            <a:endParaRPr lang="en-US" sz="1400" dirty="0"/>
          </a:p>
        </p:txBody>
      </p:sp>
      <p:sp>
        <p:nvSpPr>
          <p:cNvPr id="29" name="Shape 26"/>
          <p:cNvSpPr/>
          <p:nvPr/>
        </p:nvSpPr>
        <p:spPr>
          <a:xfrm>
            <a:off x="4297680" y="1371600"/>
            <a:ext cx="3566160" cy="4297680"/>
          </a:xfrm>
          <a:prstGeom prst="rect">
            <a:avLst/>
          </a:prstGeom>
          <a:solidFill>
            <a:srgbClr val="EEF3F8"/>
          </a:solidFill>
          <a:ln w="12700">
            <a:solidFill>
              <a:srgbClr val="EEF3F8"/>
            </a:solidFill>
            <a:prstDash val="solid"/>
          </a:ln>
        </p:spPr>
      </p:sp>
      <p:sp>
        <p:nvSpPr>
          <p:cNvPr id="30" name="Shape 27"/>
          <p:cNvSpPr/>
          <p:nvPr/>
        </p:nvSpPr>
        <p:spPr>
          <a:xfrm>
            <a:off x="4297680" y="1371600"/>
            <a:ext cx="64008" cy="4297680"/>
          </a:xfrm>
          <a:prstGeom prst="rect">
            <a:avLst/>
          </a:prstGeom>
          <a:solidFill>
            <a:srgbClr val="1F5FAD"/>
          </a:solidFill>
          <a:ln w="12700">
            <a:solidFill>
              <a:srgbClr val="1F5FAD"/>
            </a:solidFill>
            <a:prstDash val="solid"/>
          </a:ln>
        </p:spPr>
      </p:sp>
      <p:sp>
        <p:nvSpPr>
          <p:cNvPr id="31" name="Text 28"/>
          <p:cNvSpPr/>
          <p:nvPr/>
        </p:nvSpPr>
        <p:spPr>
          <a:xfrm>
            <a:off x="4526280" y="1444752"/>
            <a:ext cx="3200400" cy="411480"/>
          </a:xfrm>
          <a:prstGeom prst="rect">
            <a:avLst/>
          </a:prstGeom>
          <a:noFill/>
          <a:ln/>
        </p:spPr>
        <p:txBody>
          <a:bodyPr wrap="square" lIns="0" tIns="0" rIns="0" bIns="0" rtlCol="0" anchor="ctr"/>
          <a:lstStyle/>
          <a:p>
            <a:pPr indent="0" marL="0">
              <a:buNone/>
            </a:pPr>
            <a:r>
              <a:rPr lang="en-US" sz="1700" b="1" dirty="0">
                <a:solidFill>
                  <a:srgbClr val="1F5FAD"/>
                </a:solidFill>
                <a:latin typeface="Calibri" pitchFamily="34" charset="0"/>
                <a:ea typeface="Calibri" pitchFamily="34" charset="-122"/>
                <a:cs typeface="Calibri" pitchFamily="34" charset="-120"/>
              </a:rPr>
              <a:t>2. Oracles find what crashes hide</a:t>
            </a:r>
            <a:endParaRPr lang="en-US" sz="1700" dirty="0"/>
          </a:p>
        </p:txBody>
      </p:sp>
      <p:sp>
        <p:nvSpPr>
          <p:cNvPr id="32" name="Text 29"/>
          <p:cNvSpPr/>
          <p:nvPr/>
        </p:nvSpPr>
        <p:spPr>
          <a:xfrm>
            <a:off x="4526280" y="1874520"/>
            <a:ext cx="3200400" cy="373075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Real wrong results in 17/18 (#19793, #19800)</a:t>
            </a:r>
            <a:endParaRPr lang="en-US" sz="1400" dirty="0"/>
          </a:p>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Cost: precision 0.16</a:t>
            </a:r>
            <a:endParaRPr lang="en-US" sz="1400" dirty="0"/>
          </a:p>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Ten false-positive classes found and fixed</a:t>
            </a:r>
            <a:endParaRPr lang="en-US" sz="1400" dirty="0"/>
          </a:p>
        </p:txBody>
      </p:sp>
      <p:sp>
        <p:nvSpPr>
          <p:cNvPr id="33" name="Shape 30"/>
          <p:cNvSpPr/>
          <p:nvPr/>
        </p:nvSpPr>
        <p:spPr>
          <a:xfrm>
            <a:off x="8046720" y="1371600"/>
            <a:ext cx="3593592" cy="4297680"/>
          </a:xfrm>
          <a:prstGeom prst="rect">
            <a:avLst/>
          </a:prstGeom>
          <a:solidFill>
            <a:srgbClr val="EEF3F8"/>
          </a:solidFill>
          <a:ln w="12700">
            <a:solidFill>
              <a:srgbClr val="EEF3F8"/>
            </a:solidFill>
            <a:prstDash val="solid"/>
          </a:ln>
        </p:spPr>
      </p:sp>
      <p:sp>
        <p:nvSpPr>
          <p:cNvPr id="34" name="Shape 31"/>
          <p:cNvSpPr/>
          <p:nvPr/>
        </p:nvSpPr>
        <p:spPr>
          <a:xfrm>
            <a:off x="8046720" y="1371600"/>
            <a:ext cx="64008" cy="4297680"/>
          </a:xfrm>
          <a:prstGeom prst="rect">
            <a:avLst/>
          </a:prstGeom>
          <a:solidFill>
            <a:srgbClr val="D9822B"/>
          </a:solidFill>
          <a:ln w="12700">
            <a:solidFill>
              <a:srgbClr val="D9822B"/>
            </a:solidFill>
            <a:prstDash val="solid"/>
          </a:ln>
        </p:spPr>
      </p:sp>
      <p:sp>
        <p:nvSpPr>
          <p:cNvPr id="35" name="Text 32"/>
          <p:cNvSpPr/>
          <p:nvPr/>
        </p:nvSpPr>
        <p:spPr>
          <a:xfrm>
            <a:off x="8275320" y="1444752"/>
            <a:ext cx="3227832" cy="411480"/>
          </a:xfrm>
          <a:prstGeom prst="rect">
            <a:avLst/>
          </a:prstGeom>
          <a:noFill/>
          <a:ln/>
        </p:spPr>
        <p:txBody>
          <a:bodyPr wrap="square" lIns="0" tIns="0" rIns="0" bIns="0" rtlCol="0" anchor="ctr"/>
          <a:lstStyle/>
          <a:p>
            <a:pPr indent="0" marL="0">
              <a:buNone/>
            </a:pPr>
            <a:r>
              <a:rPr lang="en-US" sz="1700" b="1" dirty="0">
                <a:solidFill>
                  <a:srgbClr val="D9822B"/>
                </a:solidFill>
                <a:latin typeface="Calibri" pitchFamily="34" charset="0"/>
                <a:ea typeface="Calibri" pitchFamily="34" charset="-122"/>
                <a:cs typeface="Calibri" pitchFamily="34" charset="-120"/>
              </a:rPr>
              <a:t>3. The LLM needs a gate</a:t>
            </a:r>
            <a:endParaRPr lang="en-US" sz="1700" dirty="0"/>
          </a:p>
        </p:txBody>
      </p:sp>
      <p:sp>
        <p:nvSpPr>
          <p:cNvPr id="36" name="Text 33"/>
          <p:cNvSpPr/>
          <p:nvPr/>
        </p:nvSpPr>
        <p:spPr>
          <a:xfrm>
            <a:off x="8275320" y="1874520"/>
            <a:ext cx="3227832" cy="373075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+5 features, no coverage</a:t>
            </a:r>
            <a:endParaRPr lang="en-US" sz="1400" dirty="0"/>
          </a:p>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4 of 10 commits usable</a:t>
            </a:r>
            <a:endParaRPr lang="en-US" sz="1400" dirty="0"/>
          </a:p>
          <a:p>
            <a:pPr marL="342900" indent="-342900">
              <a:spcAft>
                <a:spcPts val="400"/>
              </a:spcAft>
              <a:buSzPct val="100000"/>
              <a:buChar char="•"/>
            </a:pPr>
            <a:r>
              <a:rPr lang="en-US" sz="1400" dirty="0">
                <a:solidFill>
                  <a:srgbClr val="17262B"/>
                </a:solidFill>
                <a:latin typeface="Calibri" pitchFamily="34" charset="0"/>
                <a:ea typeface="Calibri" pitchFamily="34" charset="-122"/>
                <a:cs typeface="Calibri" pitchFamily="34" charset="-120"/>
              </a:rPr>
              <a:t>A tested rewrite is not a proven rewrite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1F5FAD"/>
          </a:solidFill>
          <a:ln w="6350">
            <a:solidFill>
              <a:srgbClr val="1F5FAD"/>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EEF3F8"/>
          </a:solidFill>
          <a:ln w="6350">
            <a:solidFill>
              <a:srgbClr val="C9D3DB"/>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Evidence and what went wrong</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The remaining work is mostly verification and packaging.</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21</a:t>
            </a:r>
            <a:endParaRPr lang="en-US" sz="1000" dirty="0"/>
          </a:p>
        </p:txBody>
      </p:sp>
      <p:sp>
        <p:nvSpPr>
          <p:cNvPr id="25" name="Shape 22"/>
          <p:cNvSpPr/>
          <p:nvPr/>
        </p:nvSpPr>
        <p:spPr>
          <a:xfrm>
            <a:off x="512064" y="1335024"/>
            <a:ext cx="5376672" cy="1122572"/>
          </a:xfrm>
          <a:prstGeom prst="rect">
            <a:avLst/>
          </a:prstGeom>
          <a:solidFill>
            <a:srgbClr val="FFFFFF"/>
          </a:solidFill>
          <a:ln w="12700">
            <a:solidFill>
              <a:srgbClr val="C9D3DB"/>
            </a:solidFill>
            <a:prstDash val="solid"/>
          </a:ln>
        </p:spPr>
      </p:sp>
      <p:pic>
        <p:nvPicPr>
          <p:cNvPr id="26" name="Image 0" descr="/home/user/cs5187-term-project/docs/meeting2/deck/00_pytest.png">    </p:cNvPr>
          <p:cNvPicPr>
            <a:picLocks noChangeAspect="1"/>
          </p:cNvPicPr>
          <p:nvPr/>
        </p:nvPicPr>
        <p:blipFill>
          <a:blip r:embed="rId1"/>
          <a:stretch>
            <a:fillRect/>
          </a:stretch>
        </p:blipFill>
        <p:spPr>
          <a:xfrm>
            <a:off x="548640" y="1371600"/>
            <a:ext cx="5303520" cy="1049420"/>
          </a:xfrm>
          <a:prstGeom prst="rect">
            <a:avLst/>
          </a:prstGeom>
        </p:spPr>
      </p:pic>
      <p:sp>
        <p:nvSpPr>
          <p:cNvPr id="27" name="Text 23"/>
          <p:cNvSpPr/>
          <p:nvPr/>
        </p:nvSpPr>
        <p:spPr>
          <a:xfrm>
            <a:off x="548640" y="2494172"/>
            <a:ext cx="5303520"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148 unit tests pass</a:t>
            </a:r>
            <a:endParaRPr lang="en-US" sz="1100" dirty="0"/>
          </a:p>
        </p:txBody>
      </p:sp>
      <p:sp>
        <p:nvSpPr>
          <p:cNvPr id="28" name="Shape 24"/>
          <p:cNvSpPr/>
          <p:nvPr/>
        </p:nvSpPr>
        <p:spPr>
          <a:xfrm>
            <a:off x="512064" y="2706624"/>
            <a:ext cx="5376672" cy="2807055"/>
          </a:xfrm>
          <a:prstGeom prst="rect">
            <a:avLst/>
          </a:prstGeom>
          <a:solidFill>
            <a:srgbClr val="FFFFFF"/>
          </a:solidFill>
          <a:ln w="12700">
            <a:solidFill>
              <a:srgbClr val="C9D3DB"/>
            </a:solidFill>
            <a:prstDash val="solid"/>
          </a:ln>
        </p:spPr>
      </p:sp>
      <p:pic>
        <p:nvPicPr>
          <p:cNvPr id="29" name="Image 1" descr="/home/user/cs5187-term-project/docs/meeting2/deck/A3_sample.png">    </p:cNvPr>
          <p:cNvPicPr>
            <a:picLocks noChangeAspect="1"/>
          </p:cNvPicPr>
          <p:nvPr/>
        </p:nvPicPr>
        <p:blipFill>
          <a:blip r:embed="rId2"/>
          <a:stretch>
            <a:fillRect/>
          </a:stretch>
        </p:blipFill>
        <p:spPr>
          <a:xfrm>
            <a:off x="548640" y="2743200"/>
            <a:ext cx="5303520" cy="2733903"/>
          </a:xfrm>
          <a:prstGeom prst="rect">
            <a:avLst/>
          </a:prstGeom>
        </p:spPr>
      </p:pic>
      <p:sp>
        <p:nvSpPr>
          <p:cNvPr id="30" name="Text 25"/>
          <p:cNvSpPr/>
          <p:nvPr/>
        </p:nvSpPr>
        <p:spPr>
          <a:xfrm>
            <a:off x="548640" y="5550255"/>
            <a:ext cx="5303520" cy="274320"/>
          </a:xfrm>
          <a:prstGeom prst="rect">
            <a:avLst/>
          </a:prstGeom>
          <a:noFill/>
          <a:ln/>
        </p:spPr>
        <p:txBody>
          <a:bodyPr wrap="square" lIns="0" tIns="0" rIns="0" bIns="0" rtlCol="0" anchor="ctr"/>
          <a:lstStyle/>
          <a:p>
            <a:pPr algn="ctr" indent="0" marL="0">
              <a:buNone/>
            </a:pPr>
            <a:r>
              <a:rPr lang="en-US" sz="1100" i="1" dirty="0">
                <a:solidFill>
                  <a:srgbClr val="5B7083"/>
                </a:solidFill>
                <a:latin typeface="Calibri" pitchFamily="34" charset="0"/>
                <a:ea typeface="Calibri" pitchFamily="34" charset="-122"/>
                <a:cs typeface="Calibri" pitchFamily="34" charset="-120"/>
              </a:rPr>
              <a:t>grammar sample: generated SQL and validity</a:t>
            </a:r>
            <a:endParaRPr lang="en-US" sz="1100" dirty="0"/>
          </a:p>
        </p:txBody>
      </p:sp>
      <p:sp>
        <p:nvSpPr>
          <p:cNvPr id="31" name="Shape 26"/>
          <p:cNvSpPr/>
          <p:nvPr/>
        </p:nvSpPr>
        <p:spPr>
          <a:xfrm>
            <a:off x="6126480" y="1371600"/>
            <a:ext cx="5513832" cy="4297680"/>
          </a:xfrm>
          <a:prstGeom prst="rect">
            <a:avLst/>
          </a:prstGeom>
          <a:solidFill>
            <a:srgbClr val="EEF3F8"/>
          </a:solidFill>
          <a:ln w="12700">
            <a:solidFill>
              <a:srgbClr val="EEF3F8"/>
            </a:solidFill>
            <a:prstDash val="solid"/>
          </a:ln>
        </p:spPr>
      </p:sp>
      <p:sp>
        <p:nvSpPr>
          <p:cNvPr id="32" name="Shape 27"/>
          <p:cNvSpPr/>
          <p:nvPr/>
        </p:nvSpPr>
        <p:spPr>
          <a:xfrm>
            <a:off x="6126480" y="1371600"/>
            <a:ext cx="64008" cy="4297680"/>
          </a:xfrm>
          <a:prstGeom prst="rect">
            <a:avLst/>
          </a:prstGeom>
          <a:solidFill>
            <a:srgbClr val="C62828"/>
          </a:solidFill>
          <a:ln w="12700">
            <a:solidFill>
              <a:srgbClr val="C62828"/>
            </a:solidFill>
            <a:prstDash val="solid"/>
          </a:ln>
        </p:spPr>
      </p:sp>
      <p:sp>
        <p:nvSpPr>
          <p:cNvPr id="33" name="Text 28"/>
          <p:cNvSpPr/>
          <p:nvPr/>
        </p:nvSpPr>
        <p:spPr>
          <a:xfrm>
            <a:off x="6355080" y="1444752"/>
            <a:ext cx="5148072" cy="411480"/>
          </a:xfrm>
          <a:prstGeom prst="rect">
            <a:avLst/>
          </a:prstGeom>
          <a:noFill/>
          <a:ln/>
        </p:spPr>
        <p:txBody>
          <a:bodyPr wrap="square" lIns="0" tIns="0" rIns="0" bIns="0" rtlCol="0" anchor="ctr"/>
          <a:lstStyle/>
          <a:p>
            <a:pPr indent="0" marL="0">
              <a:buNone/>
            </a:pPr>
            <a:r>
              <a:rPr lang="en-US" sz="1700" b="1" dirty="0">
                <a:solidFill>
                  <a:srgbClr val="C62828"/>
                </a:solidFill>
                <a:latin typeface="Calibri" pitchFamily="34" charset="0"/>
                <a:ea typeface="Calibri" pitchFamily="34" charset="-122"/>
                <a:cs typeface="Calibri" pitchFamily="34" charset="-120"/>
              </a:rPr>
              <a:t>Incidents and deviations (all reported in the paper)</a:t>
            </a:r>
            <a:endParaRPr lang="en-US" sz="1700" dirty="0"/>
          </a:p>
        </p:txBody>
      </p:sp>
      <p:sp>
        <p:nvSpPr>
          <p:cNvPr id="34" name="Text 29"/>
          <p:cNvSpPr/>
          <p:nvPr/>
        </p:nvSpPr>
        <p:spPr>
          <a:xfrm>
            <a:off x="6355080" y="1874520"/>
            <a:ext cx="5148072" cy="3730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A worker's server failed crash recovery after a BUG-01 assertion: 14 trials re-run with the same seeds</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Laptop sleep: trial clocks are monotonic, budget unchanged</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LLM arm used Gemini Flash (free tier) via the tool's manual mode; 10 of 25 commits because of the daily quota</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4 false-positive classes fixed after the campaigns, not re-measured</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5 trials instead of 10 per arm</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5FAD"/>
          </a:solidFill>
          <a:ln w="12700">
            <a:solidFill>
              <a:srgbClr val="1F5FAD"/>
            </a:solidFill>
            <a:prstDash val="solid"/>
          </a:ln>
        </p:spPr>
      </p:sp>
      <p:sp>
        <p:nvSpPr>
          <p:cNvPr id="3" name="Shape 1"/>
          <p:cNvSpPr/>
          <p:nvPr/>
        </p:nvSpPr>
        <p:spPr>
          <a:xfrm>
            <a:off x="4510735" y="182880"/>
            <a:ext cx="877824" cy="274320"/>
          </a:xfrm>
          <a:prstGeom prst="chevron">
            <a:avLst/>
          </a:prstGeom>
          <a:solidFill>
            <a:srgbClr val="EEF3F8"/>
          </a:solidFill>
          <a:ln w="6350">
            <a:solidFill>
              <a:srgbClr val="C9D3DB"/>
            </a:solidFill>
            <a:prstDash val="solid"/>
          </a:ln>
        </p:spPr>
      </p:sp>
      <p:sp>
        <p:nvSpPr>
          <p:cNvPr id="4" name="Text 2"/>
          <p:cNvSpPr/>
          <p:nvPr/>
        </p:nvSpPr>
        <p:spPr>
          <a:xfrm>
            <a:off x="4602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Recap</a:t>
            </a:r>
            <a:endParaRPr lang="en-US" sz="900" dirty="0"/>
          </a:p>
        </p:txBody>
      </p:sp>
      <p:sp>
        <p:nvSpPr>
          <p:cNvPr id="5" name="Shape 3"/>
          <p:cNvSpPr/>
          <p:nvPr/>
        </p:nvSpPr>
        <p:spPr>
          <a:xfrm>
            <a:off x="5425135" y="182880"/>
            <a:ext cx="877824" cy="274320"/>
          </a:xfrm>
          <a:prstGeom prst="chevron">
            <a:avLst/>
          </a:prstGeom>
          <a:solidFill>
            <a:srgbClr val="EEF3F8"/>
          </a:solidFill>
          <a:ln w="6350">
            <a:solidFill>
              <a:srgbClr val="C9D3DB"/>
            </a:solidFill>
            <a:prstDash val="solid"/>
          </a:ln>
        </p:spPr>
      </p:sp>
      <p:sp>
        <p:nvSpPr>
          <p:cNvPr id="6" name="Text 4"/>
          <p:cNvSpPr/>
          <p:nvPr/>
        </p:nvSpPr>
        <p:spPr>
          <a:xfrm>
            <a:off x="5516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Build</a:t>
            </a:r>
            <a:endParaRPr lang="en-US" sz="900" dirty="0"/>
          </a:p>
        </p:txBody>
      </p:sp>
      <p:sp>
        <p:nvSpPr>
          <p:cNvPr id="7" name="Shape 5"/>
          <p:cNvSpPr/>
          <p:nvPr/>
        </p:nvSpPr>
        <p:spPr>
          <a:xfrm>
            <a:off x="6339535" y="182880"/>
            <a:ext cx="877824" cy="274320"/>
          </a:xfrm>
          <a:prstGeom prst="chevron">
            <a:avLst/>
          </a:prstGeom>
          <a:solidFill>
            <a:srgbClr val="EEF3F8"/>
          </a:solidFill>
          <a:ln w="6350">
            <a:solidFill>
              <a:srgbClr val="C9D3DB"/>
            </a:solidFill>
            <a:prstDash val="solid"/>
          </a:ln>
        </p:spPr>
      </p:sp>
      <p:sp>
        <p:nvSpPr>
          <p:cNvPr id="8" name="Text 6"/>
          <p:cNvSpPr/>
          <p:nvPr/>
        </p:nvSpPr>
        <p:spPr>
          <a:xfrm>
            <a:off x="64309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Find</a:t>
            </a:r>
            <a:endParaRPr lang="en-US" sz="900" dirty="0"/>
          </a:p>
        </p:txBody>
      </p:sp>
      <p:sp>
        <p:nvSpPr>
          <p:cNvPr id="9" name="Shape 7"/>
          <p:cNvSpPr/>
          <p:nvPr/>
        </p:nvSpPr>
        <p:spPr>
          <a:xfrm>
            <a:off x="7253935" y="182880"/>
            <a:ext cx="877824" cy="274320"/>
          </a:xfrm>
          <a:prstGeom prst="chevron">
            <a:avLst/>
          </a:prstGeom>
          <a:solidFill>
            <a:srgbClr val="EEF3F8"/>
          </a:solidFill>
          <a:ln w="6350">
            <a:solidFill>
              <a:srgbClr val="C9D3DB"/>
            </a:solidFill>
            <a:prstDash val="solid"/>
          </a:ln>
        </p:spPr>
      </p:sp>
      <p:sp>
        <p:nvSpPr>
          <p:cNvPr id="10" name="Text 8"/>
          <p:cNvSpPr/>
          <p:nvPr/>
        </p:nvSpPr>
        <p:spPr>
          <a:xfrm>
            <a:off x="73453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Triage</a:t>
            </a:r>
            <a:endParaRPr lang="en-US" sz="900" dirty="0"/>
          </a:p>
        </p:txBody>
      </p:sp>
      <p:sp>
        <p:nvSpPr>
          <p:cNvPr id="11" name="Shape 9"/>
          <p:cNvSpPr/>
          <p:nvPr/>
        </p:nvSpPr>
        <p:spPr>
          <a:xfrm>
            <a:off x="8168335" y="182880"/>
            <a:ext cx="877824" cy="274320"/>
          </a:xfrm>
          <a:prstGeom prst="chevron">
            <a:avLst/>
          </a:prstGeom>
          <a:solidFill>
            <a:srgbClr val="EEF3F8"/>
          </a:solidFill>
          <a:ln w="6350">
            <a:solidFill>
              <a:srgbClr val="C9D3DB"/>
            </a:solidFill>
            <a:prstDash val="solid"/>
          </a:ln>
        </p:spPr>
      </p:sp>
      <p:sp>
        <p:nvSpPr>
          <p:cNvPr id="12" name="Text 10"/>
          <p:cNvSpPr/>
          <p:nvPr/>
        </p:nvSpPr>
        <p:spPr>
          <a:xfrm>
            <a:off x="82597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LLM</a:t>
            </a:r>
            <a:endParaRPr lang="en-US" sz="900" dirty="0"/>
          </a:p>
        </p:txBody>
      </p:sp>
      <p:sp>
        <p:nvSpPr>
          <p:cNvPr id="13" name="Shape 11"/>
          <p:cNvSpPr/>
          <p:nvPr/>
        </p:nvSpPr>
        <p:spPr>
          <a:xfrm>
            <a:off x="9082735" y="182880"/>
            <a:ext cx="877824" cy="274320"/>
          </a:xfrm>
          <a:prstGeom prst="chevron">
            <a:avLst/>
          </a:prstGeom>
          <a:solidFill>
            <a:srgbClr val="EEF3F8"/>
          </a:solidFill>
          <a:ln w="6350">
            <a:solidFill>
              <a:srgbClr val="C9D3DB"/>
            </a:solidFill>
            <a:prstDash val="solid"/>
          </a:ln>
        </p:spPr>
      </p:sp>
      <p:sp>
        <p:nvSpPr>
          <p:cNvPr id="14" name="Text 12"/>
          <p:cNvSpPr/>
          <p:nvPr/>
        </p:nvSpPr>
        <p:spPr>
          <a:xfrm>
            <a:off x="91741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Measure</a:t>
            </a:r>
            <a:endParaRPr lang="en-US" sz="900" dirty="0"/>
          </a:p>
        </p:txBody>
      </p:sp>
      <p:sp>
        <p:nvSpPr>
          <p:cNvPr id="15" name="Shape 13"/>
          <p:cNvSpPr/>
          <p:nvPr/>
        </p:nvSpPr>
        <p:spPr>
          <a:xfrm>
            <a:off x="9997135" y="182880"/>
            <a:ext cx="877824" cy="274320"/>
          </a:xfrm>
          <a:prstGeom prst="chevron">
            <a:avLst/>
          </a:prstGeom>
          <a:solidFill>
            <a:srgbClr val="EEF3F8"/>
          </a:solidFill>
          <a:ln w="6350">
            <a:solidFill>
              <a:srgbClr val="C9D3DB"/>
            </a:solidFill>
            <a:prstDash val="solid"/>
          </a:ln>
        </p:spPr>
      </p:sp>
      <p:sp>
        <p:nvSpPr>
          <p:cNvPr id="16" name="Text 14"/>
          <p:cNvSpPr/>
          <p:nvPr/>
        </p:nvSpPr>
        <p:spPr>
          <a:xfrm>
            <a:off x="10088575" y="182880"/>
            <a:ext cx="731520" cy="274320"/>
          </a:xfrm>
          <a:prstGeom prst="rect">
            <a:avLst/>
          </a:prstGeom>
          <a:noFill/>
          <a:ln/>
        </p:spPr>
        <p:txBody>
          <a:bodyPr wrap="square" lIns="0" tIns="0" rIns="0" bIns="0" rtlCol="0" anchor="ctr"/>
          <a:lstStyle/>
          <a:p>
            <a:pPr algn="ctr" indent="0" marL="0">
              <a:buNone/>
            </a:pPr>
            <a:r>
              <a:rPr lang="en-US" sz="900" dirty="0">
                <a:solidFill>
                  <a:srgbClr val="5B7083"/>
                </a:solidFill>
                <a:latin typeface="Calibri" pitchFamily="34" charset="0"/>
                <a:ea typeface="Calibri" pitchFamily="34" charset="-122"/>
                <a:cs typeface="Calibri" pitchFamily="34" charset="-120"/>
              </a:rPr>
              <a:t>Results</a:t>
            </a:r>
            <a:endParaRPr lang="en-US" sz="900" dirty="0"/>
          </a:p>
        </p:txBody>
      </p:sp>
      <p:sp>
        <p:nvSpPr>
          <p:cNvPr id="17" name="Shape 15"/>
          <p:cNvSpPr/>
          <p:nvPr/>
        </p:nvSpPr>
        <p:spPr>
          <a:xfrm>
            <a:off x="10911535" y="182880"/>
            <a:ext cx="877824" cy="274320"/>
          </a:xfrm>
          <a:prstGeom prst="chevron">
            <a:avLst/>
          </a:prstGeom>
          <a:solidFill>
            <a:srgbClr val="1F5FAD"/>
          </a:solidFill>
          <a:ln w="6350">
            <a:solidFill>
              <a:srgbClr val="1F5FAD"/>
            </a:solidFill>
            <a:prstDash val="solid"/>
          </a:ln>
        </p:spPr>
      </p:sp>
      <p:sp>
        <p:nvSpPr>
          <p:cNvPr id="18" name="Text 16"/>
          <p:cNvSpPr/>
          <p:nvPr/>
        </p:nvSpPr>
        <p:spPr>
          <a:xfrm>
            <a:off x="11002975" y="182880"/>
            <a:ext cx="7315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Next</a:t>
            </a:r>
            <a:endParaRPr lang="en-US" sz="900" dirty="0"/>
          </a:p>
        </p:txBody>
      </p:sp>
      <p:sp>
        <p:nvSpPr>
          <p:cNvPr id="19" name="Text 17"/>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Next: plan to 13 November</a:t>
            </a:r>
            <a:endParaRPr lang="en-US" sz="2800" dirty="0"/>
          </a:p>
        </p:txBody>
      </p:sp>
      <p:sp>
        <p:nvSpPr>
          <p:cNvPr id="20" name="Shape 18"/>
          <p:cNvSpPr/>
          <p:nvPr/>
        </p:nvSpPr>
        <p:spPr>
          <a:xfrm>
            <a:off x="548640" y="5852160"/>
            <a:ext cx="11094415" cy="502920"/>
          </a:xfrm>
          <a:prstGeom prst="rect">
            <a:avLst/>
          </a:prstGeom>
          <a:solidFill>
            <a:srgbClr val="17262B"/>
          </a:solidFill>
          <a:ln w="12700">
            <a:solidFill>
              <a:srgbClr val="17262B"/>
            </a:solidFill>
            <a:prstDash val="solid"/>
          </a:ln>
        </p:spPr>
      </p:sp>
      <p:sp>
        <p:nvSpPr>
          <p:cNvPr id="21" name="Text 19"/>
          <p:cNvSpPr/>
          <p:nvPr/>
        </p:nvSpPr>
        <p:spPr>
          <a:xfrm>
            <a:off x="731520" y="5852160"/>
            <a:ext cx="10728655" cy="502920"/>
          </a:xfrm>
          <a:prstGeom prst="rect">
            <a:avLst/>
          </a:prstGeom>
          <a:noFill/>
          <a:ln/>
        </p:spPr>
        <p:txBody>
          <a:bodyPr wrap="square" lIns="0" tIns="0" rIns="0" bIns="0" rtlCol="0" anchor="ctr"/>
          <a:lstStyle/>
          <a:p>
            <a:pPr indent="0" marL="0">
              <a:buNone/>
            </a:pPr>
            <a:r>
              <a:rPr lang="en-US" sz="1300" b="1" dirty="0">
                <a:solidFill>
                  <a:srgbClr val="F2B36B"/>
                </a:solidFill>
                <a:latin typeface="Calibri" pitchFamily="34" charset="0"/>
                <a:ea typeface="Calibri" pitchFamily="34" charset="-122"/>
                <a:cs typeface="Calibri" pitchFamily="34" charset="-120"/>
              </a:rPr>
              <a:t>So what / next:  </a:t>
            </a:r>
            <a:pPr indent="0" marL="0">
              <a:buNone/>
            </a:pPr>
            <a:r>
              <a:rPr lang="en-US" sz="1300" dirty="0">
                <a:solidFill>
                  <a:srgbClr val="FFFFFF"/>
                </a:solidFill>
                <a:latin typeface="Calibri" pitchFamily="34" charset="0"/>
                <a:ea typeface="Calibri" pitchFamily="34" charset="-122"/>
                <a:cs typeface="Calibri" pitchFamily="34" charset="-120"/>
              </a:rPr>
              <a:t>Meeting 3 (2-6 Nov) will show verified open cases and the paper draft.</a:t>
            </a:r>
            <a:endParaRPr lang="en-US" sz="1300" dirty="0"/>
          </a:p>
        </p:txBody>
      </p:sp>
      <p:sp>
        <p:nvSpPr>
          <p:cNvPr id="22" name="Text 20"/>
          <p:cNvSpPr/>
          <p:nvPr/>
        </p:nvSpPr>
        <p:spPr>
          <a:xfrm>
            <a:off x="548640" y="6492240"/>
            <a:ext cx="8229600" cy="27432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CS-5187 A3 · progress meeting 2 (continues meeting 1 of 16 Oct)</a:t>
            </a:r>
            <a:endParaRPr lang="en-US" sz="1000" dirty="0"/>
          </a:p>
        </p:txBody>
      </p:sp>
      <p:sp>
        <p:nvSpPr>
          <p:cNvPr id="23" name="Text 21"/>
          <p:cNvSpPr/>
          <p:nvPr/>
        </p:nvSpPr>
        <p:spPr>
          <a:xfrm>
            <a:off x="11155680" y="6492240"/>
            <a:ext cx="548640" cy="274320"/>
          </a:xfrm>
          <a:prstGeom prst="rect">
            <a:avLst/>
          </a:prstGeom>
          <a:noFill/>
          <a:ln/>
        </p:spPr>
        <p:txBody>
          <a:bodyPr wrap="square" lIns="0" tIns="0" rIns="0" bIns="0" rtlCol="0" anchor="ctr"/>
          <a:lstStyle/>
          <a:p>
            <a:pPr algn="r" indent="0" marL="0">
              <a:buNone/>
            </a:pPr>
            <a:r>
              <a:rPr lang="en-US" sz="1000" dirty="0">
                <a:solidFill>
                  <a:srgbClr val="5B7083"/>
                </a:solidFill>
                <a:latin typeface="Calibri" pitchFamily="34" charset="0"/>
                <a:ea typeface="Calibri" pitchFamily="34" charset="-122"/>
                <a:cs typeface="Calibri"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194560"/>
                <a:gridCol w="6583680"/>
                <a:gridCol w="2313432"/>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When</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Who</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17262B"/>
                    </a:solidFill>
                  </a:tcPr>
                </a:tc>
              </a:tr>
              <a:tr h="548640">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30 Oct to 5 Nov</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Verify 6 open candidates (5 RLS, 1 corr); upstream follow-up; re-run BUG-01/02 reproducers</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Bhuvan, Venu</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2 to 6 Nov</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Meeting 3: full result tables, paper draft</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all</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r h="548640">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12 Nov</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Presentation</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all</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13 Nov</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Paper and repository due</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c>
                  <a:txBody>
                    <a:bodyPr/>
                    <a:lstStyle/>
                    <a:p>
                      <a:pPr indent="0" marL="0">
                        <a:buNone/>
                      </a:pPr>
                      <a:r>
                        <a:rPr lang="en-US" sz="1400" dirty="0">
                          <a:solidFill>
                            <a:srgbClr val="17262B"/>
                          </a:solidFill>
                          <a:latin typeface="Calibri" pitchFamily="34" charset="0"/>
                          <a:ea typeface="Calibri" pitchFamily="34" charset="-122"/>
                          <a:cs typeface="Calibri" pitchFamily="34" charset="-120"/>
                        </a:rPr>
                        <a:t>all</a:t>
                      </a:r>
                      <a:endParaRPr lang="en-US" sz="1400" dirty="0">
                        <a:latin typeface="Calibri" charset="0"/>
                        <a:ea typeface="Calibri" charset="0"/>
                        <a:cs typeface="Calibri" charset="0"/>
                      </a:endParaRPr>
                    </a:p>
                  </a:txBody>
                  <a:tcPr marL="54864" marR="54864" marT="54864" marB="54864" anchor="ctr">
                    <a:lnL w="6350" cap="flat" cmpd="sng" algn="ctr">
                      <a:solidFill>
                        <a:srgbClr val="C9D3DB"/>
                      </a:solidFill>
                      <a:prstDash val="solid"/>
                      <a:round/>
                      <a:headEnd type="none" w="med" len="med"/>
                      <a:tailEnd type="none" w="med" len="med"/>
                    </a:lnL>
                    <a:lnR w="6350" cap="flat" cmpd="sng" algn="ctr">
                      <a:solidFill>
                        <a:srgbClr val="C9D3DB"/>
                      </a:solidFill>
                      <a:prstDash val="solid"/>
                      <a:round/>
                      <a:headEnd type="none" w="med" len="med"/>
                      <a:tailEnd type="none" w="med" len="med"/>
                    </a:lnR>
                    <a:lnT w="6350" cap="flat" cmpd="sng" algn="ctr">
                      <a:solidFill>
                        <a:srgbClr val="C9D3DB"/>
                      </a:solidFill>
                      <a:prstDash val="solid"/>
                      <a:round/>
                      <a:headEnd type="none" w="med" len="med"/>
                      <a:tailEnd type="none" w="med" len="med"/>
                    </a:lnT>
                    <a:lnB w="6350" cap="flat" cmpd="sng" algn="ctr">
                      <a:solidFill>
                        <a:srgbClr val="C9D3DB"/>
                      </a:solidFill>
                      <a:prstDash val="solid"/>
                      <a:round/>
                      <a:headEnd type="none" w="med" len="med"/>
                      <a:tailEnd type="none" w="med" len="med"/>
                    </a:lnB>
                    <a:solidFill>
                      <a:srgbClr val="EEF3F8"/>
                    </a:solidFill>
                  </a:tcPr>
                </a:tc>
              </a:tr>
            </a:tbl>
          </a:graphicData>
        </a:graphic>
      </p:graphicFrame>
      <p:sp>
        <p:nvSpPr>
          <p:cNvPr id="26" name="Shape 22"/>
          <p:cNvSpPr/>
          <p:nvPr/>
        </p:nvSpPr>
        <p:spPr>
          <a:xfrm>
            <a:off x="548640" y="4343400"/>
            <a:ext cx="11094415" cy="1325880"/>
          </a:xfrm>
          <a:prstGeom prst="rect">
            <a:avLst/>
          </a:prstGeom>
          <a:solidFill>
            <a:srgbClr val="EEF3F8"/>
          </a:solidFill>
          <a:ln w="12700">
            <a:solidFill>
              <a:srgbClr val="EEF3F8"/>
            </a:solidFill>
            <a:prstDash val="solid"/>
          </a:ln>
        </p:spPr>
      </p:sp>
      <p:sp>
        <p:nvSpPr>
          <p:cNvPr id="27" name="Shape 23"/>
          <p:cNvSpPr/>
          <p:nvPr/>
        </p:nvSpPr>
        <p:spPr>
          <a:xfrm>
            <a:off x="548640" y="4343400"/>
            <a:ext cx="64008" cy="1325880"/>
          </a:xfrm>
          <a:prstGeom prst="rect">
            <a:avLst/>
          </a:prstGeom>
          <a:solidFill>
            <a:srgbClr val="D9822B"/>
          </a:solidFill>
          <a:ln w="12700">
            <a:solidFill>
              <a:srgbClr val="D9822B"/>
            </a:solidFill>
            <a:prstDash val="solid"/>
          </a:ln>
        </p:spPr>
      </p:sp>
      <p:sp>
        <p:nvSpPr>
          <p:cNvPr id="28" name="Text 24"/>
          <p:cNvSpPr/>
          <p:nvPr/>
        </p:nvSpPr>
        <p:spPr>
          <a:xfrm>
            <a:off x="777240" y="4416552"/>
            <a:ext cx="10728655" cy="411480"/>
          </a:xfrm>
          <a:prstGeom prst="rect">
            <a:avLst/>
          </a:prstGeom>
          <a:noFill/>
          <a:ln/>
        </p:spPr>
        <p:txBody>
          <a:bodyPr wrap="square" lIns="0" tIns="0" rIns="0" bIns="0" rtlCol="0" anchor="ctr"/>
          <a:lstStyle/>
          <a:p>
            <a:pPr indent="0" marL="0">
              <a:buNone/>
            </a:pPr>
            <a:r>
              <a:rPr lang="en-US" sz="1700" b="1" dirty="0">
                <a:solidFill>
                  <a:srgbClr val="D9822B"/>
                </a:solidFill>
                <a:latin typeface="Calibri" pitchFamily="34" charset="0"/>
                <a:ea typeface="Calibri" pitchFamily="34" charset="-122"/>
                <a:cs typeface="Calibri" pitchFamily="34" charset="-120"/>
              </a:rPr>
              <a:t>Questions for you</a:t>
            </a:r>
            <a:endParaRPr lang="en-US" sz="1700" dirty="0"/>
          </a:p>
        </p:txBody>
      </p:sp>
      <p:sp>
        <p:nvSpPr>
          <p:cNvPr id="29" name="Text 25"/>
          <p:cNvSpPr/>
          <p:nvPr/>
        </p:nvSpPr>
        <p:spPr>
          <a:xfrm>
            <a:off x="777240" y="4846320"/>
            <a:ext cx="10728655" cy="7589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Do committer-confirmed bugs (one fixed) meet the top band, although the benchmark shows no oracle advantage?</a:t>
            </a:r>
            <a:endParaRPr lang="en-US" sz="1300" dirty="0"/>
          </a:p>
          <a:p>
            <a:pPr marL="342900" indent="-342900">
              <a:spcAft>
                <a:spcPts val="400"/>
              </a:spcAft>
              <a:buSzPct val="100000"/>
              <a:buChar char="•"/>
            </a:pPr>
            <a:r>
              <a:rPr lang="en-US" sz="1300" dirty="0">
                <a:solidFill>
                  <a:srgbClr val="17262B"/>
                </a:solidFill>
                <a:latin typeface="Calibri" pitchFamily="34" charset="0"/>
                <a:ea typeface="Calibri" pitchFamily="34" charset="-122"/>
                <a:cs typeface="Calibri" pitchFamily="34" charset="-120"/>
              </a:rPr>
              <a:t>Is it acceptable to argue post-fix precision from reproducers instead of a new campaign?</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7262B"/>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9822B"/>
          </a:solidFill>
          <a:ln w="12700">
            <a:solidFill>
              <a:srgbClr val="D9822B"/>
            </a:solidFill>
            <a:prstDash val="solid"/>
          </a:ln>
        </p:spPr>
      </p:sp>
      <p:sp>
        <p:nvSpPr>
          <p:cNvPr id="3" name="Text 1"/>
          <p:cNvSpPr/>
          <p:nvPr/>
        </p:nvSpPr>
        <p:spPr>
          <a:xfrm>
            <a:off x="822960" y="256032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Thank you. Questions?</a:t>
            </a:r>
            <a:endParaRPr lang="en-US" sz="4000" dirty="0"/>
          </a:p>
        </p:txBody>
      </p:sp>
      <p:sp>
        <p:nvSpPr>
          <p:cNvPr id="4" name="Text 2"/>
          <p:cNvSpPr/>
          <p:nvPr/>
        </p:nvSpPr>
        <p:spPr>
          <a:xfrm>
            <a:off x="822960" y="3566160"/>
            <a:ext cx="10515600" cy="457200"/>
          </a:xfrm>
          <a:prstGeom prst="rect">
            <a:avLst/>
          </a:prstGeom>
          <a:noFill/>
          <a:ln/>
        </p:spPr>
        <p:txBody>
          <a:bodyPr wrap="square" lIns="0" tIns="0" rIns="0" bIns="0" rtlCol="0" anchor="ctr"/>
          <a:lstStyle/>
          <a:p>
            <a:pPr indent="0" marL="0">
              <a:buNone/>
            </a:pPr>
            <a:r>
              <a:rPr lang="en-US" sz="2000" dirty="0">
                <a:solidFill>
                  <a:srgbClr val="C9D8E6"/>
                </a:solidFill>
                <a:latin typeface="Calibri" pitchFamily="34" charset="0"/>
                <a:ea typeface="Calibri" pitchFamily="34" charset="-122"/>
                <a:cs typeface="Calibri" pitchFamily="34" charset="-120"/>
              </a:rPr>
              <a:t>github.com/PASS-IITG/cs5187-term-project-blazing-bhuvi</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LLM-Guided Grammar-Aware Fuzzing of PostgreSQL: progress meeting 2</dc:title>
  <dc:subject>PptxGenJS Presentation</dc:subject>
  <dc:creator>Venu, Bhuvan, Gowtham</dc:creator>
  <cp:lastModifiedBy>Venu, Bhuvan, Gowtham</cp:lastModifiedBy>
  <cp:revision>1</cp:revision>
  <dcterms:created xsi:type="dcterms:W3CDTF">2026-10-29T16:13:17Z</dcterms:created>
  <dcterms:modified xsi:type="dcterms:W3CDTF">2026-10-29T16:13:17Z</dcterms:modified>
</cp:coreProperties>
</file>